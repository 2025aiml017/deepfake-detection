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81" r:id="rId33"/>
    <p:sldId id="260" r:id="rId11"/>
    <p:sldId id="261" r:id="rId12"/>
    <p:sldId id="262" r:id="rId13"/>
    <p:sldId id="263" r:id="rId14"/>
    <p:sldId id="282" r:id="rId34"/>
    <p:sldId id="283" r:id="rId35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84" r:id="rId36"/>
    <p:sldId id="277" r:id="rId28"/>
    <p:sldId id="278" r:id="rId29"/>
    <p:sldId id="279" r:id="rId30"/>
    <p:sldId id="280" r:id="rId31"/>
    <p:sldId id="285" r:id="rId3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iBKz68ypmekg8a7WOaKyVB6C6C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18308C-96FD-40AC-9B7E-A86C079216B4}">
  <a:tblStyle styleId="{7818308C-96FD-40AC-9B7E-A86C079216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338D9DC-F09C-46F0-9EA9-D6A716EAE88F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customschemas.google.com/relationships/presentationmetadata" Target="metadata"/><Relationship Id="rId33" Type="http://schemas.openxmlformats.org/officeDocument/2006/relationships/slide" Target="slides/slide5.xml"/><Relationship Id="rId34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slide" Target="slides/slide25.xml"/><Relationship Id="rId37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21E34"/>
                </a:solidFill>
              </a:rPr>
              <a:t>Worst AUC drop under any distortion (lower is better)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Worst AUC drop</c:v>
                </c:pt>
              </c:strCache>
            </c:strRef>
          </c:tx>
          <c:spPr>
            <a:solidFill>
              <a:srgbClr val="3769BE"/>
            </a:solidFill>
          </c:spPr>
          <c:dPt>
            <c:idx val="6"/>
            <c:spPr>
              <a:solidFill>
                <a:srgbClr val="1A9769"/>
              </a:solidFill>
            </c:spPr>
          </c:dPt>
          <c:dPt>
            <c:idx val="0"/>
            <c:spPr>
              <a:solidFill>
                <a:srgbClr val="F56736"/>
              </a:solidFill>
            </c:spPr>
          </c:dPt>
          <c:cat>
            <c:strRef>
              <c:f>Sheet1!$A$2:$A$8</c:f>
              <c:strCache>
                <c:ptCount val="7"/>
                <c:pt idx="0">
                  <c:v>CLIP ViT-B/16</c:v>
                </c:pt>
                <c:pt idx="1">
                  <c:v>EfficientNet-B4</c:v>
                </c:pt>
                <c:pt idx="2">
                  <c:v>Swin-Tiny</c:v>
                </c:pt>
                <c:pt idx="3">
                  <c:v>ResNet-50</c:v>
                </c:pt>
                <c:pt idx="4">
                  <c:v>EfficientNet-B0</c:v>
                </c:pt>
                <c:pt idx="5">
                  <c:v>Xception</c:v>
                </c:pt>
                <c:pt idx="6">
                  <c:v>ConvNeXt-Tiny</c:v>
                </c:pt>
              </c:strCache>
            </c:strRef>
          </c:cat>
          <c:val>
            <c:numRef>
              <c:f>Sheet1!$B$2:$B$8</c:f>
              <c:numCache>
                <c:formatCode>0.0000</c:formatCode>
                <c:ptCount val="7"/>
                <c:pt idx="0">
                  <c:v>0.0192</c:v>
                </c:pt>
                <c:pt idx="1">
                  <c:v>0.006</c:v>
                </c:pt>
                <c:pt idx="2">
                  <c:v>0.0032</c:v>
                </c:pt>
                <c:pt idx="3">
                  <c:v>0.0029</c:v>
                </c:pt>
                <c:pt idx="4">
                  <c:v>0.0026</c:v>
                </c:pt>
                <c:pt idx="5">
                  <c:v>0.002</c:v>
                </c:pt>
                <c:pt idx="6">
                  <c:v>0.0014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100">
                  <a:solidFill>
                    <a:srgbClr val="121E3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CE2E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24"/>
          <c:min val="0.0"/>
        </c:scaling>
        <c:delete val="0"/>
        <c:axPos val="b"/>
        <c:majorGridlines>
          <c:spPr>
            <a:ln>
              <a:solidFill>
                <a:srgbClr val="DCE2EA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C6778"/>
                </a:solidFill>
              </a:defRPr>
            </a:pPr>
          </a:p>
        </c:txPr>
        <c:crossAx val="-2068027336"/>
        <c:crosses val="autoZero"/>
        <c:majorUnit val="0.004"/>
      </c:valAx>
    </c:plotArea>
    <c:dispBlanksAs val="gap"/>
  </c:chart>
  <c:txPr>
    <a:bodyPr/>
    <a:lstStyle/>
    <a:p>
      <a:pPr>
        <a:defRPr sz="1200">
          <a:solidFill>
            <a:srgbClr val="121E34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Real videos</c:v>
                </c:pt>
              </c:strCache>
            </c:strRef>
          </c:tx>
          <c:spPr>
            <a:solidFill>
              <a:srgbClr val="3769BE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Train</c:v>
                </c:pt>
                <c:pt idx="1">
                  <c:v>Validation</c:v>
                </c:pt>
                <c:pt idx="2">
                  <c:v>Holdout</c:v>
                </c:pt>
                <c:pt idx="3">
                  <c:v>Official test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495</c:v>
                </c:pt>
                <c:pt idx="1">
                  <c:v>112</c:v>
                </c:pt>
                <c:pt idx="2">
                  <c:v>105</c:v>
                </c:pt>
                <c:pt idx="3">
                  <c:v>178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Fake videos</c:v>
                </c:pt>
              </c:strCache>
            </c:strRef>
          </c:tx>
          <c:spPr>
            <a:solidFill>
              <a:srgbClr val="F56736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Train</c:v>
                </c:pt>
                <c:pt idx="1">
                  <c:v>Validation</c:v>
                </c:pt>
                <c:pt idx="2">
                  <c:v>Holdout</c:v>
                </c:pt>
                <c:pt idx="3">
                  <c:v>Official test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3890</c:v>
                </c:pt>
                <c:pt idx="1">
                  <c:v>705</c:v>
                </c:pt>
                <c:pt idx="2">
                  <c:v>704</c:v>
                </c:pt>
                <c:pt idx="3">
                  <c:v>340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121E3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40"/>
        <c:overlap val="-1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2EA"/>
            </a:solidFill>
          </a:ln>
        </c:spPr>
        <c:txPr>
          <a:bodyPr/>
          <a:lstStyle/>
          <a:p>
            <a:pPr>
              <a:defRPr sz="1300">
                <a:solidFill>
                  <a:srgbClr val="121E3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6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100">
          <a:solidFill>
            <a:srgbClr val="5C677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Real faces</c:v>
                </c:pt>
              </c:strCache>
            </c:strRef>
          </c:tx>
          <c:spPr>
            <a:solidFill>
              <a:srgbClr val="3769BE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Train</c:v>
                </c:pt>
                <c:pt idx="1">
                  <c:v>Validation</c:v>
                </c:pt>
                <c:pt idx="2">
                  <c:v>Holdout</c:v>
                </c:pt>
                <c:pt idx="3">
                  <c:v>Official test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15805</c:v>
                </c:pt>
                <c:pt idx="1">
                  <c:v>3584</c:v>
                </c:pt>
                <c:pt idx="2">
                  <c:v>3360</c:v>
                </c:pt>
                <c:pt idx="3">
                  <c:v>2848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Fake faces</c:v>
                </c:pt>
              </c:strCache>
            </c:strRef>
          </c:tx>
          <c:spPr>
            <a:solidFill>
              <a:srgbClr val="F56736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Train</c:v>
                </c:pt>
                <c:pt idx="1">
                  <c:v>Validation</c:v>
                </c:pt>
                <c:pt idx="2">
                  <c:v>Holdout</c:v>
                </c:pt>
                <c:pt idx="3">
                  <c:v>Official test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31120</c:v>
                </c:pt>
                <c:pt idx="1">
                  <c:v>5640</c:v>
                </c:pt>
                <c:pt idx="2">
                  <c:v>5632</c:v>
                </c:pt>
                <c:pt idx="3">
                  <c:v>5440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121E3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40"/>
        <c:overlap val="-1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2EA"/>
            </a:solidFill>
          </a:ln>
        </c:spPr>
        <c:txPr>
          <a:bodyPr/>
          <a:lstStyle/>
          <a:p>
            <a:pPr>
              <a:defRPr sz="1300">
                <a:solidFill>
                  <a:srgbClr val="121E3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60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100">
          <a:solidFill>
            <a:srgbClr val="5C677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9" name="Google Shape;42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8" name="Google Shape;45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0" name="Google Shape;48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8" name="Google Shape;49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2" name="Google Shape;55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8" name="Google Shape;58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8" name="Google Shape;60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24.png"/><Relationship Id="rId8" Type="http://schemas.openxmlformats.org/officeDocument/2006/relationships/image" Target="../media/image10.png"/><Relationship Id="rId9" Type="http://schemas.openxmlformats.org/officeDocument/2006/relationships/image" Target="../media/image21.png"/><Relationship Id="rId10" Type="http://schemas.openxmlformats.org/officeDocument/2006/relationships/image" Target="../media/image9.png"/><Relationship Id="rId11" Type="http://schemas.openxmlformats.org/officeDocument/2006/relationships/image" Target="../media/image4.png"/><Relationship Id="rId12" Type="http://schemas.openxmlformats.org/officeDocument/2006/relationships/image" Target="../media/image2.png"/><Relationship Id="rId13" Type="http://schemas.openxmlformats.org/officeDocument/2006/relationships/image" Target="../media/image11.png"/><Relationship Id="rId14" Type="http://schemas.openxmlformats.org/officeDocument/2006/relationships/image" Target="../media/image3.png"/><Relationship Id="rId15" Type="http://schemas.openxmlformats.org/officeDocument/2006/relationships/image" Target="../media/image13.png"/><Relationship Id="rId16" Type="http://schemas.openxmlformats.org/officeDocument/2006/relationships/image" Target="../media/image6.png"/><Relationship Id="rId17" Type="http://schemas.openxmlformats.org/officeDocument/2006/relationships/image" Target="../media/image23.png"/><Relationship Id="rId18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etect-deep-fake.streamlit.app/" TargetMode="External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E3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49808" y="713232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DEEPFAKE VIDEO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808" y="1353312"/>
            <a:ext cx="3657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49808" y="19202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DDE4EF"/>
                </a:solidFill>
                <a:latin typeface="Arial"/>
                <a:ea typeface="Arial"/>
                <a:cs typeface="Arial"/>
                <a:sym typeface="Arial"/>
              </a:rPr>
              <a:t>Video → face images → AI model → REAL / 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9808" y="277063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PROJECT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49808" y="3035808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DE4EF"/>
                </a:solidFill>
                <a:latin typeface="Arial"/>
                <a:ea typeface="Arial"/>
                <a:cs typeface="Arial"/>
                <a:sym typeface="Arial"/>
              </a:rPr>
              <a:t>Varahagiri Venkata Sri Swati   •   Aishwary Agrawal   •   Devesh Srivastava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49808" y="4041648"/>
            <a:ext cx="2880360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49808" y="4041648"/>
            <a:ext cx="64008" cy="1115568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969264" y="4151376"/>
            <a:ext cx="25511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6,529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69264" y="4553712"/>
            <a:ext cx="25511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videos in Celeb-DF v2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041648" y="4041648"/>
            <a:ext cx="2880360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41648" y="4041648"/>
            <a:ext cx="64008" cy="1115568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261104" y="4151376"/>
            <a:ext cx="25511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73,429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4261104" y="4553712"/>
            <a:ext cx="25511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face images prepared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7333488" y="4041648"/>
            <a:ext cx="2880360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7333488" y="4041648"/>
            <a:ext cx="64008" cy="1115568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7552944" y="4151376"/>
            <a:ext cx="25511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0.9999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7552944" y="4553712"/>
            <a:ext cx="25511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best holdout video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End-to-end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The project converts each video into one final REAL / FAKE result.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749808" y="2057400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813815" y="2167128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813815" y="2514600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779775" y="2331720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2916935" y="2057400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2980943" y="2167128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Take frames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2980943" y="2514600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selected images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4946903" y="2331720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5084064" y="2057400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5148072" y="2167128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Detect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5148072" y="2514600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RetinaFace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7114031" y="2331720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7251192" y="2057400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7315200" y="2167128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Score faces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7315200" y="2514600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9281159" y="2331720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9418319" y="2057400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9482328" y="2167128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Video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9482328" y="2514600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REAL / 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749808" y="3794760"/>
            <a:ext cx="10698480" cy="141732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987552" y="400507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CURRENT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987552" y="4325112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794 of 809 holdout videos were classified correctly.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987552" y="4846320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 was the best of seven models, trained and evaluated in three steps.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E34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86868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69BE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868680" y="1874519"/>
            <a:ext cx="10058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868680" y="278892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E5EF"/>
                </a:solidFill>
                <a:latin typeface="Arial"/>
                <a:ea typeface="Arial"/>
                <a:cs typeface="Arial"/>
                <a:sym typeface="Arial"/>
              </a:rPr>
              <a:t>Prepare consistent face images before model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868680" y="3794760"/>
            <a:ext cx="1920240" cy="4572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1 — DATA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Dataset used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Celeb-DF v2 was downloaded directly from Kaggle.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49808" y="1901952"/>
            <a:ext cx="24231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749808" y="1901952"/>
            <a:ext cx="64008" cy="105156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969264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590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969264" y="2414016"/>
            <a:ext cx="2093976" cy="48463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real celebrity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3364992" y="1901952"/>
            <a:ext cx="24231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3364992" y="1901952"/>
            <a:ext cx="64008" cy="1051560"/>
          </a:xfrm>
          <a:prstGeom prst="rect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3584448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3584448" y="2414016"/>
            <a:ext cx="2093976" cy="48463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real YouTube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5980176" y="1901952"/>
            <a:ext cx="24231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5980176" y="1901952"/>
            <a:ext cx="64008" cy="105156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6199632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5,639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6199632" y="2414016"/>
            <a:ext cx="2093976" cy="48463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fake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8595360" y="1901952"/>
            <a:ext cx="24231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8595360" y="1901952"/>
            <a:ext cx="64008" cy="105156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8814816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6,529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8814816" y="2414016"/>
            <a:ext cx="2093976" cy="48463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total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749808" y="34015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DATA PREPARATION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749808" y="3730752"/>
            <a:ext cx="257175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813815" y="3840480"/>
            <a:ext cx="24437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Take frames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13815" y="4187952"/>
            <a:ext cx="2443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from each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3321558" y="400507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3458718" y="3730752"/>
            <a:ext cx="257175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3522725" y="3840480"/>
            <a:ext cx="24437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Detect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3522725" y="4187952"/>
            <a:ext cx="2443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RetinaFace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6030468" y="400507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167628" y="3730752"/>
            <a:ext cx="257175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6231636" y="3840480"/>
            <a:ext cx="24437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Align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6231636" y="4187952"/>
            <a:ext cx="2443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same position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739378" y="400507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8876538" y="3730752"/>
            <a:ext cx="257175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8940546" y="3840480"/>
            <a:ext cx="24437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8940546" y="4187952"/>
            <a:ext cx="2443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224 × 224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749808" y="5239512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Output: consistent face images ready for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1 — DATA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Real and fake samples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Each fake swaps another person's face into a real video: the scene stays the same and only the face changes.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749808" y="5230368"/>
            <a:ext cx="10698480" cy="114300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987552" y="541324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WHAT THE MODEL HAS TO SPOT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987552" y="5660136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19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Background, pose, clothes and lighting match; only the face is swapped.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987552" y="601675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So every frame is cropped to the face and aligned on the eyes before scoring. Both videos are from the holdout set, never seen in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1938528" y="1700784"/>
            <a:ext cx="2487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778"/>
                </a:solidFill>
                <a:latin typeface="Arial"/>
              </a:rPr>
              <a:t>Frame at 1.5 s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553712" y="1700784"/>
            <a:ext cx="2487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778"/>
                </a:solidFill>
                <a:latin typeface="Arial"/>
              </a:rPr>
              <a:t>Frame at 4.6 s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7168896" y="1700784"/>
            <a:ext cx="2487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778"/>
                </a:solidFill>
                <a:latin typeface="Arial"/>
              </a:rPr>
              <a:t>Frame at 7.8 s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9930384" y="1700784"/>
            <a:ext cx="1664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778"/>
                </a:solidFill>
                <a:latin typeface="Arial"/>
              </a:rPr>
              <a:t>Aligned face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76656" y="2029968"/>
            <a:ext cx="146304" cy="146304"/>
          </a:xfrm>
          <a:prstGeom prst="rect">
            <a:avLst/>
          </a:prstGeom>
          <a:solidFill>
            <a:srgbClr val="376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896112" y="197510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E34"/>
                </a:solidFill>
                <a:latin typeface="Arial"/>
              </a:rPr>
              <a:t>REAL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676656" y="2322576"/>
            <a:ext cx="12435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778"/>
                </a:solidFill>
                <a:latin typeface="Arial"/>
              </a:rPr>
              <a:t>id49_0000.mp4</a:t>
            </a:r>
          </a:p>
          <a:p>
            <a:pPr algn="l"/>
            <a:r>
              <a:rPr sz="1000" b="0">
                <a:solidFill>
                  <a:srgbClr val="5C6778"/>
                </a:solidFill>
                <a:latin typeface="Arial"/>
              </a:rPr>
              <a:t>original video</a:t>
            </a:r>
          </a:p>
        </p:txBody>
      </p:sp>
      <p:pic>
        <p:nvPicPr>
          <p:cNvPr id="279" name="Picture 278" descr="id49_0000_f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528" y="1975104"/>
            <a:ext cx="2487168" cy="1388862"/>
          </a:xfrm>
          <a:prstGeom prst="rect">
            <a:avLst/>
          </a:prstGeom>
        </p:spPr>
      </p:pic>
      <p:pic>
        <p:nvPicPr>
          <p:cNvPr id="280" name="Picture 279" descr="id49_0000_f1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975104"/>
            <a:ext cx="2487168" cy="1388862"/>
          </a:xfrm>
          <a:prstGeom prst="rect">
            <a:avLst/>
          </a:prstGeom>
        </p:spPr>
      </p:pic>
      <p:pic>
        <p:nvPicPr>
          <p:cNvPr id="281" name="Picture 280" descr="id49_0000_f2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1975104"/>
            <a:ext cx="2487168" cy="1388862"/>
          </a:xfrm>
          <a:prstGeom prst="rect">
            <a:avLst/>
          </a:prstGeom>
        </p:spPr>
      </p:pic>
      <p:pic>
        <p:nvPicPr>
          <p:cNvPr id="282" name="Picture 281" descr="id49_0000_f139_f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0384" y="1975104"/>
            <a:ext cx="1389888" cy="1389888"/>
          </a:xfrm>
          <a:prstGeom prst="rect">
            <a:avLst/>
          </a:prstGeom>
        </p:spPr>
      </p:pic>
      <p:sp>
        <p:nvSpPr>
          <p:cNvPr id="283" name="Rectangle 282"/>
          <p:cNvSpPr/>
          <p:nvPr/>
        </p:nvSpPr>
        <p:spPr>
          <a:xfrm>
            <a:off x="676656" y="3619998"/>
            <a:ext cx="146304" cy="146304"/>
          </a:xfrm>
          <a:prstGeom prst="rect">
            <a:avLst/>
          </a:prstGeom>
          <a:solidFill>
            <a:srgbClr val="F56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896112" y="356513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1E34"/>
                </a:solidFill>
                <a:latin typeface="Arial"/>
              </a:rPr>
              <a:t>FAKE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676656" y="3912606"/>
            <a:ext cx="12435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778"/>
                </a:solidFill>
                <a:latin typeface="Arial"/>
              </a:rPr>
              <a:t>id49_id50_0000.mp4</a:t>
            </a:r>
          </a:p>
          <a:p>
            <a:pPr algn="l"/>
            <a:r>
              <a:rPr sz="1000" b="0">
                <a:solidFill>
                  <a:srgbClr val="5C6778"/>
                </a:solidFill>
                <a:latin typeface="Arial"/>
              </a:rPr>
              <a:t>face from id50</a:t>
            </a:r>
          </a:p>
        </p:txBody>
      </p:sp>
      <p:pic>
        <p:nvPicPr>
          <p:cNvPr id="286" name="Picture 285" descr="id49_id50_0000_f04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8528" y="3565134"/>
            <a:ext cx="2487168" cy="1388862"/>
          </a:xfrm>
          <a:prstGeom prst="rect">
            <a:avLst/>
          </a:prstGeom>
        </p:spPr>
      </p:pic>
      <p:pic>
        <p:nvPicPr>
          <p:cNvPr id="287" name="Picture 286" descr="id49_id50_0000_f1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3712" y="3565134"/>
            <a:ext cx="2487168" cy="1388862"/>
          </a:xfrm>
          <a:prstGeom prst="rect">
            <a:avLst/>
          </a:prstGeom>
        </p:spPr>
      </p:pic>
      <p:pic>
        <p:nvPicPr>
          <p:cNvPr id="288" name="Picture 287" descr="id49_id50_0000_f23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8896" y="3565134"/>
            <a:ext cx="2487168" cy="1388862"/>
          </a:xfrm>
          <a:prstGeom prst="rect">
            <a:avLst/>
          </a:prstGeom>
        </p:spPr>
      </p:pic>
      <p:pic>
        <p:nvPicPr>
          <p:cNvPr id="289" name="Picture 288" descr="id49_id50_0000_f139_fa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0384" y="3565134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1 — DATA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Face detector selected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OpenCV Haar, MTCNN, RetinaFace and YOLOv8 were compared on the same frames from 10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804672" y="1920240"/>
            <a:ext cx="30632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804672" y="1920240"/>
            <a:ext cx="64008" cy="114300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1024128" y="2029968"/>
            <a:ext cx="2734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50.2 FPS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1024128" y="2432304"/>
            <a:ext cx="27342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Retina Face speed, all faces found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4553712" y="1920240"/>
            <a:ext cx="30632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4553712" y="1920240"/>
            <a:ext cx="64008" cy="114300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4773168" y="2029968"/>
            <a:ext cx="2734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15.4 FPS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4773168" y="2432304"/>
            <a:ext cx="2734056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MTCNN speed, all faces found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8302752" y="1920240"/>
            <a:ext cx="278892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8302752" y="1920240"/>
            <a:ext cx="64008" cy="114300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522208" y="2029968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4.5 FPS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8522208" y="2432304"/>
            <a:ext cx="2459736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OpenCV Haar speed, 99.3% of faces found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804672" y="3675887"/>
            <a:ext cx="10287000" cy="141732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1042415" y="3904487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SELECTED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1042415" y="4224528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RetinaFace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3337560" y="4206240"/>
            <a:ext cx="74982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C222D"/>
                </a:solidFill>
                <a:latin typeface="Arial"/>
                <a:ea typeface="Arial"/>
                <a:cs typeface="Arial"/>
                <a:sym typeface="Arial"/>
              </a:rPr>
              <a:t>3× faster than MTCNN with the same face yield; it's 5 landmarks give eye-aligned face crops.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1042415" y="477316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YOLOv8 was faster (76.3 FPS) but gives unaligned boxes. This comparison checks face detection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1 — DATA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Prepared data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The final preprocessing run completed for all 6,529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749808" y="1920240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749808" y="1920240"/>
            <a:ext cx="64008" cy="1078992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969264" y="202996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73,429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969264" y="2432304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face images prepared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364992" y="1920240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364992" y="1920240"/>
            <a:ext cx="64008" cy="1078992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3584448" y="202996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99.95%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3584448" y="2432304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face preparation yield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980176" y="1920240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5980176" y="1920240"/>
            <a:ext cx="64008" cy="1078992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6199632" y="202996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6199632" y="2432304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videos without a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8595360" y="1920240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8595360" y="1920240"/>
            <a:ext cx="64008" cy="1078992"/>
          </a:xfrm>
          <a:prstGeom prst="rect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814816" y="202996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12 parts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8814816" y="2432304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face-image cache saved to Drive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749808" y="3730752"/>
            <a:ext cx="10698480" cy="141732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987552" y="395020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OUTPUT FOR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987552" y="4288536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73,429 prepared face images are passed to Step 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987552" y="4800600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All seven models train on these saved face images instead of repeatedly processing the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E34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86868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868680" y="1874519"/>
            <a:ext cx="10058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868680" y="278892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E5EF"/>
                </a:solidFill>
                <a:latin typeface="Arial"/>
                <a:ea typeface="Arial"/>
                <a:cs typeface="Arial"/>
                <a:sym typeface="Arial"/>
              </a:rPr>
              <a:t>Train seven pretrained models on the same face images and compare them.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868680" y="3794760"/>
            <a:ext cx="1920240" cy="4572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 —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Data split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Different video groups are used for training, model selection and final testing.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749808" y="1901952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49808" y="1901952"/>
            <a:ext cx="64008" cy="1078992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969264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4,385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969264" y="2414016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training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364992" y="1901952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364992" y="1901952"/>
            <a:ext cx="64008" cy="1078992"/>
          </a:xfrm>
          <a:prstGeom prst="rect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3584448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817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3584448" y="2414016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validation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980176" y="1901952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5980176" y="1901952"/>
            <a:ext cx="64008" cy="1078992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6199632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809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6199632" y="2414016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holdout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8595360" y="1901952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8595360" y="1901952"/>
            <a:ext cx="64008" cy="1078992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8814816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518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8814816" y="2414016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official test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749808" y="3675887"/>
            <a:ext cx="10698480" cy="155448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987552" y="391363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DATA SEPARATION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987552" y="424281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The 809 holdout videos were kept outside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987552" y="4736592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Train, validation and holdout identities were checked to avoid overlap. The 518-video official list is reported separately.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 —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Data distribution: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Real and fake videos in each split. Real = 590 celebrity + 300 YouTube videos; fake = 5,639 face swaps.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7882127" y="1828800"/>
            <a:ext cx="356616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882127" y="1828800"/>
            <a:ext cx="64008" cy="91440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8101583" y="1920240"/>
            <a:ext cx="3236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6.3 :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8101583" y="2286000"/>
            <a:ext cx="3236976" cy="40233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fake to real videos overall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7882127" y="2944368"/>
            <a:ext cx="356616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7882127" y="2944368"/>
            <a:ext cx="64008" cy="91440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8101583" y="3035808"/>
            <a:ext cx="3236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7.9 :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8101583" y="3401568"/>
            <a:ext cx="3236976" cy="40233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fake to real in the training split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7882127" y="4059936"/>
            <a:ext cx="356616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7882127" y="4059936"/>
            <a:ext cx="64008" cy="91440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8101583" y="4151376"/>
            <a:ext cx="3236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1.9 :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8101583" y="4517136"/>
            <a:ext cx="3236976" cy="40233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fake to real in the official test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749808" y="5230368"/>
            <a:ext cx="10698480" cy="114300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987552" y="541324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987552" y="5660136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19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Answering FAKE every time would already be 87% accurate on the holdout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987552" y="601675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So models are compared with AUC and with errors counted separately for real and fake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2" name="Chart 271"/>
          <p:cNvGraphicFramePr>
            <a:graphicFrameLocks noGrp="1"/>
          </p:cNvGraphicFramePr>
          <p:nvPr/>
        </p:nvGraphicFramePr>
        <p:xfrm>
          <a:off x="658368" y="1755648"/>
          <a:ext cx="6949440" cy="3291840"/>
        </p:xfrm>
        <a:graphic>
          <a:graphicData uri="http://schemas.openxmlformats.org/drawingml/2006/chart">
            <c:chart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 —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Data distribution: face images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Face images (one per sampled frame) in each split: 73,429 in total.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7882127" y="1828800"/>
            <a:ext cx="356616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882127" y="1828800"/>
            <a:ext cx="64008" cy="91440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8101583" y="1920240"/>
            <a:ext cx="3236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2.0 :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8101583" y="2286000"/>
            <a:ext cx="3236976" cy="40233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fake to real faces in training (7.9 : 1 for videos)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7882127" y="2944368"/>
            <a:ext cx="356616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7882127" y="2944368"/>
            <a:ext cx="64008" cy="91440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8101583" y="3035808"/>
            <a:ext cx="3236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32 · 8 · 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8101583" y="3401568"/>
            <a:ext cx="3236976" cy="40233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frames taken per real · fake · official-test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7882127" y="4059936"/>
            <a:ext cx="356616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7882127" y="4059936"/>
            <a:ext cx="64008" cy="91440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8101583" y="4151376"/>
            <a:ext cx="3236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0.51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8101583" y="4517136"/>
            <a:ext cx="3236976" cy="40233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loss weight on fake faces, to even out the rest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749808" y="5230368"/>
            <a:ext cx="10698480" cy="114300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987552" y="541324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BALANCING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987552" y="5660136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19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Taking 4× more frames from real videos cuts the imbalance from 7.9 : 1 to 2.0 : 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987552" y="601675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Evaluation still gives each video one score, the average of its faces, so videos with more frames do not count more.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2" name="Chart 271"/>
          <p:cNvGraphicFramePr>
            <a:graphicFrameLocks noGrp="1"/>
          </p:cNvGraphicFramePr>
          <p:nvPr/>
        </p:nvGraphicFramePr>
        <p:xfrm>
          <a:off x="658368" y="1755648"/>
          <a:ext cx="6949440" cy="3291840"/>
        </p:xfrm>
        <a:graphic>
          <a:graphicData uri="http://schemas.openxmlformats.org/drawingml/2006/chart">
            <c:chart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 —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Face scoring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Each trained model gives a fake score to each prepared face image.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749808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813815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Face image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 txBox="1"/>
          <p:nvPr/>
        </p:nvSpPr>
        <p:spPr>
          <a:xfrm>
            <a:off x="813815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2779775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2916935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2980943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2980943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best of 7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4946903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5084064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5148072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Face 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5148072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fake 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7114031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7251192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7315200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Average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7315200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all face scores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9281159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9418319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9482328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9482328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REAL / 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749808" y="3675887"/>
            <a:ext cx="5074920" cy="1508760"/>
          </a:xfrm>
          <a:prstGeom prst="roundRect">
            <a:avLst>
              <a:gd fmla="val 16667" name="adj"/>
            </a:avLst>
          </a:prstGeom>
          <a:solidFill>
            <a:srgbClr val="FDF7F3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987552" y="391363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DECISION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987552" y="4270248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Average &lt; 0.0233  → 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987552" y="4645152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Average ≥ 0.0233  →  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6126480" y="3675887"/>
            <a:ext cx="5321808" cy="150876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6364224" y="3913632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769BE"/>
                </a:solidFill>
                <a:latin typeface="Arial"/>
                <a:ea typeface="Arial"/>
                <a:cs typeface="Arial"/>
                <a:sym typeface="Arial"/>
              </a:rPr>
              <a:t>MODEL SELECTION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6364224" y="4224528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6364224" y="4617720"/>
            <a:ext cx="4572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Highest holdout AUC of the seven models; a modern CNN pretrained on ImageNet-22k.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 —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0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Seven models compared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Every model used the same face images, split, augmentation, 224 × 224 input and 8 training rounds.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749808" y="5074920"/>
            <a:ext cx="10698480" cy="123444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987552" y="523036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TRAINING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 txBox="1"/>
          <p:nvPr/>
        </p:nvSpPr>
        <p:spPr>
          <a:xfrm>
            <a:off x="987552" y="548640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Each model trained in 45–53 minutes on a Colab T4 GPU.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987552" y="587044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Progress was saved after every round, so a run could resume after a Colab disconnect.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9" name="Google Shape;319;p10"/>
          <p:cNvGraphicFramePr/>
          <p:nvPr/>
        </p:nvGraphicFramePr>
        <p:xfrm>
          <a:off x="749808" y="18105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{7818308C-96FD-40AC-9B7E-A86C079216B4}</a:tableStyleId>
              </a:tblPr>
              <a:tblGrid>
                <a:gridCol w="2377450"/>
                <a:gridCol w="4937750"/>
                <a:gridCol w="1691650"/>
                <a:gridCol w="16916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time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EfficientNet-B0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Mid-term baseline, lightweight CNN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4.0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ResNet-50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Classic CNN reference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23.5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Xception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Standard deepfake-detection baseline (FaceForensics++)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20.8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ConvNeXt-Tiny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Modern CNN </a:t>
                      </a:r>
                      <a:r>
                        <a:rPr b="1" lang="en-US" sz="1300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 trained</a:t>
                      </a: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ImageNet-22k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27.8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Swin-Tiny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Vision transformer with local attention windows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27.5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EfficientNet-B4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Larger version of EfficientNet-B0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17.6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CLIP ViT-B/16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Foundation model; only the last 4 of 12 blocks trained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85.8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 —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Training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Each model's best round was selected using validation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960120" y="1993392"/>
            <a:ext cx="29718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960120" y="1993392"/>
            <a:ext cx="64008" cy="114300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1179576" y="2103120"/>
            <a:ext cx="2642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Round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1179576" y="2505456"/>
            <a:ext cx="2642616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best round for 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599432" y="1993392"/>
            <a:ext cx="29718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4599432" y="1993392"/>
            <a:ext cx="64008" cy="1143000"/>
          </a:xfrm>
          <a:prstGeom prst="rect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4818888" y="2103120"/>
            <a:ext cx="2642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0.0233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4818888" y="2505456"/>
            <a:ext cx="2642616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 decision point from validation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8238744" y="1993392"/>
            <a:ext cx="29718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8238744" y="1993392"/>
            <a:ext cx="64008" cy="114300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 txBox="1"/>
          <p:nvPr/>
        </p:nvSpPr>
        <p:spPr>
          <a:xfrm>
            <a:off x="8458200" y="2103120"/>
            <a:ext cx="2642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 saved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 txBox="1"/>
          <p:nvPr/>
        </p:nvSpPr>
        <p:spPr>
          <a:xfrm>
            <a:off x="8458200" y="2505456"/>
            <a:ext cx="2642616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best rounds used in Step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960120" y="3767328"/>
            <a:ext cx="10250424" cy="132588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 txBox="1"/>
          <p:nvPr/>
        </p:nvSpPr>
        <p:spPr>
          <a:xfrm>
            <a:off x="1207008" y="399592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FINAL TRAINING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1207008" y="4343400"/>
            <a:ext cx="9418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Step 3 uses each model's best round and decision point.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1207008" y="4782312"/>
            <a:ext cx="9418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No retraining is done during the final evaluation.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E34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 txBox="1"/>
          <p:nvPr/>
        </p:nvSpPr>
        <p:spPr>
          <a:xfrm>
            <a:off x="86868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868680" y="1874519"/>
            <a:ext cx="10058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 txBox="1"/>
          <p:nvPr/>
        </p:nvSpPr>
        <p:spPr>
          <a:xfrm>
            <a:off x="868680" y="278892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E5EF"/>
                </a:solidFill>
                <a:latin typeface="Arial"/>
                <a:ea typeface="Arial"/>
                <a:cs typeface="Arial"/>
                <a:sym typeface="Arial"/>
              </a:rPr>
              <a:t>Evaluate the saved models on unseen videos, test their robustness and run the complete video demo.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868680" y="3794760"/>
            <a:ext cx="1920240" cy="4572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3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Evaluation scope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The saved models are tested after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749808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 txBox="1"/>
          <p:nvPr/>
        </p:nvSpPr>
        <p:spPr>
          <a:xfrm>
            <a:off x="813815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Load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3"/>
          <p:cNvSpPr txBox="1"/>
          <p:nvPr/>
        </p:nvSpPr>
        <p:spPr>
          <a:xfrm>
            <a:off x="813815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7 saved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3"/>
          <p:cNvSpPr txBox="1"/>
          <p:nvPr/>
        </p:nvSpPr>
        <p:spPr>
          <a:xfrm>
            <a:off x="2779775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2916935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 txBox="1"/>
          <p:nvPr/>
        </p:nvSpPr>
        <p:spPr>
          <a:xfrm>
            <a:off x="2980943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Test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3"/>
          <p:cNvSpPr txBox="1"/>
          <p:nvPr/>
        </p:nvSpPr>
        <p:spPr>
          <a:xfrm>
            <a:off x="2980943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809 + 518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"/>
          <p:cNvSpPr txBox="1"/>
          <p:nvPr/>
        </p:nvSpPr>
        <p:spPr>
          <a:xfrm>
            <a:off x="4946903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5084064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 txBox="1"/>
          <p:nvPr/>
        </p:nvSpPr>
        <p:spPr>
          <a:xfrm>
            <a:off x="5148072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Compare labels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3"/>
          <p:cNvSpPr txBox="1"/>
          <p:nvPr/>
        </p:nvSpPr>
        <p:spPr>
          <a:xfrm>
            <a:off x="5148072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correct / wrong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7114031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7251192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7315200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Stress 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315200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JPEG, resize, blur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3"/>
          <p:cNvSpPr txBox="1"/>
          <p:nvPr/>
        </p:nvSpPr>
        <p:spPr>
          <a:xfrm>
            <a:off x="9281159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9418319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 txBox="1"/>
          <p:nvPr/>
        </p:nvSpPr>
        <p:spPr>
          <a:xfrm>
            <a:off x="9482328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Grad-CAM +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 txBox="1"/>
          <p:nvPr/>
        </p:nvSpPr>
        <p:spPr>
          <a:xfrm>
            <a:off x="9482328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attention, video →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749808" y="3749039"/>
            <a:ext cx="10698480" cy="141732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 txBox="1"/>
          <p:nvPr/>
        </p:nvSpPr>
        <p:spPr>
          <a:xfrm>
            <a:off x="987552" y="396849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STEP 3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3"/>
          <p:cNvSpPr txBox="1"/>
          <p:nvPr/>
        </p:nvSpPr>
        <p:spPr>
          <a:xfrm>
            <a:off x="987552" y="4315968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Accuracy, AUC, errors, robustness, attention maps and demo.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"/>
          <p:cNvSpPr txBox="1"/>
          <p:nvPr/>
        </p:nvSpPr>
        <p:spPr>
          <a:xfrm>
            <a:off x="987552" y="4800600"/>
            <a:ext cx="9784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The holdout test is the main unseen-video check; the official test provides the Celeb-DF benchmark result.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4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Model comparison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4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All seven models on the 809 holdout videos (main result) and the 518 official test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749808" y="5029200"/>
            <a:ext cx="10698480" cy="137160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 txBox="1"/>
          <p:nvPr/>
        </p:nvSpPr>
        <p:spPr>
          <a:xfrm>
            <a:off x="987552" y="516636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KEY FINDING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"/>
          <p:cNvSpPr txBox="1"/>
          <p:nvPr/>
        </p:nvSpPr>
        <p:spPr>
          <a:xfrm>
            <a:off x="987552" y="5422392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 separated REAL and FAKE videos best.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4"/>
          <p:cNvSpPr txBox="1"/>
          <p:nvPr/>
        </p:nvSpPr>
        <p:spPr>
          <a:xfrm>
            <a:off x="987552" y="5788152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Its 95% interval lies above EfficientNet-B0, ResNet-50 and Xception. Accuracy differs by only a few videos among the top five.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6" name="Google Shape;396;p14"/>
          <p:cNvGraphicFramePr/>
          <p:nvPr/>
        </p:nvGraphicFramePr>
        <p:xfrm>
          <a:off x="749808" y="178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{7818308C-96FD-40AC-9B7E-A86C079216B4}</a:tableStyleId>
              </a:tblPr>
              <a:tblGrid>
                <a:gridCol w="2148850"/>
                <a:gridCol w="2606050"/>
                <a:gridCol w="1783075"/>
                <a:gridCol w="1371600"/>
                <a:gridCol w="1371600"/>
                <a:gridCol w="14173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Holdout AUC (95% CI)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Holdout accuracy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Holdout EER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Official AUC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Speed (img/s)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ConvNeXt-Tiny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0.9999 (0.9997–1.0000)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98.15% (794)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0.008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0.9998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575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EfficientNet-B4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0.9990 (0.9978–0.9999)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97.90% (792)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0.011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0.9991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517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Swin-Tiny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0.9988 (0.9975–0.9997)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98.15% (794)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0.9988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Xception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0.9986 (0.9970–0.9996)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98.39% (796)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0.9992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567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ResNet-50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0.9981 (0.9963–0.9994)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97.78% (791)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0.9969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841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EfficientNet-B0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0.9981 (0.9963–0.9993)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97.65% (790)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0.9979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1,440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CLIP ViT-B/16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0.9873 (0.9811–0.9927)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94.31% (763)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0.049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0.9955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318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7" name="Google Shape;397;p14"/>
          <p:cNvSpPr txBox="1"/>
          <p:nvPr/>
        </p:nvSpPr>
        <p:spPr>
          <a:xfrm>
            <a:off x="749808" y="4617720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Accuracy uses each model's own validation decision point. Speed is GPU images per second on prepared faces (T4).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Evaluation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5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 predictions are compared with the known REAL / FAKE label of each test video.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749808" y="1874519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749808" y="1874519"/>
            <a:ext cx="64008" cy="1060704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 txBox="1"/>
          <p:nvPr/>
        </p:nvSpPr>
        <p:spPr>
          <a:xfrm>
            <a:off x="969264" y="198424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794 / 809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5"/>
          <p:cNvSpPr txBox="1"/>
          <p:nvPr/>
        </p:nvSpPr>
        <p:spPr>
          <a:xfrm>
            <a:off x="969264" y="2386584"/>
            <a:ext cx="2093976" cy="49377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holdout videos correct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3364992" y="1874519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3364992" y="1874519"/>
            <a:ext cx="64008" cy="1060704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 txBox="1"/>
          <p:nvPr/>
        </p:nvSpPr>
        <p:spPr>
          <a:xfrm>
            <a:off x="3584448" y="198424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98.15%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5"/>
          <p:cNvSpPr txBox="1"/>
          <p:nvPr/>
        </p:nvSpPr>
        <p:spPr>
          <a:xfrm>
            <a:off x="3584448" y="2386584"/>
            <a:ext cx="2093976" cy="49377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holdout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5980176" y="1874519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5980176" y="1874519"/>
            <a:ext cx="64008" cy="1060704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 txBox="1"/>
          <p:nvPr/>
        </p:nvSpPr>
        <p:spPr>
          <a:xfrm>
            <a:off x="6199632" y="198424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0.9998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5"/>
          <p:cNvSpPr txBox="1"/>
          <p:nvPr/>
        </p:nvSpPr>
        <p:spPr>
          <a:xfrm>
            <a:off x="6199632" y="2386584"/>
            <a:ext cx="2093976" cy="49377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official video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8595360" y="1874519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8595360" y="1874519"/>
            <a:ext cx="64008" cy="1060704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8814816" y="198424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0.954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8814816" y="2386584"/>
            <a:ext cx="2093976" cy="49377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official video F1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749808" y="3520440"/>
            <a:ext cx="10698480" cy="169164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987552" y="3749039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RESULT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987552" y="409651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Holdout: 90 REAL + 704 FAKE = 794 correct   |   15 + 0 = 15 wrong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987552" y="4498848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Official: AUC 0.9998 and F1 0.954 at the same 0.0233 decision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5"/>
          <p:cNvSpPr txBox="1"/>
          <p:nvPr/>
        </p:nvSpPr>
        <p:spPr>
          <a:xfrm>
            <a:off x="987552" y="491947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Accuracy = correct predictions ÷ total videos. No fake holdout video was missed.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6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6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Correct and wrong predictions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6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Holdout confusion matrices for all seven models, each at its own validation decision point.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658368" y="1828800"/>
            <a:ext cx="6720840" cy="3611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 txBox="1"/>
          <p:nvPr/>
        </p:nvSpPr>
        <p:spPr>
          <a:xfrm>
            <a:off x="7635240" y="19202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CONVNEXT-TINY — 809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7635240" y="2267712"/>
            <a:ext cx="178308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7635240" y="2267712"/>
            <a:ext cx="64008" cy="932688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 txBox="1"/>
          <p:nvPr/>
        </p:nvSpPr>
        <p:spPr>
          <a:xfrm>
            <a:off x="7854696" y="237744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794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6"/>
          <p:cNvSpPr txBox="1"/>
          <p:nvPr/>
        </p:nvSpPr>
        <p:spPr>
          <a:xfrm>
            <a:off x="7854696" y="277977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correct predictions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9601200" y="2267712"/>
            <a:ext cx="178308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9601200" y="2267712"/>
            <a:ext cx="64008" cy="932688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 txBox="1"/>
          <p:nvPr/>
        </p:nvSpPr>
        <p:spPr>
          <a:xfrm>
            <a:off x="9820656" y="237744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6"/>
          <p:cNvSpPr txBox="1"/>
          <p:nvPr/>
        </p:nvSpPr>
        <p:spPr>
          <a:xfrm>
            <a:off x="9820656" y="277977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wrong predictions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6"/>
          <p:cNvSpPr txBox="1"/>
          <p:nvPr/>
        </p:nvSpPr>
        <p:spPr>
          <a:xfrm>
            <a:off x="7635240" y="36576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769BE"/>
                </a:solidFill>
                <a:latin typeface="Arial"/>
                <a:ea typeface="Arial"/>
                <a:cs typeface="Arial"/>
                <a:sym typeface="Arial"/>
              </a:rPr>
              <a:t>ACROSS ALL SEVEN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7635240" y="4005072"/>
            <a:ext cx="178308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7635240" y="4005072"/>
            <a:ext cx="64008" cy="932688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 txBox="1"/>
          <p:nvPr/>
        </p:nvSpPr>
        <p:spPr>
          <a:xfrm>
            <a:off x="7854696" y="411480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6"/>
          <p:cNvSpPr txBox="1"/>
          <p:nvPr/>
        </p:nvSpPr>
        <p:spPr>
          <a:xfrm>
            <a:off x="7854696" y="451713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fewest errors (Xception)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9601200" y="4005072"/>
            <a:ext cx="178308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9601200" y="4005072"/>
            <a:ext cx="64008" cy="932688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 txBox="1"/>
          <p:nvPr/>
        </p:nvSpPr>
        <p:spPr>
          <a:xfrm>
            <a:off x="9820656" y="411480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6"/>
          <p:cNvSpPr txBox="1"/>
          <p:nvPr/>
        </p:nvSpPr>
        <p:spPr>
          <a:xfrm>
            <a:off x="9820656" y="451713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most errors (CLIP)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6"/>
          <p:cNvSpPr txBox="1"/>
          <p:nvPr/>
        </p:nvSpPr>
        <p:spPr>
          <a:xfrm>
            <a:off x="749808" y="557784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Most errors are real videos flagged as fake. ConvNeXt-Tiny missed no fake video.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ell46_0.png" id="455" name="Google Shape;4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" y="2048256"/>
            <a:ext cx="6309360" cy="3177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7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7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ROC / AUC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7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AUC checks how well model scores separate REAL and FAKE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658368" y="1828800"/>
            <a:ext cx="557784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6583680" y="2011680"/>
            <a:ext cx="2148840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6583680" y="2011680"/>
            <a:ext cx="64008" cy="1024128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 txBox="1"/>
          <p:nvPr/>
        </p:nvSpPr>
        <p:spPr>
          <a:xfrm>
            <a:off x="6803136" y="2121408"/>
            <a:ext cx="1819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0.9999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7"/>
          <p:cNvSpPr txBox="1"/>
          <p:nvPr/>
        </p:nvSpPr>
        <p:spPr>
          <a:xfrm>
            <a:off x="6803136" y="2523744"/>
            <a:ext cx="18196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 holdout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9052560" y="2011680"/>
            <a:ext cx="2148840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9052560" y="2011680"/>
            <a:ext cx="64008" cy="1024128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 txBox="1"/>
          <p:nvPr/>
        </p:nvSpPr>
        <p:spPr>
          <a:xfrm>
            <a:off x="9272016" y="2121408"/>
            <a:ext cx="1819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0.9998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9272016" y="2523744"/>
            <a:ext cx="18196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 official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6583680" y="3474720"/>
            <a:ext cx="4617720" cy="150876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 txBox="1"/>
          <p:nvPr/>
        </p:nvSpPr>
        <p:spPr>
          <a:xfrm>
            <a:off x="6839712" y="37033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7"/>
          <p:cNvSpPr txBox="1"/>
          <p:nvPr/>
        </p:nvSpPr>
        <p:spPr>
          <a:xfrm>
            <a:off x="6839712" y="4005072"/>
            <a:ext cx="4069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 (red) is closest to the top-left corner; CLIP (pink) is lowest.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7"/>
          <p:cNvSpPr txBox="1"/>
          <p:nvPr/>
        </p:nvSpPr>
        <p:spPr>
          <a:xfrm>
            <a:off x="6583680" y="525780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Zoomed view of the holdout videos. All AUC values are on the comparison slide.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oc_holdout.png" id="477" name="Google Shape;4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2148840"/>
            <a:ext cx="5230368" cy="3661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8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8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Robustness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8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Holdout faces were scored again after JPEG compression, downscaling and blur, as happens when videos are re-uploaded.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8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7498079" y="1828800"/>
            <a:ext cx="3977639" cy="178308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8"/>
          <p:cNvSpPr txBox="1"/>
          <p:nvPr/>
        </p:nvSpPr>
        <p:spPr>
          <a:xfrm>
            <a:off x="7726679" y="20116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MOST ROBUST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8"/>
          <p:cNvSpPr txBox="1"/>
          <p:nvPr/>
        </p:nvSpPr>
        <p:spPr>
          <a:xfrm>
            <a:off x="7726679" y="228600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8"/>
          <p:cNvSpPr txBox="1"/>
          <p:nvPr/>
        </p:nvSpPr>
        <p:spPr>
          <a:xfrm>
            <a:off x="7726679" y="272491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AUC stayed at 0.9985 or higher under every distortion (worst drop 0.0014).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0" name="Google Shape;490;p18"/>
          <p:cNvGraphicFramePr/>
          <p:nvPr/>
        </p:nvGraphicFramePr>
        <p:xfrm>
          <a:off x="658368" y="1783080"/>
          <a:ext cx="6583680" cy="45262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91" name="Google Shape;491;p18"/>
          <p:cNvSpPr/>
          <p:nvPr/>
        </p:nvSpPr>
        <p:spPr>
          <a:xfrm>
            <a:off x="7498079" y="3886200"/>
            <a:ext cx="3977639" cy="1783080"/>
          </a:xfrm>
          <a:prstGeom prst="roundRect">
            <a:avLst>
              <a:gd fmla="val 16667" name="adj"/>
            </a:avLst>
          </a:prstGeom>
          <a:solidFill>
            <a:srgbClr val="FDF7F3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 txBox="1"/>
          <p:nvPr/>
        </p:nvSpPr>
        <p:spPr>
          <a:xfrm>
            <a:off x="7726679" y="40690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LEAST ROBUST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8"/>
          <p:cNvSpPr txBox="1"/>
          <p:nvPr/>
        </p:nvSpPr>
        <p:spPr>
          <a:xfrm>
            <a:off x="7726679" y="434340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CLIP ViT-B/16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8"/>
          <p:cNvSpPr txBox="1"/>
          <p:nvPr/>
        </p:nvSpPr>
        <p:spPr>
          <a:xfrm>
            <a:off x="7726679" y="478231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AUC fell to 0.9718 under blur (drop 0.0192).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8"/>
          <p:cNvSpPr txBox="1"/>
          <p:nvPr/>
        </p:nvSpPr>
        <p:spPr>
          <a:xfrm>
            <a:off x="7498079" y="5806440"/>
            <a:ext cx="39776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JPEG quality 30 and half-size downscaling are harsher than anything used in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9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9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Grad-CAM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9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Grad-CAM highlights the face regions that most influenced each model's score.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749808" y="5230368"/>
            <a:ext cx="5257800" cy="118872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 txBox="1"/>
          <p:nvPr/>
        </p:nvSpPr>
        <p:spPr>
          <a:xfrm>
            <a:off x="987552" y="5358384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ATTENTION SHOWN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9"/>
          <p:cNvSpPr txBox="1"/>
          <p:nvPr/>
        </p:nvSpPr>
        <p:spPr>
          <a:xfrm>
            <a:off x="987552" y="5632704"/>
            <a:ext cx="4800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On the fake face, most models focus on the eyes, nose and mouth, where the face swap is blended.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6190488" y="5230368"/>
            <a:ext cx="5257800" cy="118872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 txBox="1"/>
          <p:nvPr/>
        </p:nvSpPr>
        <p:spPr>
          <a:xfrm>
            <a:off x="6428231" y="5358384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9"/>
          <p:cNvSpPr txBox="1"/>
          <p:nvPr/>
        </p:nvSpPr>
        <p:spPr>
          <a:xfrm>
            <a:off x="6428231" y="5632704"/>
            <a:ext cx="4800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Scores are for single frames; the REAL / FAKE decision uses the average over the whole video.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9"/>
          <p:cNvSpPr txBox="1"/>
          <p:nvPr/>
        </p:nvSpPr>
        <p:spPr>
          <a:xfrm>
            <a:off x="704087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Input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0.png" id="511" name="Google Shape;5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9"/>
          <p:cNvSpPr txBox="1"/>
          <p:nvPr/>
        </p:nvSpPr>
        <p:spPr>
          <a:xfrm>
            <a:off x="704087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REAL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0.png" id="513" name="Google Shape;51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9"/>
          <p:cNvSpPr txBox="1"/>
          <p:nvPr/>
        </p:nvSpPr>
        <p:spPr>
          <a:xfrm>
            <a:off x="704087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FAKE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9"/>
          <p:cNvSpPr txBox="1"/>
          <p:nvPr/>
        </p:nvSpPr>
        <p:spPr>
          <a:xfrm>
            <a:off x="2041398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EfficientNet-B0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1.png" id="516" name="Google Shape;51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7117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9"/>
          <p:cNvSpPr txBox="1"/>
          <p:nvPr/>
        </p:nvSpPr>
        <p:spPr>
          <a:xfrm>
            <a:off x="2041398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1.png" id="518" name="Google Shape;51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7117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9"/>
          <p:cNvSpPr txBox="1"/>
          <p:nvPr/>
        </p:nvSpPr>
        <p:spPr>
          <a:xfrm>
            <a:off x="2041398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9"/>
          <p:cNvSpPr txBox="1"/>
          <p:nvPr/>
        </p:nvSpPr>
        <p:spPr>
          <a:xfrm>
            <a:off x="3378708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ResNet-50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2.png" id="521" name="Google Shape;52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4427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9"/>
          <p:cNvSpPr txBox="1"/>
          <p:nvPr/>
        </p:nvSpPr>
        <p:spPr>
          <a:xfrm>
            <a:off x="3378708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2.png" id="523" name="Google Shape;52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24427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9"/>
          <p:cNvSpPr txBox="1"/>
          <p:nvPr/>
        </p:nvSpPr>
        <p:spPr>
          <a:xfrm>
            <a:off x="3378708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9"/>
          <p:cNvSpPr txBox="1"/>
          <p:nvPr/>
        </p:nvSpPr>
        <p:spPr>
          <a:xfrm>
            <a:off x="4716018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Xception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3.png" id="526" name="Google Shape;52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1738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9"/>
          <p:cNvSpPr txBox="1"/>
          <p:nvPr/>
        </p:nvSpPr>
        <p:spPr>
          <a:xfrm>
            <a:off x="4716018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3.png" id="528" name="Google Shape;528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61738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9"/>
          <p:cNvSpPr txBox="1"/>
          <p:nvPr/>
        </p:nvSpPr>
        <p:spPr>
          <a:xfrm>
            <a:off x="4716018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9"/>
          <p:cNvSpPr txBox="1"/>
          <p:nvPr/>
        </p:nvSpPr>
        <p:spPr>
          <a:xfrm>
            <a:off x="6053328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4.png" id="531" name="Google Shape;531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99048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9"/>
          <p:cNvSpPr txBox="1"/>
          <p:nvPr/>
        </p:nvSpPr>
        <p:spPr>
          <a:xfrm>
            <a:off x="6053328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0.065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4.png" id="533" name="Google Shape;533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099048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9"/>
          <p:cNvSpPr txBox="1"/>
          <p:nvPr/>
        </p:nvSpPr>
        <p:spPr>
          <a:xfrm>
            <a:off x="6053328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9"/>
          <p:cNvSpPr txBox="1"/>
          <p:nvPr/>
        </p:nvSpPr>
        <p:spPr>
          <a:xfrm>
            <a:off x="7390638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Swin-Tiny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5.png" id="536" name="Google Shape;536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436358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9"/>
          <p:cNvSpPr txBox="1"/>
          <p:nvPr/>
        </p:nvSpPr>
        <p:spPr>
          <a:xfrm>
            <a:off x="7390638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5.png" id="538" name="Google Shape;538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436358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9"/>
          <p:cNvSpPr txBox="1"/>
          <p:nvPr/>
        </p:nvSpPr>
        <p:spPr>
          <a:xfrm>
            <a:off x="7390638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9"/>
          <p:cNvSpPr txBox="1"/>
          <p:nvPr/>
        </p:nvSpPr>
        <p:spPr>
          <a:xfrm>
            <a:off x="8727947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EfficientNet-B4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6.png" id="541" name="Google Shape;541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773667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9"/>
          <p:cNvSpPr txBox="1"/>
          <p:nvPr/>
        </p:nvSpPr>
        <p:spPr>
          <a:xfrm>
            <a:off x="8727947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6.png" id="543" name="Google Shape;543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773667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9"/>
          <p:cNvSpPr txBox="1"/>
          <p:nvPr/>
        </p:nvSpPr>
        <p:spPr>
          <a:xfrm>
            <a:off x="8727947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9"/>
          <p:cNvSpPr txBox="1"/>
          <p:nvPr/>
        </p:nvSpPr>
        <p:spPr>
          <a:xfrm>
            <a:off x="10065257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CLIP ViT-B/16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7.png" id="546" name="Google Shape;546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110978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9"/>
          <p:cNvSpPr txBox="1"/>
          <p:nvPr/>
        </p:nvSpPr>
        <p:spPr>
          <a:xfrm>
            <a:off x="10065257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7.png" id="548" name="Google Shape;548;p1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110978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9"/>
          <p:cNvSpPr txBox="1"/>
          <p:nvPr/>
        </p:nvSpPr>
        <p:spPr>
          <a:xfrm>
            <a:off x="10065257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0.995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0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0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Full video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0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Two complete videos were passed through the final pipeline with ConvNeXt-Tiny.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 txBox="1"/>
          <p:nvPr/>
        </p:nvSpPr>
        <p:spPr>
          <a:xfrm>
            <a:off x="914400" y="20482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DEMO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0"/>
          <p:cNvSpPr txBox="1"/>
          <p:nvPr/>
        </p:nvSpPr>
        <p:spPr>
          <a:xfrm>
            <a:off x="914400" y="2359152"/>
            <a:ext cx="5989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Both sample videos were predicted correctly.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914400" y="2852928"/>
            <a:ext cx="63093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 txBox="1"/>
          <p:nvPr/>
        </p:nvSpPr>
        <p:spPr>
          <a:xfrm>
            <a:off x="960120" y="4261104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REAL: 0.00003 → REAL 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0"/>
          <p:cNvSpPr txBox="1"/>
          <p:nvPr/>
        </p:nvSpPr>
        <p:spPr>
          <a:xfrm>
            <a:off x="3913632" y="4261104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FAKE: 0.8717 → FAKE 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0"/>
          <p:cNvSpPr txBox="1"/>
          <p:nvPr/>
        </p:nvSpPr>
        <p:spPr>
          <a:xfrm>
            <a:off x="960120" y="4773168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32 evenly spaced frames per video, one face from each; P(fake) is their average. The first video took 18 s because it also loaded the face detector.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7818120" y="1828800"/>
            <a:ext cx="1572768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7818120" y="1828800"/>
            <a:ext cx="64008" cy="1024128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0"/>
          <p:cNvSpPr txBox="1"/>
          <p:nvPr/>
        </p:nvSpPr>
        <p:spPr>
          <a:xfrm>
            <a:off x="8037576" y="1938528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0"/>
          <p:cNvSpPr txBox="1"/>
          <p:nvPr/>
        </p:nvSpPr>
        <p:spPr>
          <a:xfrm>
            <a:off x="8037576" y="2340864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demo 1 correct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9646920" y="1828800"/>
            <a:ext cx="1572768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9646920" y="1828800"/>
            <a:ext cx="64008" cy="1024128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 txBox="1"/>
          <p:nvPr/>
        </p:nvSpPr>
        <p:spPr>
          <a:xfrm>
            <a:off x="9866376" y="1938528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0"/>
          <p:cNvSpPr txBox="1"/>
          <p:nvPr/>
        </p:nvSpPr>
        <p:spPr>
          <a:xfrm>
            <a:off x="9866376" y="2340864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demo 2 correct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7818120" y="3108960"/>
            <a:ext cx="1572768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/>
          <p:nvPr/>
        </p:nvSpPr>
        <p:spPr>
          <a:xfrm>
            <a:off x="7818120" y="3108960"/>
            <a:ext cx="64008" cy="1024128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 txBox="1"/>
          <p:nvPr/>
        </p:nvSpPr>
        <p:spPr>
          <a:xfrm>
            <a:off x="8037576" y="3218688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0"/>
          <p:cNvSpPr txBox="1"/>
          <p:nvPr/>
        </p:nvSpPr>
        <p:spPr>
          <a:xfrm>
            <a:off x="8037576" y="3621024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frames checked per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9646920" y="3108960"/>
            <a:ext cx="1572768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0"/>
          <p:cNvSpPr/>
          <p:nvPr/>
        </p:nvSpPr>
        <p:spPr>
          <a:xfrm>
            <a:off x="9646920" y="3108960"/>
            <a:ext cx="64008" cy="1024128"/>
          </a:xfrm>
          <a:prstGeom prst="rect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0"/>
          <p:cNvSpPr txBox="1"/>
          <p:nvPr/>
        </p:nvSpPr>
        <p:spPr>
          <a:xfrm>
            <a:off x="9866376" y="3218688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1.6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0"/>
          <p:cNvSpPr txBox="1"/>
          <p:nvPr/>
        </p:nvSpPr>
        <p:spPr>
          <a:xfrm>
            <a:off x="9866376" y="3621024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per video after warm-up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0"/>
          <p:cNvSpPr/>
          <p:nvPr/>
        </p:nvSpPr>
        <p:spPr>
          <a:xfrm>
            <a:off x="7818120" y="4480560"/>
            <a:ext cx="3401568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0"/>
          <p:cNvSpPr txBox="1"/>
          <p:nvPr/>
        </p:nvSpPr>
        <p:spPr>
          <a:xfrm>
            <a:off x="8065008" y="470001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PROCESSING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0"/>
          <p:cNvSpPr txBox="1"/>
          <p:nvPr/>
        </p:nvSpPr>
        <p:spPr>
          <a:xfrm>
            <a:off x="8065008" y="50292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Video → faces → scores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0"/>
          <p:cNvSpPr txBox="1"/>
          <p:nvPr/>
        </p:nvSpPr>
        <p:spPr>
          <a:xfrm>
            <a:off x="8065008" y="533095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→ average → REAL / 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5" name="Google Shape;585;p20"/>
          <p:cNvGraphicFramePr/>
          <p:nvPr/>
        </p:nvGraphicFramePr>
        <p:xfrm>
          <a:off x="1024128" y="29626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{7818308C-96FD-40AC-9B7E-A86C079216B4}</a:tableStyleId>
              </a:tblPr>
              <a:tblGrid>
                <a:gridCol w="1920250"/>
                <a:gridCol w="777250"/>
                <a:gridCol w="731525"/>
                <a:gridCol w="960125"/>
                <a:gridCol w="1005850"/>
                <a:gridCol w="731525"/>
              </a:tblGrid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Video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Truth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Faces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P(fake)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Prediction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id49_0000.mp4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0.00003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18.0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id49_id50_0000.mp4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FAKE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0.8717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FAKE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1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1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Speed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1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Model speed and complete-video time are measured separately.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1"/>
          <p:cNvSpPr/>
          <p:nvPr/>
        </p:nvSpPr>
        <p:spPr>
          <a:xfrm>
            <a:off x="914400" y="2011680"/>
            <a:ext cx="470916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1"/>
          <p:cNvSpPr/>
          <p:nvPr/>
        </p:nvSpPr>
        <p:spPr>
          <a:xfrm>
            <a:off x="914400" y="2011680"/>
            <a:ext cx="64008" cy="137160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1"/>
          <p:cNvSpPr txBox="1"/>
          <p:nvPr/>
        </p:nvSpPr>
        <p:spPr>
          <a:xfrm>
            <a:off x="1133856" y="2121408"/>
            <a:ext cx="4379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575 images/sec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1"/>
          <p:cNvSpPr txBox="1"/>
          <p:nvPr/>
        </p:nvSpPr>
        <p:spPr>
          <a:xfrm>
            <a:off x="1133856" y="2523744"/>
            <a:ext cx="4379976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 alone on an NVIDIA T4 GPU (Colab): batches of 64 face images of 224 × 224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6565392" y="2011680"/>
            <a:ext cx="470916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6565392" y="2011680"/>
            <a:ext cx="64008" cy="137160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1"/>
          <p:cNvSpPr txBox="1"/>
          <p:nvPr/>
        </p:nvSpPr>
        <p:spPr>
          <a:xfrm>
            <a:off x="6784848" y="2121408"/>
            <a:ext cx="4379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~1.6 sec/video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1"/>
          <p:cNvSpPr txBox="1"/>
          <p:nvPr/>
        </p:nvSpPr>
        <p:spPr>
          <a:xfrm>
            <a:off x="6784848" y="2523744"/>
            <a:ext cx="4379976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856 × 478 video, 9.3 s long, 32 frames scored; face detection and model on an NVIDIA T4 GPU (Colab)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914400" y="3931920"/>
            <a:ext cx="10360152" cy="141732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1"/>
          <p:cNvSpPr txBox="1"/>
          <p:nvPr/>
        </p:nvSpPr>
        <p:spPr>
          <a:xfrm>
            <a:off x="1170432" y="4169663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RUNTIME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1"/>
          <p:cNvSpPr txBox="1"/>
          <p:nvPr/>
        </p:nvSpPr>
        <p:spPr>
          <a:xfrm>
            <a:off x="1170432" y="4498848"/>
            <a:ext cx="9509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Python timers measure the processing duration.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1"/>
          <p:cNvSpPr txBox="1"/>
          <p:nvPr/>
        </p:nvSpPr>
        <p:spPr>
          <a:xfrm>
            <a:off x="1170432" y="4937760"/>
            <a:ext cx="9509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Model speed excludes face detection (318 to 1,440 images/sec across the seven models). Full-video times by size, frames and hardware: next slide.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1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1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Speed test: video size, frames and hardware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1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Time to score one video end to end: read frames, find and align faces, score them, average. Models already loaded.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749808" y="4572000"/>
            <a:ext cx="10698480" cy="1298448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1"/>
          <p:cNvSpPr txBox="1"/>
          <p:nvPr/>
        </p:nvSpPr>
        <p:spPr>
          <a:xfrm>
            <a:off x="987552" y="47548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WHAT DRIVES THE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1"/>
          <p:cNvSpPr txBox="1"/>
          <p:nvPr/>
        </p:nvSpPr>
        <p:spPr>
          <a:xfrm>
            <a:off x="987552" y="5001768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9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Frames scored and where face detection runs, not video size or length.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1"/>
          <p:cNvSpPr txBox="1"/>
          <p:nvPr/>
        </p:nvSpPr>
        <p:spPr>
          <a:xfrm>
            <a:off x="987552" y="537667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Face detection on the T4 GPU took 1.6 s instead of about 6 s on CPU. Doubling the frames doubles the time; 360p to 1080p only adds decoding; a 6× longer video takes the same time because frames are sampled.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06" name="Google Shape;396;p14"/>
          <p:cNvGraphicFramePr/>
          <p:nvPr/>
        </p:nvGraphicFramePr>
        <p:xfrm>
          <a:off x="749808" y="1783080"/>
          <a:ext cx="10698480" cy="2560320"/>
        </p:xfrm>
        <a:graphic>
          <a:graphicData uri="http://schemas.openxmlformats.org/drawingml/2006/table">
            <a:tbl>
              <a:tblPr bandRow="1" firstRow="1">
                <a:noFill/>
                <a:tableStyleId>{7818308C-96FD-40AC-9B7E-A86C079216B4}</a:tableStyleId>
              </a:tblPr>
              <a:tblGrid>
                <a:gridCol w="2514600"/>
                <a:gridCol w="1691640"/>
                <a:gridCol w="2926080"/>
                <a:gridCol w="1463040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Hardware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Face detection on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Video size and length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Frames scored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 per video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NVIDIA T4 GPU (Colab)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856 × 478, 9.3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NVIDIA T4 GPU (Kaggle)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974 × 500, 10.3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NVIDIA T4 GPU (Kaggle)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286 × 300, 10.6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5.9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Apple M2 Pro, CPU only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856 × 478, 9.3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/ 16 / 32 / 64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2.3 / 2.4 / 4.4 / 8.8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Apple M2 Pro, CPU only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640 × 360 → 1920 × 1080, 9.3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4.3 → 4.8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Apple M2 Pro, CPU only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856 × 478, 55.6 s (looped)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4.5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7" name="TextBox 606"/>
          <p:cNvSpPr txBox="1"/>
          <p:nvPr/>
        </p:nvSpPr>
        <p:spPr>
          <a:xfrm>
            <a:off x="749808" y="6016752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778"/>
                </a:solidFill>
                <a:latin typeface="Arial"/>
              </a:rPr>
              <a:t>T4 rows: timings recorded by the Colab and Kaggle training notebooks (detector on CPU in Kaggle). M2 Pro rows: median of 3 runs after a warm-up, 4 CPU threads as in the app; below 16 faces PyTorch uses a slower path on this CPU, so 8 frames take as long as 16.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2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PROJECT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2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Completed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2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The implementation covers the full pipeline and a seven-model comparison.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2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2"/>
          <p:cNvSpPr/>
          <p:nvPr/>
        </p:nvSpPr>
        <p:spPr>
          <a:xfrm>
            <a:off x="749808" y="1856231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950976" y="2130551"/>
            <a:ext cx="420624" cy="420624"/>
          </a:xfrm>
          <a:prstGeom prst="ellipse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2"/>
          <p:cNvSpPr txBox="1"/>
          <p:nvPr/>
        </p:nvSpPr>
        <p:spPr>
          <a:xfrm>
            <a:off x="950976" y="2130551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2"/>
          <p:cNvSpPr txBox="1"/>
          <p:nvPr/>
        </p:nvSpPr>
        <p:spPr>
          <a:xfrm>
            <a:off x="1536192" y="20391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Dataset prepared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2"/>
          <p:cNvSpPr txBox="1"/>
          <p:nvPr/>
        </p:nvSpPr>
        <p:spPr>
          <a:xfrm>
            <a:off x="1536192" y="2377439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6,529 videos checked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4407408" y="1856231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2"/>
          <p:cNvSpPr/>
          <p:nvPr/>
        </p:nvSpPr>
        <p:spPr>
          <a:xfrm>
            <a:off x="4608576" y="2130551"/>
            <a:ext cx="420624" cy="420624"/>
          </a:xfrm>
          <a:prstGeom prst="ellipse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2"/>
          <p:cNvSpPr txBox="1"/>
          <p:nvPr/>
        </p:nvSpPr>
        <p:spPr>
          <a:xfrm>
            <a:off x="4608576" y="2130551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2"/>
          <p:cNvSpPr txBox="1"/>
          <p:nvPr/>
        </p:nvSpPr>
        <p:spPr>
          <a:xfrm>
            <a:off x="5193792" y="20391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Faces prepared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2"/>
          <p:cNvSpPr txBox="1"/>
          <p:nvPr/>
        </p:nvSpPr>
        <p:spPr>
          <a:xfrm>
            <a:off x="5193792" y="2377439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73,429 face images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8065008" y="1856231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2"/>
          <p:cNvSpPr/>
          <p:nvPr/>
        </p:nvSpPr>
        <p:spPr>
          <a:xfrm>
            <a:off x="8266176" y="2130551"/>
            <a:ext cx="420624" cy="420624"/>
          </a:xfrm>
          <a:prstGeom prst="ellipse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2"/>
          <p:cNvSpPr txBox="1"/>
          <p:nvPr/>
        </p:nvSpPr>
        <p:spPr>
          <a:xfrm>
            <a:off x="8266176" y="2130551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2"/>
          <p:cNvSpPr txBox="1"/>
          <p:nvPr/>
        </p:nvSpPr>
        <p:spPr>
          <a:xfrm>
            <a:off x="8851392" y="20391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Models trained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2"/>
          <p:cNvSpPr txBox="1"/>
          <p:nvPr/>
        </p:nvSpPr>
        <p:spPr>
          <a:xfrm>
            <a:off x="8851392" y="2377439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7 models compared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2"/>
          <p:cNvSpPr/>
          <p:nvPr/>
        </p:nvSpPr>
        <p:spPr>
          <a:xfrm>
            <a:off x="749808" y="3273552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2"/>
          <p:cNvSpPr/>
          <p:nvPr/>
        </p:nvSpPr>
        <p:spPr>
          <a:xfrm>
            <a:off x="950976" y="3547872"/>
            <a:ext cx="420624" cy="420624"/>
          </a:xfrm>
          <a:prstGeom prst="ellipse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2"/>
          <p:cNvSpPr txBox="1"/>
          <p:nvPr/>
        </p:nvSpPr>
        <p:spPr>
          <a:xfrm>
            <a:off x="950976" y="354787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2"/>
          <p:cNvSpPr txBox="1"/>
          <p:nvPr/>
        </p:nvSpPr>
        <p:spPr>
          <a:xfrm>
            <a:off x="1536192" y="3456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Models evaluated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2"/>
          <p:cNvSpPr txBox="1"/>
          <p:nvPr/>
        </p:nvSpPr>
        <p:spPr>
          <a:xfrm>
            <a:off x="1536192" y="379476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809 + 518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4407408" y="3273552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2"/>
          <p:cNvSpPr/>
          <p:nvPr/>
        </p:nvSpPr>
        <p:spPr>
          <a:xfrm>
            <a:off x="4608576" y="3547872"/>
            <a:ext cx="420624" cy="420624"/>
          </a:xfrm>
          <a:prstGeom prst="ellipse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2"/>
          <p:cNvSpPr txBox="1"/>
          <p:nvPr/>
        </p:nvSpPr>
        <p:spPr>
          <a:xfrm>
            <a:off x="4608576" y="354787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2"/>
          <p:cNvSpPr txBox="1"/>
          <p:nvPr/>
        </p:nvSpPr>
        <p:spPr>
          <a:xfrm>
            <a:off x="5193792" y="3456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Results reviewed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2"/>
          <p:cNvSpPr txBox="1"/>
          <p:nvPr/>
        </p:nvSpPr>
        <p:spPr>
          <a:xfrm>
            <a:off x="5193792" y="379476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AUC + robustness + Grad-CAM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2"/>
          <p:cNvSpPr/>
          <p:nvPr/>
        </p:nvSpPr>
        <p:spPr>
          <a:xfrm>
            <a:off x="8065008" y="3273552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2"/>
          <p:cNvSpPr/>
          <p:nvPr/>
        </p:nvSpPr>
        <p:spPr>
          <a:xfrm>
            <a:off x="8266176" y="3547872"/>
            <a:ext cx="420624" cy="420624"/>
          </a:xfrm>
          <a:prstGeom prst="ellipse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2"/>
          <p:cNvSpPr txBox="1"/>
          <p:nvPr/>
        </p:nvSpPr>
        <p:spPr>
          <a:xfrm>
            <a:off x="8266176" y="354787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2"/>
          <p:cNvSpPr txBox="1"/>
          <p:nvPr/>
        </p:nvSpPr>
        <p:spPr>
          <a:xfrm>
            <a:off x="8851392" y="3456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Demo completed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2"/>
          <p:cNvSpPr txBox="1"/>
          <p:nvPr/>
        </p:nvSpPr>
        <p:spPr>
          <a:xfrm>
            <a:off x="8851392" y="379476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ConvNeXt-Tiny: video →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2"/>
          <p:cNvSpPr/>
          <p:nvPr/>
        </p:nvSpPr>
        <p:spPr>
          <a:xfrm>
            <a:off x="749808" y="4965192"/>
            <a:ext cx="10652760" cy="868680"/>
          </a:xfrm>
          <a:prstGeom prst="roundRect">
            <a:avLst>
              <a:gd fmla="val 16667" name="adj"/>
            </a:avLst>
          </a:prstGeom>
          <a:solidFill>
            <a:srgbClr val="121E34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2"/>
          <p:cNvSpPr txBox="1"/>
          <p:nvPr/>
        </p:nvSpPr>
        <p:spPr>
          <a:xfrm>
            <a:off x="1005840" y="51663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2"/>
          <p:cNvSpPr txBox="1"/>
          <p:nvPr/>
        </p:nvSpPr>
        <p:spPr>
          <a:xfrm>
            <a:off x="2880360" y="507492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0.9999 holdout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2"/>
          <p:cNvSpPr txBox="1"/>
          <p:nvPr/>
        </p:nvSpPr>
        <p:spPr>
          <a:xfrm>
            <a:off x="6510528" y="5074920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98.15% holdout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5"/>
          <p:cNvSpPr txBox="1"/>
          <p:nvPr/>
        </p:nvSpPr>
        <p:spPr>
          <a:xfrm>
            <a:off x="329184" y="73152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5B37"/>
                </a:solidFill>
                <a:latin typeface="Arial"/>
                <a:ea typeface="Arial"/>
                <a:cs typeface="Arial"/>
                <a:sym typeface="Arial"/>
              </a:rPr>
              <a:t>MY UPDATE</a:t>
            </a:r>
            <a:endParaRPr/>
          </a:p>
        </p:txBody>
      </p:sp>
      <p:sp>
        <p:nvSpPr>
          <p:cNvPr id="653" name="Google Shape;653;p35"/>
          <p:cNvSpPr txBox="1"/>
          <p:nvPr/>
        </p:nvSpPr>
        <p:spPr>
          <a:xfrm>
            <a:off x="329184" y="310896"/>
            <a:ext cx="11247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What I changed for the low-resolution test</a:t>
            </a:r>
            <a:endParaRPr/>
          </a:p>
        </p:txBody>
      </p:sp>
      <p:sp>
        <p:nvSpPr>
          <p:cNvPr id="654" name="Google Shape;654;p35"/>
          <p:cNvSpPr txBox="1"/>
          <p:nvPr/>
        </p:nvSpPr>
        <p:spPr>
          <a:xfrm>
            <a:off x="329184" y="749808"/>
            <a:ext cx="11247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The goal was simple: use more frames and check whether enhancement actually improves low-quality videos.</a:t>
            </a:r>
            <a:endParaRPr/>
          </a:p>
        </p:txBody>
      </p:sp>
      <p:sp>
        <p:nvSpPr>
          <p:cNvPr id="655" name="Google Shape;655;p35"/>
          <p:cNvSpPr/>
          <p:nvPr/>
        </p:nvSpPr>
        <p:spPr>
          <a:xfrm>
            <a:off x="329184" y="1042415"/>
            <a:ext cx="11503152" cy="32004"/>
          </a:xfrm>
          <a:prstGeom prst="rect">
            <a:avLst/>
          </a:prstGeom>
          <a:solidFill>
            <a:srgbClr val="CFD8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6" name="Google Shape;656;p35"/>
          <p:cNvGraphicFramePr/>
          <p:nvPr/>
        </p:nvGraphicFramePr>
        <p:xfrm>
          <a:off x="594360" y="13075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{2338D9DC-F09C-46F0-9EA9-D6A716EAE88F}</a:tableStyleId>
              </a:tblPr>
              <a:tblGrid>
                <a:gridCol w="2518800"/>
                <a:gridCol w="3663700"/>
                <a:gridCol w="4808600"/>
              </a:tblGrid>
              <a:tr h="56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area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Previous approach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Updated test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11233C"/>
                    </a:solidFill>
                  </a:tcPr>
                </a:tc>
              </a:tr>
              <a:tr h="56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Frames checked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 frames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frames per video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</a:tr>
              <a:tr h="56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Video quality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Normal / high quality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Low-resolution videos included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</a:tr>
              <a:tr h="56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Enhancement check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Limited comparison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Original vs Enhanced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</a:tr>
              <a:tr h="56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Kaggle test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example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different REAL low-resolution videos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657" name="Google Shape;657;p35"/>
          <p:cNvSpPr/>
          <p:nvPr/>
        </p:nvSpPr>
        <p:spPr>
          <a:xfrm>
            <a:off x="658368" y="4370832"/>
            <a:ext cx="3273552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5"/>
          <p:cNvSpPr/>
          <p:nvPr/>
        </p:nvSpPr>
        <p:spPr>
          <a:xfrm>
            <a:off x="658368" y="4370832"/>
            <a:ext cx="64008" cy="987552"/>
          </a:xfrm>
          <a:prstGeom prst="rect">
            <a:avLst/>
          </a:prstGeom>
          <a:solidFill>
            <a:srgbClr val="26AE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5"/>
          <p:cNvSpPr txBox="1"/>
          <p:nvPr/>
        </p:nvSpPr>
        <p:spPr>
          <a:xfrm>
            <a:off x="822959" y="4425696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WHY 64 FRAMES</a:t>
            </a:r>
            <a:endParaRPr/>
          </a:p>
        </p:txBody>
      </p:sp>
      <p:sp>
        <p:nvSpPr>
          <p:cNvPr id="660" name="Google Shape;660;p35"/>
          <p:cNvSpPr txBox="1"/>
          <p:nvPr/>
        </p:nvSpPr>
        <p:spPr>
          <a:xfrm>
            <a:off x="822959" y="460857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More coverage</a:t>
            </a:r>
            <a:endParaRPr/>
          </a:p>
        </p:txBody>
      </p:sp>
      <p:sp>
        <p:nvSpPr>
          <p:cNvPr id="661" name="Google Shape;661;p35"/>
          <p:cNvSpPr txBox="1"/>
          <p:nvPr/>
        </p:nvSpPr>
        <p:spPr>
          <a:xfrm>
            <a:off x="822959" y="4892040"/>
            <a:ext cx="30175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More moments from each video are reviewed</a:t>
            </a:r>
            <a:endParaRPr/>
          </a:p>
        </p:txBody>
      </p:sp>
      <p:sp>
        <p:nvSpPr>
          <p:cNvPr id="662" name="Google Shape;662;p35"/>
          <p:cNvSpPr/>
          <p:nvPr/>
        </p:nvSpPr>
        <p:spPr>
          <a:xfrm>
            <a:off x="4462272" y="4370832"/>
            <a:ext cx="3273552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35"/>
          <p:cNvSpPr/>
          <p:nvPr/>
        </p:nvSpPr>
        <p:spPr>
          <a:xfrm>
            <a:off x="4462272" y="4370832"/>
            <a:ext cx="64008" cy="987552"/>
          </a:xfrm>
          <a:prstGeom prst="rect">
            <a:avLst/>
          </a:prstGeom>
          <a:solidFill>
            <a:srgbClr val="FF5B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5"/>
          <p:cNvSpPr txBox="1"/>
          <p:nvPr/>
        </p:nvSpPr>
        <p:spPr>
          <a:xfrm>
            <a:off x="4626864" y="4425696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WHY LOW RESOLUTION</a:t>
            </a:r>
            <a:endParaRPr/>
          </a:p>
        </p:txBody>
      </p:sp>
      <p:sp>
        <p:nvSpPr>
          <p:cNvPr id="665" name="Google Shape;665;p35"/>
          <p:cNvSpPr txBox="1"/>
          <p:nvPr/>
        </p:nvSpPr>
        <p:spPr>
          <a:xfrm>
            <a:off x="4626864" y="460857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Harder input</a:t>
            </a:r>
            <a:endParaRPr/>
          </a:p>
        </p:txBody>
      </p:sp>
      <p:sp>
        <p:nvSpPr>
          <p:cNvPr id="666" name="Google Shape;666;p35"/>
          <p:cNvSpPr txBox="1"/>
          <p:nvPr/>
        </p:nvSpPr>
        <p:spPr>
          <a:xfrm>
            <a:off x="4626864" y="4892040"/>
            <a:ext cx="30175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Checks performance on poorer video quality</a:t>
            </a:r>
            <a:endParaRPr/>
          </a:p>
        </p:txBody>
      </p:sp>
      <p:sp>
        <p:nvSpPr>
          <p:cNvPr id="667" name="Google Shape;667;p35"/>
          <p:cNvSpPr/>
          <p:nvPr/>
        </p:nvSpPr>
        <p:spPr>
          <a:xfrm>
            <a:off x="8266175" y="4370832"/>
            <a:ext cx="3273552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5"/>
          <p:cNvSpPr/>
          <p:nvPr/>
        </p:nvSpPr>
        <p:spPr>
          <a:xfrm>
            <a:off x="8266175" y="4370832"/>
            <a:ext cx="64008" cy="987552"/>
          </a:xfrm>
          <a:prstGeom prst="rect">
            <a:avLst/>
          </a:prstGeom>
          <a:solidFill>
            <a:srgbClr val="14A0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5"/>
          <p:cNvSpPr txBox="1"/>
          <p:nvPr/>
        </p:nvSpPr>
        <p:spPr>
          <a:xfrm>
            <a:off x="8430767" y="4425696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WHY ENHANCE</a:t>
            </a:r>
            <a:endParaRPr/>
          </a:p>
        </p:txBody>
      </p:sp>
      <p:sp>
        <p:nvSpPr>
          <p:cNvPr id="670" name="Google Shape;670;p35"/>
          <p:cNvSpPr txBox="1"/>
          <p:nvPr/>
        </p:nvSpPr>
        <p:spPr>
          <a:xfrm>
            <a:off x="8430767" y="460857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Measure benefit</a:t>
            </a:r>
            <a:endParaRPr/>
          </a:p>
        </p:txBody>
      </p:sp>
      <p:sp>
        <p:nvSpPr>
          <p:cNvPr id="671" name="Google Shape;671;p35"/>
          <p:cNvSpPr txBox="1"/>
          <p:nvPr/>
        </p:nvSpPr>
        <p:spPr>
          <a:xfrm>
            <a:off x="8430767" y="4892040"/>
            <a:ext cx="30175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Compare confidence before and after</a:t>
            </a:r>
            <a:endParaRPr/>
          </a:p>
        </p:txBody>
      </p:sp>
      <p:sp>
        <p:nvSpPr>
          <p:cNvPr id="672" name="Google Shape;672;p35"/>
          <p:cNvSpPr/>
          <p:nvPr/>
        </p:nvSpPr>
        <p:spPr>
          <a:xfrm>
            <a:off x="502920" y="5559552"/>
            <a:ext cx="11183112" cy="621792"/>
          </a:xfrm>
          <a:prstGeom prst="roundRect">
            <a:avLst>
              <a:gd fmla="val 16667" name="adj"/>
            </a:avLst>
          </a:prstGeom>
          <a:solidFill>
            <a:srgbClr val="EBF8F3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5"/>
          <p:cNvSpPr txBox="1"/>
          <p:nvPr/>
        </p:nvSpPr>
        <p:spPr>
          <a:xfrm>
            <a:off x="713232" y="5632704"/>
            <a:ext cx="10762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Main question: does enhancement improve the result, or is the original low-resolution video already sufficient?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6"/>
          <p:cNvSpPr txBox="1"/>
          <p:nvPr/>
        </p:nvSpPr>
        <p:spPr>
          <a:xfrm>
            <a:off x="329184" y="73152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5B37"/>
                </a:solidFill>
                <a:latin typeface="Arial"/>
                <a:ea typeface="Arial"/>
                <a:cs typeface="Arial"/>
                <a:sym typeface="Arial"/>
              </a:rPr>
              <a:t>FACE OUTPUT</a:t>
            </a:r>
            <a:endParaRPr/>
          </a:p>
        </p:txBody>
      </p:sp>
      <p:sp>
        <p:nvSpPr>
          <p:cNvPr id="679" name="Google Shape;679;p36"/>
          <p:cNvSpPr txBox="1"/>
          <p:nvPr/>
        </p:nvSpPr>
        <p:spPr>
          <a:xfrm>
            <a:off x="329184" y="310896"/>
            <a:ext cx="11247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What the model actually saw</a:t>
            </a:r>
            <a:endParaRPr/>
          </a:p>
        </p:txBody>
      </p:sp>
      <p:sp>
        <p:nvSpPr>
          <p:cNvPr id="680" name="Google Shape;680;p36"/>
          <p:cNvSpPr txBox="1"/>
          <p:nvPr/>
        </p:nvSpPr>
        <p:spPr>
          <a:xfrm>
            <a:off x="329184" y="749808"/>
            <a:ext cx="11247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Example extracted face frames from each low-resolution REAL video, before and after enhancement.</a:t>
            </a:r>
            <a:endParaRPr/>
          </a:p>
        </p:txBody>
      </p:sp>
      <p:sp>
        <p:nvSpPr>
          <p:cNvPr id="681" name="Google Shape;681;p36"/>
          <p:cNvSpPr/>
          <p:nvPr/>
        </p:nvSpPr>
        <p:spPr>
          <a:xfrm>
            <a:off x="329184" y="1042415"/>
            <a:ext cx="11503152" cy="32004"/>
          </a:xfrm>
          <a:prstGeom prst="rect">
            <a:avLst/>
          </a:prstGeom>
          <a:solidFill>
            <a:srgbClr val="CFD8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6"/>
          <p:cNvSpPr txBox="1"/>
          <p:nvPr/>
        </p:nvSpPr>
        <p:spPr>
          <a:xfrm>
            <a:off x="502920" y="1234440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REAL Low 1  •  348 × 500</a:t>
            </a:r>
            <a:endParaRPr/>
          </a:p>
        </p:txBody>
      </p:sp>
      <p:sp>
        <p:nvSpPr>
          <p:cNvPr id="683" name="Google Shape;683;p36"/>
          <p:cNvSpPr txBox="1"/>
          <p:nvPr/>
        </p:nvSpPr>
        <p:spPr>
          <a:xfrm>
            <a:off x="502920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endParaRPr/>
          </a:p>
        </p:txBody>
      </p:sp>
      <p:sp>
        <p:nvSpPr>
          <p:cNvPr id="684" name="Google Shape;684;p36"/>
          <p:cNvSpPr txBox="1"/>
          <p:nvPr/>
        </p:nvSpPr>
        <p:spPr>
          <a:xfrm>
            <a:off x="2139696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ENHANCED</a:t>
            </a:r>
            <a:endParaRPr/>
          </a:p>
        </p:txBody>
      </p:sp>
      <p:sp>
        <p:nvSpPr>
          <p:cNvPr id="685" name="Google Shape;685;p36"/>
          <p:cNvSpPr/>
          <p:nvPr/>
        </p:nvSpPr>
        <p:spPr>
          <a:xfrm>
            <a:off x="502920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86" name="Google Shape;68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36"/>
          <p:cNvSpPr/>
          <p:nvPr/>
        </p:nvSpPr>
        <p:spPr>
          <a:xfrm>
            <a:off x="2139696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88" name="Google Shape;68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2848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36"/>
          <p:cNvSpPr txBox="1"/>
          <p:nvPr/>
        </p:nvSpPr>
        <p:spPr>
          <a:xfrm>
            <a:off x="502920" y="3803904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64 / 64 faces found in Original and Enhanced</a:t>
            </a:r>
            <a:endParaRPr/>
          </a:p>
        </p:txBody>
      </p:sp>
      <p:sp>
        <p:nvSpPr>
          <p:cNvPr id="690" name="Google Shape;690;p36"/>
          <p:cNvSpPr txBox="1"/>
          <p:nvPr/>
        </p:nvSpPr>
        <p:spPr>
          <a:xfrm>
            <a:off x="4178808" y="1234440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REAL Low 2  •  456 × 500</a:t>
            </a:r>
            <a:endParaRPr/>
          </a:p>
        </p:txBody>
      </p:sp>
      <p:sp>
        <p:nvSpPr>
          <p:cNvPr id="691" name="Google Shape;691;p36"/>
          <p:cNvSpPr txBox="1"/>
          <p:nvPr/>
        </p:nvSpPr>
        <p:spPr>
          <a:xfrm>
            <a:off x="4178808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endParaRPr/>
          </a:p>
        </p:txBody>
      </p:sp>
      <p:sp>
        <p:nvSpPr>
          <p:cNvPr id="692" name="Google Shape;692;p36"/>
          <p:cNvSpPr txBox="1"/>
          <p:nvPr/>
        </p:nvSpPr>
        <p:spPr>
          <a:xfrm>
            <a:off x="5815584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ENHANCED</a:t>
            </a:r>
            <a:endParaRPr/>
          </a:p>
        </p:txBody>
      </p:sp>
      <p:sp>
        <p:nvSpPr>
          <p:cNvPr id="693" name="Google Shape;693;p36"/>
          <p:cNvSpPr/>
          <p:nvPr/>
        </p:nvSpPr>
        <p:spPr>
          <a:xfrm>
            <a:off x="4178808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94" name="Google Shape;69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1960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36"/>
          <p:cNvSpPr/>
          <p:nvPr/>
        </p:nvSpPr>
        <p:spPr>
          <a:xfrm>
            <a:off x="5815584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96" name="Google Shape;696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8736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36"/>
          <p:cNvSpPr txBox="1"/>
          <p:nvPr/>
        </p:nvSpPr>
        <p:spPr>
          <a:xfrm>
            <a:off x="4178808" y="3803904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64 / 64 faces found in Original and Enhanced</a:t>
            </a:r>
            <a:endParaRPr/>
          </a:p>
        </p:txBody>
      </p:sp>
      <p:sp>
        <p:nvSpPr>
          <p:cNvPr id="698" name="Google Shape;698;p36"/>
          <p:cNvSpPr txBox="1"/>
          <p:nvPr/>
        </p:nvSpPr>
        <p:spPr>
          <a:xfrm>
            <a:off x="7854696" y="1234440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REAL Low 3  •  476 × 482</a:t>
            </a:r>
            <a:endParaRPr/>
          </a:p>
        </p:txBody>
      </p:sp>
      <p:sp>
        <p:nvSpPr>
          <p:cNvPr id="699" name="Google Shape;699;p36"/>
          <p:cNvSpPr txBox="1"/>
          <p:nvPr/>
        </p:nvSpPr>
        <p:spPr>
          <a:xfrm>
            <a:off x="7854696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endParaRPr/>
          </a:p>
        </p:txBody>
      </p:sp>
      <p:sp>
        <p:nvSpPr>
          <p:cNvPr id="700" name="Google Shape;700;p36"/>
          <p:cNvSpPr txBox="1"/>
          <p:nvPr/>
        </p:nvSpPr>
        <p:spPr>
          <a:xfrm>
            <a:off x="9491472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ENHANCED</a:t>
            </a:r>
            <a:endParaRPr/>
          </a:p>
        </p:txBody>
      </p:sp>
      <p:sp>
        <p:nvSpPr>
          <p:cNvPr id="701" name="Google Shape;701;p36"/>
          <p:cNvSpPr/>
          <p:nvPr/>
        </p:nvSpPr>
        <p:spPr>
          <a:xfrm>
            <a:off x="7854696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02" name="Google Shape;702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27848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36"/>
          <p:cNvSpPr/>
          <p:nvPr/>
        </p:nvSpPr>
        <p:spPr>
          <a:xfrm>
            <a:off x="9491472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04" name="Google Shape;704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64624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36"/>
          <p:cNvSpPr txBox="1"/>
          <p:nvPr/>
        </p:nvSpPr>
        <p:spPr>
          <a:xfrm>
            <a:off x="7854696" y="3803904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64 / 64 faces found in Original and Enhanced</a:t>
            </a:r>
            <a:endParaRPr/>
          </a:p>
        </p:txBody>
      </p:sp>
      <p:sp>
        <p:nvSpPr>
          <p:cNvPr id="706" name="Google Shape;706;p36"/>
          <p:cNvSpPr/>
          <p:nvPr/>
        </p:nvSpPr>
        <p:spPr>
          <a:xfrm>
            <a:off x="621792" y="4315968"/>
            <a:ext cx="34290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6"/>
          <p:cNvSpPr/>
          <p:nvPr/>
        </p:nvSpPr>
        <p:spPr>
          <a:xfrm>
            <a:off x="621792" y="4315968"/>
            <a:ext cx="64008" cy="914400"/>
          </a:xfrm>
          <a:prstGeom prst="rect">
            <a:avLst/>
          </a:prstGeom>
          <a:solidFill>
            <a:srgbClr val="26AE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6"/>
          <p:cNvSpPr txBox="1"/>
          <p:nvPr/>
        </p:nvSpPr>
        <p:spPr>
          <a:xfrm>
            <a:off x="786384" y="4370831"/>
            <a:ext cx="31729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FACE DETECTION</a:t>
            </a:r>
            <a:endParaRPr/>
          </a:p>
        </p:txBody>
      </p:sp>
      <p:sp>
        <p:nvSpPr>
          <p:cNvPr id="709" name="Google Shape;709;p36"/>
          <p:cNvSpPr txBox="1"/>
          <p:nvPr/>
        </p:nvSpPr>
        <p:spPr>
          <a:xfrm>
            <a:off x="786384" y="4553712"/>
            <a:ext cx="3172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No issue</a:t>
            </a:r>
            <a:endParaRPr/>
          </a:p>
        </p:txBody>
      </p:sp>
      <p:sp>
        <p:nvSpPr>
          <p:cNvPr id="710" name="Google Shape;710;p36"/>
          <p:cNvSpPr txBox="1"/>
          <p:nvPr/>
        </p:nvSpPr>
        <p:spPr>
          <a:xfrm>
            <a:off x="786384" y="4837176"/>
            <a:ext cx="317296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64 / 64 faces found for all 3 videos</a:t>
            </a:r>
            <a:endParaRPr/>
          </a:p>
        </p:txBody>
      </p:sp>
      <p:sp>
        <p:nvSpPr>
          <p:cNvPr id="711" name="Google Shape;711;p36"/>
          <p:cNvSpPr/>
          <p:nvPr/>
        </p:nvSpPr>
        <p:spPr>
          <a:xfrm>
            <a:off x="4389120" y="4315968"/>
            <a:ext cx="34290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6"/>
          <p:cNvSpPr/>
          <p:nvPr/>
        </p:nvSpPr>
        <p:spPr>
          <a:xfrm>
            <a:off x="4389120" y="4315968"/>
            <a:ext cx="64008" cy="914400"/>
          </a:xfrm>
          <a:prstGeom prst="rect">
            <a:avLst/>
          </a:prstGeom>
          <a:solidFill>
            <a:srgbClr val="FF5B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6"/>
          <p:cNvSpPr txBox="1"/>
          <p:nvPr/>
        </p:nvSpPr>
        <p:spPr>
          <a:xfrm>
            <a:off x="4553712" y="4370831"/>
            <a:ext cx="31729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VISUAL CHANGE</a:t>
            </a:r>
            <a:endParaRPr/>
          </a:p>
        </p:txBody>
      </p:sp>
      <p:sp>
        <p:nvSpPr>
          <p:cNvPr id="714" name="Google Shape;714;p36"/>
          <p:cNvSpPr txBox="1"/>
          <p:nvPr/>
        </p:nvSpPr>
        <p:spPr>
          <a:xfrm>
            <a:off x="4553712" y="4553712"/>
            <a:ext cx="3172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Faces look clearer</a:t>
            </a:r>
            <a:endParaRPr/>
          </a:p>
        </p:txBody>
      </p:sp>
      <p:sp>
        <p:nvSpPr>
          <p:cNvPr id="715" name="Google Shape;715;p36"/>
          <p:cNvSpPr txBox="1"/>
          <p:nvPr/>
        </p:nvSpPr>
        <p:spPr>
          <a:xfrm>
            <a:off x="4553712" y="4837176"/>
            <a:ext cx="317296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Enhancement changes appearance, not the label</a:t>
            </a:r>
            <a:endParaRPr/>
          </a:p>
        </p:txBody>
      </p:sp>
      <p:sp>
        <p:nvSpPr>
          <p:cNvPr id="716" name="Google Shape;716;p36"/>
          <p:cNvSpPr/>
          <p:nvPr/>
        </p:nvSpPr>
        <p:spPr>
          <a:xfrm>
            <a:off x="8156448" y="4315968"/>
            <a:ext cx="34290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6"/>
          <p:cNvSpPr/>
          <p:nvPr/>
        </p:nvSpPr>
        <p:spPr>
          <a:xfrm>
            <a:off x="8156448" y="4315968"/>
            <a:ext cx="64008" cy="914400"/>
          </a:xfrm>
          <a:prstGeom prst="rect">
            <a:avLst/>
          </a:prstGeom>
          <a:solidFill>
            <a:srgbClr val="14A0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6"/>
          <p:cNvSpPr txBox="1"/>
          <p:nvPr/>
        </p:nvSpPr>
        <p:spPr>
          <a:xfrm>
            <a:off x="8321040" y="4370831"/>
            <a:ext cx="31729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NEXT CHECK</a:t>
            </a:r>
            <a:endParaRPr/>
          </a:p>
        </p:txBody>
      </p:sp>
      <p:sp>
        <p:nvSpPr>
          <p:cNvPr id="719" name="Google Shape;719;p36"/>
          <p:cNvSpPr txBox="1"/>
          <p:nvPr/>
        </p:nvSpPr>
        <p:spPr>
          <a:xfrm>
            <a:off x="8321040" y="4553712"/>
            <a:ext cx="3172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Compare confidence</a:t>
            </a:r>
            <a:endParaRPr/>
          </a:p>
        </p:txBody>
      </p:sp>
      <p:sp>
        <p:nvSpPr>
          <p:cNvPr id="720" name="Google Shape;720;p36"/>
          <p:cNvSpPr txBox="1"/>
          <p:nvPr/>
        </p:nvSpPr>
        <p:spPr>
          <a:xfrm>
            <a:off x="8321040" y="4837176"/>
            <a:ext cx="317296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The next slide shows whether this helped</a:t>
            </a:r>
            <a:endParaRPr/>
          </a:p>
        </p:txBody>
      </p:sp>
      <p:sp>
        <p:nvSpPr>
          <p:cNvPr id="721" name="Google Shape;721;p36"/>
          <p:cNvSpPr/>
          <p:nvPr/>
        </p:nvSpPr>
        <p:spPr>
          <a:xfrm>
            <a:off x="502920" y="5468112"/>
            <a:ext cx="11183112" cy="621792"/>
          </a:xfrm>
          <a:prstGeom prst="roundRect">
            <a:avLst>
              <a:gd fmla="val 16667" name="adj"/>
            </a:avLst>
          </a:prstGeom>
          <a:solidFill>
            <a:srgbClr val="EBF8F3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6"/>
          <p:cNvSpPr txBox="1"/>
          <p:nvPr/>
        </p:nvSpPr>
        <p:spPr>
          <a:xfrm>
            <a:off x="713232" y="5541264"/>
            <a:ext cx="10762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Observation: enhancement changed the appearance of the extracted faces, but face detection was already complete before enhancement.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7"/>
          <p:cNvSpPr txBox="1"/>
          <p:nvPr/>
        </p:nvSpPr>
        <p:spPr>
          <a:xfrm>
            <a:off x="283464" y="73152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FF5B37"/>
                </a:solidFill>
                <a:latin typeface="Arial"/>
                <a:ea typeface="Arial"/>
                <a:cs typeface="Arial"/>
                <a:sym typeface="Arial"/>
              </a:rPr>
              <a:t>ENHANCEMENT CHECK + FINAL RESULT</a:t>
            </a:r>
            <a:endParaRPr/>
          </a:p>
        </p:txBody>
      </p:sp>
      <p:sp>
        <p:nvSpPr>
          <p:cNvPr id="728" name="Google Shape;728;p37"/>
          <p:cNvSpPr txBox="1"/>
          <p:nvPr/>
        </p:nvSpPr>
        <p:spPr>
          <a:xfrm>
            <a:off x="283464" y="310896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REAL low-resolution: original vs enhanced</a:t>
            </a:r>
            <a:endParaRPr/>
          </a:p>
        </p:txBody>
      </p:sp>
      <p:sp>
        <p:nvSpPr>
          <p:cNvPr id="729" name="Google Shape;729;p37"/>
          <p:cNvSpPr txBox="1"/>
          <p:nvPr/>
        </p:nvSpPr>
        <p:spPr>
          <a:xfrm>
            <a:off x="283464" y="731520"/>
            <a:ext cx="11338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The same 3 low-resolution REAL videos were tested before and after enhancement, giving 6 outputs in total.</a:t>
            </a:r>
            <a:endParaRPr/>
          </a:p>
        </p:txBody>
      </p:sp>
      <p:sp>
        <p:nvSpPr>
          <p:cNvPr id="730" name="Google Shape;730;p37"/>
          <p:cNvSpPr/>
          <p:nvPr/>
        </p:nvSpPr>
        <p:spPr>
          <a:xfrm>
            <a:off x="283464" y="1014984"/>
            <a:ext cx="11612880" cy="32004"/>
          </a:xfrm>
          <a:prstGeom prst="rect">
            <a:avLst/>
          </a:prstGeom>
          <a:solidFill>
            <a:srgbClr val="CFD8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31" name="Google Shape;731;p37"/>
          <p:cNvGraphicFramePr/>
          <p:nvPr/>
        </p:nvGraphicFramePr>
        <p:xfrm>
          <a:off x="228600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{2338D9DC-F09C-46F0-9EA9-D6A716EAE88F}</a:tableStyleId>
              </a:tblPr>
              <a:tblGrid>
                <a:gridCol w="2884050"/>
                <a:gridCol w="1808650"/>
                <a:gridCol w="1613125"/>
                <a:gridCol w="1710875"/>
                <a:gridCol w="1759750"/>
                <a:gridCol w="1955300"/>
              </a:tblGrid>
              <a:tr h="43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Video / version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Resolution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Faces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Fake score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Confidence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Prediction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1 — Original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348 × 500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1 — Enhanced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348 × 500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2 — Original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456 × 500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2 — Enhanced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456 × 500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3 — Original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476 × 482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3 — Enhanced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476 × 482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</a:tr>
            </a:tbl>
          </a:graphicData>
        </a:graphic>
      </p:graphicFrame>
      <p:sp>
        <p:nvSpPr>
          <p:cNvPr id="732" name="Google Shape;732;p37"/>
          <p:cNvSpPr/>
          <p:nvPr/>
        </p:nvSpPr>
        <p:spPr>
          <a:xfrm>
            <a:off x="283464" y="4507992"/>
            <a:ext cx="2624328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7"/>
          <p:cNvSpPr/>
          <p:nvPr/>
        </p:nvSpPr>
        <p:spPr>
          <a:xfrm>
            <a:off x="283464" y="4507992"/>
            <a:ext cx="59436" cy="804672"/>
          </a:xfrm>
          <a:prstGeom prst="rect">
            <a:avLst/>
          </a:prstGeom>
          <a:solidFill>
            <a:srgbClr val="14A0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7"/>
          <p:cNvSpPr txBox="1"/>
          <p:nvPr/>
        </p:nvSpPr>
        <p:spPr>
          <a:xfrm>
            <a:off x="438912" y="4544568"/>
            <a:ext cx="2404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OUTPUTS SHOWN</a:t>
            </a:r>
            <a:endParaRPr/>
          </a:p>
        </p:txBody>
      </p:sp>
      <p:sp>
        <p:nvSpPr>
          <p:cNvPr id="735" name="Google Shape;735;p37"/>
          <p:cNvSpPr txBox="1"/>
          <p:nvPr/>
        </p:nvSpPr>
        <p:spPr>
          <a:xfrm>
            <a:off x="438912" y="4709159"/>
            <a:ext cx="2404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6 outputs</a:t>
            </a:r>
            <a:endParaRPr/>
          </a:p>
        </p:txBody>
      </p:sp>
      <p:sp>
        <p:nvSpPr>
          <p:cNvPr id="736" name="Google Shape;736;p37"/>
          <p:cNvSpPr txBox="1"/>
          <p:nvPr/>
        </p:nvSpPr>
        <p:spPr>
          <a:xfrm>
            <a:off x="438912" y="4956048"/>
            <a:ext cx="24048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3 Original + 3 Enhanced results</a:t>
            </a:r>
            <a:endParaRPr/>
          </a:p>
        </p:txBody>
      </p:sp>
      <p:sp>
        <p:nvSpPr>
          <p:cNvPr id="737" name="Google Shape;737;p37"/>
          <p:cNvSpPr/>
          <p:nvPr/>
        </p:nvSpPr>
        <p:spPr>
          <a:xfrm>
            <a:off x="3246120" y="4507992"/>
            <a:ext cx="2624328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37"/>
          <p:cNvSpPr/>
          <p:nvPr/>
        </p:nvSpPr>
        <p:spPr>
          <a:xfrm>
            <a:off x="3246120" y="4507992"/>
            <a:ext cx="59436" cy="804672"/>
          </a:xfrm>
          <a:prstGeom prst="rect">
            <a:avLst/>
          </a:prstGeom>
          <a:solidFill>
            <a:srgbClr val="26AE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7"/>
          <p:cNvSpPr txBox="1"/>
          <p:nvPr/>
        </p:nvSpPr>
        <p:spPr>
          <a:xfrm>
            <a:off x="3401568" y="4544568"/>
            <a:ext cx="2404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FACE DETECTION</a:t>
            </a:r>
            <a:endParaRPr/>
          </a:p>
        </p:txBody>
      </p:sp>
      <p:sp>
        <p:nvSpPr>
          <p:cNvPr id="740" name="Google Shape;740;p37"/>
          <p:cNvSpPr txBox="1"/>
          <p:nvPr/>
        </p:nvSpPr>
        <p:spPr>
          <a:xfrm>
            <a:off x="3401568" y="4709159"/>
            <a:ext cx="2404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Same result</a:t>
            </a:r>
            <a:endParaRPr/>
          </a:p>
        </p:txBody>
      </p:sp>
      <p:sp>
        <p:nvSpPr>
          <p:cNvPr id="741" name="Google Shape;741;p37"/>
          <p:cNvSpPr txBox="1"/>
          <p:nvPr/>
        </p:nvSpPr>
        <p:spPr>
          <a:xfrm>
            <a:off x="3401568" y="4956048"/>
            <a:ext cx="24048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All 64 sampled faces were detected in each test</a:t>
            </a:r>
            <a:endParaRPr/>
          </a:p>
        </p:txBody>
      </p:sp>
      <p:sp>
        <p:nvSpPr>
          <p:cNvPr id="742" name="Google Shape;742;p37"/>
          <p:cNvSpPr/>
          <p:nvPr/>
        </p:nvSpPr>
        <p:spPr>
          <a:xfrm>
            <a:off x="6208776" y="4507992"/>
            <a:ext cx="2624328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37"/>
          <p:cNvSpPr/>
          <p:nvPr/>
        </p:nvSpPr>
        <p:spPr>
          <a:xfrm>
            <a:off x="6208776" y="4507992"/>
            <a:ext cx="59436" cy="804672"/>
          </a:xfrm>
          <a:prstGeom prst="rect">
            <a:avLst/>
          </a:prstGeom>
          <a:solidFill>
            <a:srgbClr val="FF5B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37"/>
          <p:cNvSpPr txBox="1"/>
          <p:nvPr/>
        </p:nvSpPr>
        <p:spPr>
          <a:xfrm>
            <a:off x="6364224" y="4544568"/>
            <a:ext cx="2404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CONFIDENCE</a:t>
            </a:r>
            <a:endParaRPr/>
          </a:p>
        </p:txBody>
      </p:sp>
      <p:sp>
        <p:nvSpPr>
          <p:cNvPr id="745" name="Google Shape;745;p37"/>
          <p:cNvSpPr txBox="1"/>
          <p:nvPr/>
        </p:nvSpPr>
        <p:spPr>
          <a:xfrm>
            <a:off x="6364224" y="4709159"/>
            <a:ext cx="2404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Same result</a:t>
            </a:r>
            <a:endParaRPr/>
          </a:p>
        </p:txBody>
      </p:sp>
      <p:sp>
        <p:nvSpPr>
          <p:cNvPr id="746" name="Google Shape;746;p37"/>
          <p:cNvSpPr txBox="1"/>
          <p:nvPr/>
        </p:nvSpPr>
        <p:spPr>
          <a:xfrm>
            <a:off x="6364224" y="4956048"/>
            <a:ext cx="24048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100% before and after enhancement</a:t>
            </a:r>
            <a:endParaRPr/>
          </a:p>
        </p:txBody>
      </p:sp>
      <p:sp>
        <p:nvSpPr>
          <p:cNvPr id="747" name="Google Shape;747;p37"/>
          <p:cNvSpPr/>
          <p:nvPr/>
        </p:nvSpPr>
        <p:spPr>
          <a:xfrm>
            <a:off x="9171432" y="4507992"/>
            <a:ext cx="2624328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37"/>
          <p:cNvSpPr/>
          <p:nvPr/>
        </p:nvSpPr>
        <p:spPr>
          <a:xfrm>
            <a:off x="9171432" y="4507992"/>
            <a:ext cx="59436" cy="804672"/>
          </a:xfrm>
          <a:prstGeom prst="rect">
            <a:avLst/>
          </a:prstGeom>
          <a:solidFill>
            <a:srgbClr val="14A0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7"/>
          <p:cNvSpPr txBox="1"/>
          <p:nvPr/>
        </p:nvSpPr>
        <p:spPr>
          <a:xfrm>
            <a:off x="9326880" y="4544568"/>
            <a:ext cx="2404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FINAL RESULT</a:t>
            </a:r>
            <a:endParaRPr/>
          </a:p>
        </p:txBody>
      </p:sp>
      <p:sp>
        <p:nvSpPr>
          <p:cNvPr id="750" name="Google Shape;750;p37"/>
          <p:cNvSpPr txBox="1"/>
          <p:nvPr/>
        </p:nvSpPr>
        <p:spPr>
          <a:xfrm>
            <a:off x="9326880" y="4709159"/>
            <a:ext cx="2404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3 / 3 videos correct</a:t>
            </a:r>
            <a:endParaRPr/>
          </a:p>
        </p:txBody>
      </p:sp>
      <p:sp>
        <p:nvSpPr>
          <p:cNvPr id="751" name="Google Shape;751;p37"/>
          <p:cNvSpPr txBox="1"/>
          <p:nvPr/>
        </p:nvSpPr>
        <p:spPr>
          <a:xfrm>
            <a:off x="9326880" y="4956048"/>
            <a:ext cx="24048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All 3 were correctly predicted as REAL</a:t>
            </a:r>
            <a:endParaRPr/>
          </a:p>
        </p:txBody>
      </p:sp>
      <p:sp>
        <p:nvSpPr>
          <p:cNvPr id="752" name="Google Shape;752;p37"/>
          <p:cNvSpPr/>
          <p:nvPr/>
        </p:nvSpPr>
        <p:spPr>
          <a:xfrm>
            <a:off x="438912" y="5504688"/>
            <a:ext cx="11301984" cy="621792"/>
          </a:xfrm>
          <a:prstGeom prst="roundRect">
            <a:avLst>
              <a:gd fmla="val 16667" name="adj"/>
            </a:avLst>
          </a:prstGeom>
          <a:solidFill>
            <a:srgbClr val="EBF8F3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7"/>
          <p:cNvSpPr txBox="1"/>
          <p:nvPr/>
        </p:nvSpPr>
        <p:spPr>
          <a:xfrm>
            <a:off x="640080" y="5577840"/>
            <a:ext cx="10899648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Conclusion: Enhancement did not improve these 3 videos. Each was already correctly predicted as REAL with a 0.0000 fake score and 100% confidence before enhancement.</a:t>
            </a:r>
            <a:endParaRPr/>
          </a:p>
        </p:txBody>
      </p:sp>
      <p:sp>
        <p:nvSpPr>
          <p:cNvPr id="754" name="Google Shape;754;p37"/>
          <p:cNvSpPr txBox="1"/>
          <p:nvPr/>
        </p:nvSpPr>
        <p:spPr>
          <a:xfrm>
            <a:off x="502920" y="619963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Note: the 6 rows above come from 3 selected REAL videos tested twice (Original + Enhanced). Run B overall performance: Validation accuracy 98.78%, Holdout accuracy 97.28%, with AUC 0.9998 on both. Threshold = 0.4825 (selected using validation data only)..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E3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49808" y="86868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49808" y="173736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DDE4EF"/>
                </a:solidFill>
                <a:latin typeface="Arial"/>
                <a:ea typeface="Arial"/>
                <a:cs typeface="Arial"/>
                <a:sym typeface="Arial"/>
              </a:rPr>
              <a:t>Try the deepfake detector live: upload a short video of a face and get a REAL / FAKE decision.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9808" y="52578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PROJECT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49808" y="552297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DE4EF"/>
                </a:solidFill>
                <a:latin typeface="Arial"/>
                <a:ea typeface="Arial"/>
                <a:cs typeface="Arial"/>
                <a:sym typeface="Arial"/>
              </a:rPr>
              <a:t>Varahagiri Venkata Sri Swati   •   Aishwary Agrawal   •   Devesh Srivastava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49808" y="2514600"/>
            <a:ext cx="9464040" cy="2148840"/>
          </a:xfrm>
          <a:prstGeom prst="roundRect">
            <a:avLst>
              <a:gd name="adj" fmla="val 8652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49808" y="2514600"/>
            <a:ext cx="64008" cy="214884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024128" y="3136392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600" u="sng" cap="none" strike="noStrike">
                <a:solidFill>
                  <a:srgbClr val="3769BE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detect-deep-fake.streamlit.app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024128" y="3749039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The Streamlit app built from this project. Scan the code to open it on a phone.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024128" y="280720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6736"/>
                </a:solidFill>
                <a:latin typeface="Arial"/>
              </a:rPr>
              <a:t>LIVE DEMO</a:t>
            </a:r>
          </a:p>
        </p:txBody>
      </p:sp>
      <p:pic>
        <p:nvPicPr>
          <p:cNvPr id="94" name="Picture 93" descr="demo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2697480"/>
            <a:ext cx="1783080" cy="1783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769BE"/>
      </a:hlink>
      <a:folHlink>
        <a:srgbClr val="3769B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