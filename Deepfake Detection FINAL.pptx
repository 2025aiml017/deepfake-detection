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2" roundtripDataSignature="AMtx7miBKz68ypmekg8a7WOaKyVB6C6C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818308C-96FD-40AC-9B7E-A86C079216B4}">
  <a:tblStyle styleId="{7818308C-96FD-40AC-9B7E-A86C079216B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2338D9DC-F09C-46F0-9EA9-D6A716EAE88F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21E34"/>
                </a:solidFill>
              </a:rPr>
              <a:t>Worst AUC drop under any distortion (lower is better)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Worst AUC drop</c:v>
                </c:pt>
              </c:strCache>
            </c:strRef>
          </c:tx>
          <c:spPr>
            <a:solidFill>
              <a:srgbClr val="3769BE"/>
            </a:solidFill>
          </c:spPr>
          <c:dPt>
            <c:idx val="6"/>
            <c:spPr>
              <a:solidFill>
                <a:srgbClr val="1A9769"/>
              </a:solidFill>
            </c:spPr>
          </c:dPt>
          <c:dPt>
            <c:idx val="0"/>
            <c:spPr>
              <a:solidFill>
                <a:srgbClr val="F56736"/>
              </a:solidFill>
            </c:spPr>
          </c:dPt>
          <c:cat>
            <c:strRef>
              <c:f>Sheet1!$A$2:$A$8</c:f>
              <c:strCache>
                <c:ptCount val="7"/>
                <c:pt idx="0">
                  <c:v>CLIP ViT-B/16</c:v>
                </c:pt>
                <c:pt idx="1">
                  <c:v>EfficientNet-B4</c:v>
                </c:pt>
                <c:pt idx="2">
                  <c:v>Swin-Tiny</c:v>
                </c:pt>
                <c:pt idx="3">
                  <c:v>ResNet-50</c:v>
                </c:pt>
                <c:pt idx="4">
                  <c:v>EfficientNet-B0</c:v>
                </c:pt>
                <c:pt idx="5">
                  <c:v>Xception</c:v>
                </c:pt>
                <c:pt idx="6">
                  <c:v>ConvNeXt-Tiny</c:v>
                </c:pt>
              </c:strCache>
            </c:strRef>
          </c:cat>
          <c:val>
            <c:numRef>
              <c:f>Sheet1!$B$2:$B$8</c:f>
              <c:numCache>
                <c:formatCode>0.0000</c:formatCode>
                <c:ptCount val="7"/>
                <c:pt idx="0">
                  <c:v>0.0192</c:v>
                </c:pt>
                <c:pt idx="1">
                  <c:v>0.006</c:v>
                </c:pt>
                <c:pt idx="2">
                  <c:v>0.0032</c:v>
                </c:pt>
                <c:pt idx="3">
                  <c:v>0.0029</c:v>
                </c:pt>
                <c:pt idx="4">
                  <c:v>0.0026</c:v>
                </c:pt>
                <c:pt idx="5">
                  <c:v>0.002</c:v>
                </c:pt>
                <c:pt idx="6">
                  <c:v>0.0014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sz="1100">
                  <a:solidFill>
                    <a:srgbClr val="121E3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CE2EA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24"/>
          <c:min val="0.0"/>
        </c:scaling>
        <c:delete val="0"/>
        <c:axPos val="b"/>
        <c:majorGridlines>
          <c:spPr>
            <a:ln>
              <a:solidFill>
                <a:srgbClr val="DCE2EA"/>
              </a:solidFill>
            </a:ln>
          </c:spPr>
        </c:majorGridlines>
        <c:numFmt formatCode="0.0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C6778"/>
                </a:solidFill>
              </a:defRPr>
            </a:pPr>
          </a:p>
        </c:txPr>
        <c:crossAx val="-2068027336"/>
        <c:crosses val="autoZero"/>
        <c:majorUnit val="0.004"/>
      </c:valAx>
    </c:plotArea>
    <c:dispBlanksAs val="gap"/>
  </c:chart>
  <c:txPr>
    <a:bodyPr/>
    <a:lstStyle/>
    <a:p>
      <a:pPr>
        <a:defRPr sz="1200">
          <a:solidFill>
            <a:srgbClr val="121E34"/>
          </a:solidFill>
          <a:latin typeface="Aptos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4" name="Google Shape;27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9" name="Google Shape;30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2" name="Google Shape;32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6" name="Google Shape;34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5" name="Google Shape;35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6" name="Google Shape;38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0" name="Google Shape;40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9" name="Google Shape;42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8" name="Google Shape;45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0" name="Google Shape;48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8" name="Google Shape;49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2" name="Google Shape;55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8" name="Google Shape;588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8" name="Google Shape;60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" name="Google Shape;23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2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2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2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1.xml"/></Relationships>
</file>

<file path=ppt/slides/_rels/slide19.xml.rels><?xml version="1.0" encoding="UTF-8" standalone="yes"?><Relationships xmlns="http://schemas.openxmlformats.org/package/2006/relationships"><Relationship Id="rId11" Type="http://schemas.openxmlformats.org/officeDocument/2006/relationships/image" Target="../media/image4.png"/><Relationship Id="rId10" Type="http://schemas.openxmlformats.org/officeDocument/2006/relationships/image" Target="../media/image9.png"/><Relationship Id="rId13" Type="http://schemas.openxmlformats.org/officeDocument/2006/relationships/image" Target="../media/image11.png"/><Relationship Id="rId1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Relationship Id="rId4" Type="http://schemas.openxmlformats.org/officeDocument/2006/relationships/image" Target="../media/image8.png"/><Relationship Id="rId9" Type="http://schemas.openxmlformats.org/officeDocument/2006/relationships/image" Target="../media/image21.png"/><Relationship Id="rId15" Type="http://schemas.openxmlformats.org/officeDocument/2006/relationships/image" Target="../media/image13.png"/><Relationship Id="rId14" Type="http://schemas.openxmlformats.org/officeDocument/2006/relationships/image" Target="../media/image3.png"/><Relationship Id="rId17" Type="http://schemas.openxmlformats.org/officeDocument/2006/relationships/image" Target="../media/image23.png"/><Relationship Id="rId16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12.png"/><Relationship Id="rId18" Type="http://schemas.openxmlformats.org/officeDocument/2006/relationships/image" Target="../media/image18.png"/><Relationship Id="rId7" Type="http://schemas.openxmlformats.org/officeDocument/2006/relationships/image" Target="../media/image24.png"/><Relationship Id="rId8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20.png"/><Relationship Id="rId7" Type="http://schemas.openxmlformats.org/officeDocument/2006/relationships/image" Target="../media/image17.png"/><Relationship Id="rId8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E3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749808" y="713232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DEEPFAKE VIDEO DETECTION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749808" y="1353312"/>
            <a:ext cx="3657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49808" y="192024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DDE4EF"/>
                </a:solidFill>
                <a:latin typeface="Arial"/>
                <a:ea typeface="Arial"/>
                <a:cs typeface="Arial"/>
                <a:sym typeface="Arial"/>
              </a:rPr>
              <a:t>Video → face images → AI model → REAL / FAKE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49808" y="277063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PROJECT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749808" y="3035808"/>
            <a:ext cx="10241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DE4EF"/>
                </a:solidFill>
                <a:latin typeface="Arial"/>
                <a:ea typeface="Arial"/>
                <a:cs typeface="Arial"/>
                <a:sym typeface="Arial"/>
              </a:rPr>
              <a:t>Varahagiri Venkata Sri Swati   •   Aishwary Agrawal   •   Devesh Srivastava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749808" y="4041648"/>
            <a:ext cx="2880360" cy="11155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749808" y="4041648"/>
            <a:ext cx="64008" cy="1115568"/>
          </a:xfrm>
          <a:prstGeom prst="rect">
            <a:avLst/>
          </a:prstGeom>
          <a:solidFill>
            <a:srgbClr val="F567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969264" y="4151376"/>
            <a:ext cx="25511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6,529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969264" y="4553712"/>
            <a:ext cx="255117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videos in Celeb-DF v2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041648" y="4041648"/>
            <a:ext cx="2880360" cy="11155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4041648" y="4041648"/>
            <a:ext cx="64008" cy="1115568"/>
          </a:xfrm>
          <a:prstGeom prst="rect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4261104" y="4151376"/>
            <a:ext cx="25511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73,429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4261104" y="4553712"/>
            <a:ext cx="255117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face images prepared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7333488" y="4041648"/>
            <a:ext cx="2880360" cy="11155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7333488" y="4041648"/>
            <a:ext cx="64008" cy="1115568"/>
          </a:xfrm>
          <a:prstGeom prst="rect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7552944" y="4151376"/>
            <a:ext cx="25511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0.9999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7552944" y="4553712"/>
            <a:ext cx="255117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best holdout video AUC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PROJECT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End-to-end pipeline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The project converts each video into one final REAL / FAKE result.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749808" y="2057400"/>
            <a:ext cx="2029967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813815" y="2167128"/>
            <a:ext cx="190195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Video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813815" y="2514600"/>
            <a:ext cx="19019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2779775" y="2331720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2916935" y="2057400"/>
            <a:ext cx="2029967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2980943" y="2167128"/>
            <a:ext cx="190195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Take frames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2980943" y="2514600"/>
            <a:ext cx="19019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selected images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4946903" y="2331720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5084064" y="2057400"/>
            <a:ext cx="2029967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5148072" y="2167128"/>
            <a:ext cx="190195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Detect 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5148072" y="2514600"/>
            <a:ext cx="19019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RetinaFace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7114031" y="2331720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7251192" y="2057400"/>
            <a:ext cx="2029967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7315200" y="2167128"/>
            <a:ext cx="190195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Score faces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7315200" y="2514600"/>
            <a:ext cx="19019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ConvNeXt-Tiny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9281159" y="2331720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9418319" y="2057400"/>
            <a:ext cx="2029967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9482328" y="2167128"/>
            <a:ext cx="190195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Video result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9482328" y="2514600"/>
            <a:ext cx="19019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REAL / FAKE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749808" y="3794760"/>
            <a:ext cx="10698480" cy="1417320"/>
          </a:xfrm>
          <a:prstGeom prst="roundRect">
            <a:avLst>
              <a:gd fmla="val 16667" name="adj"/>
            </a:avLst>
          </a:prstGeom>
          <a:solidFill>
            <a:srgbClr val="F1F9F6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987552" y="4005072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9769"/>
                </a:solidFill>
                <a:latin typeface="Arial"/>
                <a:ea typeface="Arial"/>
                <a:cs typeface="Arial"/>
                <a:sym typeface="Arial"/>
              </a:rPr>
              <a:t>CURRENT RESULT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987552" y="4325112"/>
            <a:ext cx="9784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794 of 809 holdout videos were classified correctly.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987552" y="4846320"/>
            <a:ext cx="9875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ConvNeXt-Tiny was the best of seven models, trained and evaluated in three steps.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E34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868680" y="10972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769BE"/>
                </a:solidFill>
                <a:latin typeface="Arial"/>
                <a:ea typeface="Arial"/>
                <a:cs typeface="Arial"/>
                <a:sym typeface="Arial"/>
              </a:rPr>
              <a:t>STEP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868680" y="1874519"/>
            <a:ext cx="10058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Preparation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868680" y="278892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EE5EF"/>
                </a:solidFill>
                <a:latin typeface="Arial"/>
                <a:ea typeface="Arial"/>
                <a:cs typeface="Arial"/>
                <a:sym typeface="Arial"/>
              </a:rPr>
              <a:t>Prepare consistent face images before model training.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868680" y="3794760"/>
            <a:ext cx="1920240" cy="45720"/>
          </a:xfrm>
          <a:prstGeom prst="rect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1 — DATA PREPARATION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Dataset used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Celeb-DF v2 was downloaded directly from Kaggle.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749808" y="1901952"/>
            <a:ext cx="24231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749808" y="1901952"/>
            <a:ext cx="64008" cy="1051560"/>
          </a:xfrm>
          <a:prstGeom prst="rect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969264" y="2011680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590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969264" y="2414016"/>
            <a:ext cx="2093976" cy="484631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real celebrity videos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3364992" y="1901952"/>
            <a:ext cx="24231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3364992" y="1901952"/>
            <a:ext cx="64008" cy="1051560"/>
          </a:xfrm>
          <a:prstGeom prst="rect">
            <a:avLst/>
          </a:prstGeom>
          <a:solidFill>
            <a:srgbClr val="2A96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3584448" y="2011680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300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3584448" y="2414016"/>
            <a:ext cx="2093976" cy="484631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real YouTube videos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5980176" y="1901952"/>
            <a:ext cx="24231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5980176" y="1901952"/>
            <a:ext cx="64008" cy="1051560"/>
          </a:xfrm>
          <a:prstGeom prst="rect">
            <a:avLst/>
          </a:prstGeom>
          <a:solidFill>
            <a:srgbClr val="F567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6199632" y="2011680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5,639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6199632" y="2414016"/>
            <a:ext cx="2093976" cy="484631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fake videos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8595360" y="1901952"/>
            <a:ext cx="24231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8595360" y="1901952"/>
            <a:ext cx="64008" cy="1051560"/>
          </a:xfrm>
          <a:prstGeom prst="rect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8814816" y="2011680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6,529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8814816" y="2414016"/>
            <a:ext cx="2093976" cy="484631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total videos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749808" y="340156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DATA PREPARATION 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749808" y="3730752"/>
            <a:ext cx="2571750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813815" y="3840480"/>
            <a:ext cx="244373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Take frames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4"/>
          <p:cNvSpPr txBox="1"/>
          <p:nvPr/>
        </p:nvSpPr>
        <p:spPr>
          <a:xfrm>
            <a:off x="813815" y="4187952"/>
            <a:ext cx="244373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from each video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4"/>
          <p:cNvSpPr txBox="1"/>
          <p:nvPr/>
        </p:nvSpPr>
        <p:spPr>
          <a:xfrm>
            <a:off x="3321558" y="4005072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3458718" y="3730752"/>
            <a:ext cx="2571750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 txBox="1"/>
          <p:nvPr/>
        </p:nvSpPr>
        <p:spPr>
          <a:xfrm>
            <a:off x="3522725" y="3840480"/>
            <a:ext cx="244373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Detect 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3522725" y="4187952"/>
            <a:ext cx="244373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RetinaFace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"/>
          <p:cNvSpPr txBox="1"/>
          <p:nvPr/>
        </p:nvSpPr>
        <p:spPr>
          <a:xfrm>
            <a:off x="6030468" y="4005072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6167628" y="3730752"/>
            <a:ext cx="2571750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 txBox="1"/>
          <p:nvPr/>
        </p:nvSpPr>
        <p:spPr>
          <a:xfrm>
            <a:off x="6231636" y="3840480"/>
            <a:ext cx="244373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Align 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"/>
          <p:cNvSpPr txBox="1"/>
          <p:nvPr/>
        </p:nvSpPr>
        <p:spPr>
          <a:xfrm>
            <a:off x="6231636" y="4187952"/>
            <a:ext cx="244373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same position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"/>
          <p:cNvSpPr txBox="1"/>
          <p:nvPr/>
        </p:nvSpPr>
        <p:spPr>
          <a:xfrm>
            <a:off x="8739378" y="4005072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8876538" y="3730752"/>
            <a:ext cx="2571750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 txBox="1"/>
          <p:nvPr/>
        </p:nvSpPr>
        <p:spPr>
          <a:xfrm>
            <a:off x="8940546" y="3840480"/>
            <a:ext cx="244373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Resize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"/>
          <p:cNvSpPr txBox="1"/>
          <p:nvPr/>
        </p:nvSpPr>
        <p:spPr>
          <a:xfrm>
            <a:off x="8940546" y="4187952"/>
            <a:ext cx="244373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224 × 224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"/>
          <p:cNvSpPr txBox="1"/>
          <p:nvPr/>
        </p:nvSpPr>
        <p:spPr>
          <a:xfrm>
            <a:off x="749808" y="5239512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Output: consistent face images ready for training.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1 — DATA PREPARATION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5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Face detector selected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OpenCV Haar, MTCNN, RetinaFace and YOLOv8 were compared on the same frames from 10 videos.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804672" y="1920240"/>
            <a:ext cx="306324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804672" y="1920240"/>
            <a:ext cx="64008" cy="1143000"/>
          </a:xfrm>
          <a:prstGeom prst="rect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1024128" y="2029968"/>
            <a:ext cx="27340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50.2 FPS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5"/>
          <p:cNvSpPr txBox="1"/>
          <p:nvPr/>
        </p:nvSpPr>
        <p:spPr>
          <a:xfrm>
            <a:off x="1024128" y="2432304"/>
            <a:ext cx="27342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Retina Face speed, all faces found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4553712" y="1920240"/>
            <a:ext cx="306324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4553712" y="1920240"/>
            <a:ext cx="64008" cy="1143000"/>
          </a:xfrm>
          <a:prstGeom prst="rect">
            <a:avLst/>
          </a:prstGeom>
          <a:solidFill>
            <a:srgbClr val="F567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4773168" y="2029968"/>
            <a:ext cx="27340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15.4 FPS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5"/>
          <p:cNvSpPr txBox="1"/>
          <p:nvPr/>
        </p:nvSpPr>
        <p:spPr>
          <a:xfrm>
            <a:off x="4773168" y="2432304"/>
            <a:ext cx="2734056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MTCNN speed, all faces found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8302752" y="1920240"/>
            <a:ext cx="278892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8302752" y="1920240"/>
            <a:ext cx="64008" cy="1143000"/>
          </a:xfrm>
          <a:prstGeom prst="rect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 txBox="1"/>
          <p:nvPr/>
        </p:nvSpPr>
        <p:spPr>
          <a:xfrm>
            <a:off x="8522208" y="2029968"/>
            <a:ext cx="24597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4.5 FPS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5"/>
          <p:cNvSpPr txBox="1"/>
          <p:nvPr/>
        </p:nvSpPr>
        <p:spPr>
          <a:xfrm>
            <a:off x="8522208" y="2432304"/>
            <a:ext cx="2459736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OpenCV Haar speed, 99.3% of faces found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804672" y="3675887"/>
            <a:ext cx="10287000" cy="1417320"/>
          </a:xfrm>
          <a:prstGeom prst="roundRect">
            <a:avLst>
              <a:gd fmla="val 16667" name="adj"/>
            </a:avLst>
          </a:prstGeom>
          <a:solidFill>
            <a:srgbClr val="F1F9F6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 txBox="1"/>
          <p:nvPr/>
        </p:nvSpPr>
        <p:spPr>
          <a:xfrm>
            <a:off x="1042415" y="3904487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9769"/>
                </a:solidFill>
                <a:latin typeface="Arial"/>
                <a:ea typeface="Arial"/>
                <a:cs typeface="Arial"/>
                <a:sym typeface="Arial"/>
              </a:rPr>
              <a:t>SELECTED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1042415" y="4224528"/>
            <a:ext cx="2240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RetinaFace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5"/>
          <p:cNvSpPr txBox="1"/>
          <p:nvPr/>
        </p:nvSpPr>
        <p:spPr>
          <a:xfrm>
            <a:off x="3337560" y="4206240"/>
            <a:ext cx="74982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C222D"/>
                </a:solidFill>
                <a:latin typeface="Arial"/>
                <a:ea typeface="Arial"/>
                <a:cs typeface="Arial"/>
                <a:sym typeface="Arial"/>
              </a:rPr>
              <a:t>3× faster than MTCNN with the same face yield; it's 5 landmarks give eye-aligned face crops.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5"/>
          <p:cNvSpPr txBox="1"/>
          <p:nvPr/>
        </p:nvSpPr>
        <p:spPr>
          <a:xfrm>
            <a:off x="1042415" y="477316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YOLOv8 was faster (76.3 FPS) but gives unaligned boxes. This comparison checks face detection only.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1 — DATA PREPARATION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Prepared data 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The final preprocessing run completed for all 6,529 videos.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749808" y="1920240"/>
            <a:ext cx="24231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749808" y="1920240"/>
            <a:ext cx="64008" cy="1078992"/>
          </a:xfrm>
          <a:prstGeom prst="rect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 txBox="1"/>
          <p:nvPr/>
        </p:nvSpPr>
        <p:spPr>
          <a:xfrm>
            <a:off x="969264" y="2029968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73,429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6"/>
          <p:cNvSpPr txBox="1"/>
          <p:nvPr/>
        </p:nvSpPr>
        <p:spPr>
          <a:xfrm>
            <a:off x="969264" y="2432304"/>
            <a:ext cx="2093976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face images prepared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3364992" y="1920240"/>
            <a:ext cx="24231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3364992" y="1920240"/>
            <a:ext cx="64008" cy="1078992"/>
          </a:xfrm>
          <a:prstGeom prst="rect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 txBox="1"/>
          <p:nvPr/>
        </p:nvSpPr>
        <p:spPr>
          <a:xfrm>
            <a:off x="3584448" y="2029968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99.95%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6"/>
          <p:cNvSpPr txBox="1"/>
          <p:nvPr/>
        </p:nvSpPr>
        <p:spPr>
          <a:xfrm>
            <a:off x="3584448" y="2432304"/>
            <a:ext cx="2093976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face preparation yield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5980176" y="1920240"/>
            <a:ext cx="24231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5980176" y="1920240"/>
            <a:ext cx="64008" cy="1078992"/>
          </a:xfrm>
          <a:prstGeom prst="rect">
            <a:avLst/>
          </a:prstGeom>
          <a:solidFill>
            <a:srgbClr val="F567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 txBox="1"/>
          <p:nvPr/>
        </p:nvSpPr>
        <p:spPr>
          <a:xfrm>
            <a:off x="6199632" y="2029968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6"/>
          <p:cNvSpPr txBox="1"/>
          <p:nvPr/>
        </p:nvSpPr>
        <p:spPr>
          <a:xfrm>
            <a:off x="6199632" y="2432304"/>
            <a:ext cx="2093976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videos without a 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8595360" y="1920240"/>
            <a:ext cx="24231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8595360" y="1920240"/>
            <a:ext cx="64008" cy="1078992"/>
          </a:xfrm>
          <a:prstGeom prst="rect">
            <a:avLst/>
          </a:prstGeom>
          <a:solidFill>
            <a:srgbClr val="2A96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 txBox="1"/>
          <p:nvPr/>
        </p:nvSpPr>
        <p:spPr>
          <a:xfrm>
            <a:off x="8814816" y="2029968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12 parts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6"/>
          <p:cNvSpPr txBox="1"/>
          <p:nvPr/>
        </p:nvSpPr>
        <p:spPr>
          <a:xfrm>
            <a:off x="8814816" y="2432304"/>
            <a:ext cx="2093976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face-image cache saved to Drive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749808" y="3730752"/>
            <a:ext cx="10698480" cy="141732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 txBox="1"/>
          <p:nvPr/>
        </p:nvSpPr>
        <p:spPr>
          <a:xfrm>
            <a:off x="987552" y="3950208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OUTPUT FOR MODEL TRAINING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6"/>
          <p:cNvSpPr txBox="1"/>
          <p:nvPr/>
        </p:nvSpPr>
        <p:spPr>
          <a:xfrm>
            <a:off x="987552" y="4288536"/>
            <a:ext cx="9601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73,429 prepared face images are passed to Step 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6"/>
          <p:cNvSpPr txBox="1"/>
          <p:nvPr/>
        </p:nvSpPr>
        <p:spPr>
          <a:xfrm>
            <a:off x="987552" y="4800600"/>
            <a:ext cx="9875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All seven models train on these saved face images instead of repeatedly processing the videos.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E34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67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 txBox="1"/>
          <p:nvPr/>
        </p:nvSpPr>
        <p:spPr>
          <a:xfrm>
            <a:off x="868680" y="10972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7"/>
          <p:cNvSpPr txBox="1"/>
          <p:nvPr/>
        </p:nvSpPr>
        <p:spPr>
          <a:xfrm>
            <a:off x="868680" y="1874519"/>
            <a:ext cx="10058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 Training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7"/>
          <p:cNvSpPr txBox="1"/>
          <p:nvPr/>
        </p:nvSpPr>
        <p:spPr>
          <a:xfrm>
            <a:off x="868680" y="278892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EE5EF"/>
                </a:solidFill>
                <a:latin typeface="Arial"/>
                <a:ea typeface="Arial"/>
                <a:cs typeface="Arial"/>
                <a:sym typeface="Arial"/>
              </a:rPr>
              <a:t>Train seven pretrained models on the same face images and compare them.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868680" y="3794760"/>
            <a:ext cx="1920240" cy="45720"/>
          </a:xfrm>
          <a:prstGeom prst="rect">
            <a:avLst/>
          </a:prstGeom>
          <a:solidFill>
            <a:srgbClr val="F567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2 — MODEL TRAINING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8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Data split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8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Different video groups are used for training, model selection and final testing.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749808" y="1901952"/>
            <a:ext cx="24231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749808" y="1901952"/>
            <a:ext cx="64008" cy="1078992"/>
          </a:xfrm>
          <a:prstGeom prst="rect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 txBox="1"/>
          <p:nvPr/>
        </p:nvSpPr>
        <p:spPr>
          <a:xfrm>
            <a:off x="969264" y="2011680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4,385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8"/>
          <p:cNvSpPr txBox="1"/>
          <p:nvPr/>
        </p:nvSpPr>
        <p:spPr>
          <a:xfrm>
            <a:off x="969264" y="2414016"/>
            <a:ext cx="2093976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training videos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3364992" y="1901952"/>
            <a:ext cx="24231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3364992" y="1901952"/>
            <a:ext cx="64008" cy="1078992"/>
          </a:xfrm>
          <a:prstGeom prst="rect">
            <a:avLst/>
          </a:prstGeom>
          <a:solidFill>
            <a:srgbClr val="2A96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 txBox="1"/>
          <p:nvPr/>
        </p:nvSpPr>
        <p:spPr>
          <a:xfrm>
            <a:off x="3584448" y="2011680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817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8"/>
          <p:cNvSpPr txBox="1"/>
          <p:nvPr/>
        </p:nvSpPr>
        <p:spPr>
          <a:xfrm>
            <a:off x="3584448" y="2414016"/>
            <a:ext cx="2093976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validation videos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5980176" y="1901952"/>
            <a:ext cx="24231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5980176" y="1901952"/>
            <a:ext cx="64008" cy="1078992"/>
          </a:xfrm>
          <a:prstGeom prst="rect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 txBox="1"/>
          <p:nvPr/>
        </p:nvSpPr>
        <p:spPr>
          <a:xfrm>
            <a:off x="6199632" y="2011680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809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8"/>
          <p:cNvSpPr txBox="1"/>
          <p:nvPr/>
        </p:nvSpPr>
        <p:spPr>
          <a:xfrm>
            <a:off x="6199632" y="2414016"/>
            <a:ext cx="2093976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holdout videos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8595360" y="1901952"/>
            <a:ext cx="24231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8595360" y="1901952"/>
            <a:ext cx="64008" cy="1078992"/>
          </a:xfrm>
          <a:prstGeom prst="rect">
            <a:avLst/>
          </a:prstGeom>
          <a:solidFill>
            <a:srgbClr val="F567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 txBox="1"/>
          <p:nvPr/>
        </p:nvSpPr>
        <p:spPr>
          <a:xfrm>
            <a:off x="8814816" y="2011680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518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8"/>
          <p:cNvSpPr txBox="1"/>
          <p:nvPr/>
        </p:nvSpPr>
        <p:spPr>
          <a:xfrm>
            <a:off x="8814816" y="2414016"/>
            <a:ext cx="2093976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official test videos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749808" y="3675887"/>
            <a:ext cx="10698480" cy="1554480"/>
          </a:xfrm>
          <a:prstGeom prst="roundRect">
            <a:avLst>
              <a:gd fmla="val 16667" name="adj"/>
            </a:avLst>
          </a:prstGeom>
          <a:solidFill>
            <a:srgbClr val="F1F9F6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 txBox="1"/>
          <p:nvPr/>
        </p:nvSpPr>
        <p:spPr>
          <a:xfrm>
            <a:off x="987552" y="3913632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9769"/>
                </a:solidFill>
                <a:latin typeface="Arial"/>
                <a:ea typeface="Arial"/>
                <a:cs typeface="Arial"/>
                <a:sym typeface="Arial"/>
              </a:rPr>
              <a:t>DATA SEPARATION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8"/>
          <p:cNvSpPr txBox="1"/>
          <p:nvPr/>
        </p:nvSpPr>
        <p:spPr>
          <a:xfrm>
            <a:off x="987552" y="4242816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The 809 holdout videos were kept outside training.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8"/>
          <p:cNvSpPr txBox="1"/>
          <p:nvPr/>
        </p:nvSpPr>
        <p:spPr>
          <a:xfrm>
            <a:off x="987552" y="4736592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Train, validation and holdout identities were checked to avoid overlap. The 518-video official list is reported separately.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9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2 — MODEL TRAINING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9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Face scoring 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9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Each trained model gives a fake score to each prepared face image.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749808" y="1993392"/>
            <a:ext cx="2029967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 txBox="1"/>
          <p:nvPr/>
        </p:nvSpPr>
        <p:spPr>
          <a:xfrm>
            <a:off x="813815" y="2103120"/>
            <a:ext cx="190195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Face image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9"/>
          <p:cNvSpPr txBox="1"/>
          <p:nvPr/>
        </p:nvSpPr>
        <p:spPr>
          <a:xfrm>
            <a:off x="813815" y="2450592"/>
            <a:ext cx="19019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9"/>
          <p:cNvSpPr txBox="1"/>
          <p:nvPr/>
        </p:nvSpPr>
        <p:spPr>
          <a:xfrm>
            <a:off x="2779775" y="2267712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2916935" y="1993392"/>
            <a:ext cx="2029967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 txBox="1"/>
          <p:nvPr/>
        </p:nvSpPr>
        <p:spPr>
          <a:xfrm>
            <a:off x="2980943" y="2103120"/>
            <a:ext cx="190195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ConvNeXt-Tiny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9"/>
          <p:cNvSpPr txBox="1"/>
          <p:nvPr/>
        </p:nvSpPr>
        <p:spPr>
          <a:xfrm>
            <a:off x="2980943" y="2450592"/>
            <a:ext cx="19019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best of 7 models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9"/>
          <p:cNvSpPr txBox="1"/>
          <p:nvPr/>
        </p:nvSpPr>
        <p:spPr>
          <a:xfrm>
            <a:off x="4946903" y="2267712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5084064" y="1993392"/>
            <a:ext cx="2029967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 txBox="1"/>
          <p:nvPr/>
        </p:nvSpPr>
        <p:spPr>
          <a:xfrm>
            <a:off x="5148072" y="2103120"/>
            <a:ext cx="190195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Face score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9"/>
          <p:cNvSpPr txBox="1"/>
          <p:nvPr/>
        </p:nvSpPr>
        <p:spPr>
          <a:xfrm>
            <a:off x="5148072" y="2450592"/>
            <a:ext cx="19019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fake score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9"/>
          <p:cNvSpPr txBox="1"/>
          <p:nvPr/>
        </p:nvSpPr>
        <p:spPr>
          <a:xfrm>
            <a:off x="7114031" y="2267712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7251192" y="1993392"/>
            <a:ext cx="2029967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 txBox="1"/>
          <p:nvPr/>
        </p:nvSpPr>
        <p:spPr>
          <a:xfrm>
            <a:off x="7315200" y="2103120"/>
            <a:ext cx="190195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Average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9"/>
          <p:cNvSpPr txBox="1"/>
          <p:nvPr/>
        </p:nvSpPr>
        <p:spPr>
          <a:xfrm>
            <a:off x="7315200" y="2450592"/>
            <a:ext cx="19019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all face scores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9"/>
          <p:cNvSpPr txBox="1"/>
          <p:nvPr/>
        </p:nvSpPr>
        <p:spPr>
          <a:xfrm>
            <a:off x="9281159" y="2267712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9418319" y="1993392"/>
            <a:ext cx="2029967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 txBox="1"/>
          <p:nvPr/>
        </p:nvSpPr>
        <p:spPr>
          <a:xfrm>
            <a:off x="9482328" y="2103120"/>
            <a:ext cx="190195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Decision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9"/>
          <p:cNvSpPr txBox="1"/>
          <p:nvPr/>
        </p:nvSpPr>
        <p:spPr>
          <a:xfrm>
            <a:off x="9482328" y="2450592"/>
            <a:ext cx="19019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REAL / FAKE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749808" y="3675887"/>
            <a:ext cx="5074920" cy="1508760"/>
          </a:xfrm>
          <a:prstGeom prst="roundRect">
            <a:avLst>
              <a:gd fmla="val 16667" name="adj"/>
            </a:avLst>
          </a:prstGeom>
          <a:solidFill>
            <a:srgbClr val="FDF7F3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 txBox="1"/>
          <p:nvPr/>
        </p:nvSpPr>
        <p:spPr>
          <a:xfrm>
            <a:off x="987552" y="391363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DECISION POINT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9"/>
          <p:cNvSpPr txBox="1"/>
          <p:nvPr/>
        </p:nvSpPr>
        <p:spPr>
          <a:xfrm>
            <a:off x="987552" y="4270248"/>
            <a:ext cx="4297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A9769"/>
                </a:solidFill>
                <a:latin typeface="Arial"/>
                <a:ea typeface="Arial"/>
                <a:cs typeface="Arial"/>
                <a:sym typeface="Arial"/>
              </a:rPr>
              <a:t>Average &lt; 0.0233  →  REAL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9"/>
          <p:cNvSpPr txBox="1"/>
          <p:nvPr/>
        </p:nvSpPr>
        <p:spPr>
          <a:xfrm>
            <a:off x="987552" y="4645152"/>
            <a:ext cx="4297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Average ≥ 0.0233  →  FAKE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6126480" y="3675887"/>
            <a:ext cx="5321808" cy="150876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 txBox="1"/>
          <p:nvPr/>
        </p:nvSpPr>
        <p:spPr>
          <a:xfrm>
            <a:off x="6364224" y="3913632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769BE"/>
                </a:solidFill>
                <a:latin typeface="Arial"/>
                <a:ea typeface="Arial"/>
                <a:cs typeface="Arial"/>
                <a:sym typeface="Arial"/>
              </a:rPr>
              <a:t>MODEL SELECTION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9"/>
          <p:cNvSpPr txBox="1"/>
          <p:nvPr/>
        </p:nvSpPr>
        <p:spPr>
          <a:xfrm>
            <a:off x="6364224" y="4224528"/>
            <a:ext cx="292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ConvNeXt-Tiny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9"/>
          <p:cNvSpPr txBox="1"/>
          <p:nvPr/>
        </p:nvSpPr>
        <p:spPr>
          <a:xfrm>
            <a:off x="6364224" y="4617720"/>
            <a:ext cx="4572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Highest holdout AUC of the seven models; a modern CNN pretrained on ImageNet-22k.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0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2 — MODEL TRAINING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0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Seven models compared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0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Every model used the same face images, split, augmentation, 224 × 224 input and 8 training rounds.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749808" y="5074920"/>
            <a:ext cx="10698480" cy="1234440"/>
          </a:xfrm>
          <a:prstGeom prst="roundRect">
            <a:avLst>
              <a:gd fmla="val 16667" name="adj"/>
            </a:avLst>
          </a:prstGeom>
          <a:solidFill>
            <a:srgbClr val="F1F9F6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 txBox="1"/>
          <p:nvPr/>
        </p:nvSpPr>
        <p:spPr>
          <a:xfrm>
            <a:off x="987552" y="523036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9769"/>
                </a:solidFill>
                <a:latin typeface="Arial"/>
                <a:ea typeface="Arial"/>
                <a:cs typeface="Arial"/>
                <a:sym typeface="Arial"/>
              </a:rPr>
              <a:t>TRAINING SETUP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0"/>
          <p:cNvSpPr txBox="1"/>
          <p:nvPr/>
        </p:nvSpPr>
        <p:spPr>
          <a:xfrm>
            <a:off x="987552" y="5486400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Each model trained in 45–53 minutes on a Colab T4 GPU.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0"/>
          <p:cNvSpPr txBox="1"/>
          <p:nvPr/>
        </p:nvSpPr>
        <p:spPr>
          <a:xfrm>
            <a:off x="987552" y="5870448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Progress was saved after every round, so a run could resume after a Colab disconnect.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9" name="Google Shape;319;p10"/>
          <p:cNvGraphicFramePr/>
          <p:nvPr/>
        </p:nvGraphicFramePr>
        <p:xfrm>
          <a:off x="749808" y="18105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{7818308C-96FD-40AC-9B7E-A86C079216B4}</a:tableStyleId>
              </a:tblPr>
              <a:tblGrid>
                <a:gridCol w="2377450"/>
                <a:gridCol w="4937750"/>
                <a:gridCol w="1691650"/>
                <a:gridCol w="16916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Parameters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Training time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EfficientNet-B0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Mid-term baseline, lightweight CNN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4.0 M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 min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ResNet-50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Classic CNN reference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23.5 M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47 min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Xception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Standard deepfake-detection baseline (FaceForensics++)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20.8 M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 min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ConvNeXt-Tiny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9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Modern CNN </a:t>
                      </a:r>
                      <a:r>
                        <a:rPr b="1" lang="en-US" sz="1300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 trained</a:t>
                      </a: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on ImageNet-22k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9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27.8 M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9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49 min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9F6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Swin-Tiny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Vision transformer with local attention windows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27.5 M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 min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EfficientNet-B4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Larger version of EfficientNet-B0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17.6 M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 min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CLIP ViT-B/16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Foundation model; only the last 4 of 12 blocks trained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85.8 M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 min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1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2 — MODEL TRAINING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1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Training result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1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Each model's best round was selected using validation data.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960120" y="1993392"/>
            <a:ext cx="297180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960120" y="1993392"/>
            <a:ext cx="64008" cy="1143000"/>
          </a:xfrm>
          <a:prstGeom prst="rect">
            <a:avLst/>
          </a:prstGeom>
          <a:solidFill>
            <a:srgbClr val="F567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 txBox="1"/>
          <p:nvPr/>
        </p:nvSpPr>
        <p:spPr>
          <a:xfrm>
            <a:off x="1179576" y="2103120"/>
            <a:ext cx="26426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Round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1"/>
          <p:cNvSpPr txBox="1"/>
          <p:nvPr/>
        </p:nvSpPr>
        <p:spPr>
          <a:xfrm>
            <a:off x="1179576" y="2505456"/>
            <a:ext cx="2642616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best round for ConvNeXt-Tiny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4599432" y="1993392"/>
            <a:ext cx="297180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4599432" y="1993392"/>
            <a:ext cx="64008" cy="1143000"/>
          </a:xfrm>
          <a:prstGeom prst="rect">
            <a:avLst/>
          </a:prstGeom>
          <a:solidFill>
            <a:srgbClr val="2A96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 txBox="1"/>
          <p:nvPr/>
        </p:nvSpPr>
        <p:spPr>
          <a:xfrm>
            <a:off x="4818888" y="2103120"/>
            <a:ext cx="26426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0.0233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1"/>
          <p:cNvSpPr txBox="1"/>
          <p:nvPr/>
        </p:nvSpPr>
        <p:spPr>
          <a:xfrm>
            <a:off x="4818888" y="2505456"/>
            <a:ext cx="2642616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ConvNeXt-Tiny decision point from validation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8238744" y="1993392"/>
            <a:ext cx="297180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8238744" y="1993392"/>
            <a:ext cx="64008" cy="1143000"/>
          </a:xfrm>
          <a:prstGeom prst="rect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 txBox="1"/>
          <p:nvPr/>
        </p:nvSpPr>
        <p:spPr>
          <a:xfrm>
            <a:off x="8458200" y="2103120"/>
            <a:ext cx="26426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7 saved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1"/>
          <p:cNvSpPr txBox="1"/>
          <p:nvPr/>
        </p:nvSpPr>
        <p:spPr>
          <a:xfrm>
            <a:off x="8458200" y="2505456"/>
            <a:ext cx="2642616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best rounds used in Step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960120" y="3767328"/>
            <a:ext cx="10250424" cy="132588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 txBox="1"/>
          <p:nvPr/>
        </p:nvSpPr>
        <p:spPr>
          <a:xfrm>
            <a:off x="1207008" y="399592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FINAL TRAINING 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1"/>
          <p:cNvSpPr txBox="1"/>
          <p:nvPr/>
        </p:nvSpPr>
        <p:spPr>
          <a:xfrm>
            <a:off x="1207008" y="4343400"/>
            <a:ext cx="9418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Step 3 uses each model's best round and decision point.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1"/>
          <p:cNvSpPr txBox="1"/>
          <p:nvPr/>
        </p:nvSpPr>
        <p:spPr>
          <a:xfrm>
            <a:off x="1207008" y="4782312"/>
            <a:ext cx="9418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No retraining is done during the final evaluation.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E34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 txBox="1"/>
          <p:nvPr/>
        </p:nvSpPr>
        <p:spPr>
          <a:xfrm>
            <a:off x="868680" y="10972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A9769"/>
                </a:solidFill>
                <a:latin typeface="Arial"/>
                <a:ea typeface="Arial"/>
                <a:cs typeface="Arial"/>
                <a:sym typeface="Arial"/>
              </a:rPr>
              <a:t>STEP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2"/>
          <p:cNvSpPr txBox="1"/>
          <p:nvPr/>
        </p:nvSpPr>
        <p:spPr>
          <a:xfrm>
            <a:off x="868680" y="1874519"/>
            <a:ext cx="10058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Evaluation and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2"/>
          <p:cNvSpPr txBox="1"/>
          <p:nvPr/>
        </p:nvSpPr>
        <p:spPr>
          <a:xfrm>
            <a:off x="868680" y="278892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EE5EF"/>
                </a:solidFill>
                <a:latin typeface="Arial"/>
                <a:ea typeface="Arial"/>
                <a:cs typeface="Arial"/>
                <a:sym typeface="Arial"/>
              </a:rPr>
              <a:t>Evaluate the saved models on unseen videos, test their robustness and run the complete video demo.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868680" y="3794760"/>
            <a:ext cx="1920240" cy="45720"/>
          </a:xfrm>
          <a:prstGeom prst="rect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3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3 — EVALUATION AND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3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Evaluation scope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3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The saved models are tested after training.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749808" y="1993392"/>
            <a:ext cx="2029967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 txBox="1"/>
          <p:nvPr/>
        </p:nvSpPr>
        <p:spPr>
          <a:xfrm>
            <a:off x="813815" y="2103120"/>
            <a:ext cx="190195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Load models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3"/>
          <p:cNvSpPr txBox="1"/>
          <p:nvPr/>
        </p:nvSpPr>
        <p:spPr>
          <a:xfrm>
            <a:off x="813815" y="2450592"/>
            <a:ext cx="19019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7 saved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3"/>
          <p:cNvSpPr txBox="1"/>
          <p:nvPr/>
        </p:nvSpPr>
        <p:spPr>
          <a:xfrm>
            <a:off x="2779775" y="2267712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2916935" y="1993392"/>
            <a:ext cx="2029967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 txBox="1"/>
          <p:nvPr/>
        </p:nvSpPr>
        <p:spPr>
          <a:xfrm>
            <a:off x="2980943" y="2103120"/>
            <a:ext cx="190195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Test videos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3"/>
          <p:cNvSpPr txBox="1"/>
          <p:nvPr/>
        </p:nvSpPr>
        <p:spPr>
          <a:xfrm>
            <a:off x="2980943" y="2450592"/>
            <a:ext cx="19019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809 + 518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3"/>
          <p:cNvSpPr txBox="1"/>
          <p:nvPr/>
        </p:nvSpPr>
        <p:spPr>
          <a:xfrm>
            <a:off x="4946903" y="2267712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5084064" y="1993392"/>
            <a:ext cx="2029967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3"/>
          <p:cNvSpPr txBox="1"/>
          <p:nvPr/>
        </p:nvSpPr>
        <p:spPr>
          <a:xfrm>
            <a:off x="5148072" y="2103120"/>
            <a:ext cx="190195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Compare labels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3"/>
          <p:cNvSpPr txBox="1"/>
          <p:nvPr/>
        </p:nvSpPr>
        <p:spPr>
          <a:xfrm>
            <a:off x="5148072" y="2450592"/>
            <a:ext cx="19019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correct / wrong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3"/>
          <p:cNvSpPr txBox="1"/>
          <p:nvPr/>
        </p:nvSpPr>
        <p:spPr>
          <a:xfrm>
            <a:off x="7114031" y="2267712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3"/>
          <p:cNvSpPr/>
          <p:nvPr/>
        </p:nvSpPr>
        <p:spPr>
          <a:xfrm>
            <a:off x="7251192" y="1993392"/>
            <a:ext cx="2029967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3"/>
          <p:cNvSpPr txBox="1"/>
          <p:nvPr/>
        </p:nvSpPr>
        <p:spPr>
          <a:xfrm>
            <a:off x="7315200" y="2103120"/>
            <a:ext cx="190195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Stress 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3"/>
          <p:cNvSpPr txBox="1"/>
          <p:nvPr/>
        </p:nvSpPr>
        <p:spPr>
          <a:xfrm>
            <a:off x="7315200" y="2450592"/>
            <a:ext cx="19019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JPEG, resize, blur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3"/>
          <p:cNvSpPr txBox="1"/>
          <p:nvPr/>
        </p:nvSpPr>
        <p:spPr>
          <a:xfrm>
            <a:off x="9281159" y="2267712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9418319" y="1993392"/>
            <a:ext cx="2029967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3"/>
          <p:cNvSpPr txBox="1"/>
          <p:nvPr/>
        </p:nvSpPr>
        <p:spPr>
          <a:xfrm>
            <a:off x="9482328" y="2103120"/>
            <a:ext cx="190195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Grad-CAM +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3"/>
          <p:cNvSpPr txBox="1"/>
          <p:nvPr/>
        </p:nvSpPr>
        <p:spPr>
          <a:xfrm>
            <a:off x="9482328" y="2450592"/>
            <a:ext cx="19019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attention, video → result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3"/>
          <p:cNvSpPr/>
          <p:nvPr/>
        </p:nvSpPr>
        <p:spPr>
          <a:xfrm>
            <a:off x="749808" y="3749039"/>
            <a:ext cx="10698480" cy="1417320"/>
          </a:xfrm>
          <a:prstGeom prst="roundRect">
            <a:avLst>
              <a:gd fmla="val 16667" name="adj"/>
            </a:avLst>
          </a:prstGeom>
          <a:solidFill>
            <a:srgbClr val="F1F9F6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 txBox="1"/>
          <p:nvPr/>
        </p:nvSpPr>
        <p:spPr>
          <a:xfrm>
            <a:off x="987552" y="3968496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9769"/>
                </a:solidFill>
                <a:latin typeface="Arial"/>
                <a:ea typeface="Arial"/>
                <a:cs typeface="Arial"/>
                <a:sym typeface="Arial"/>
              </a:rPr>
              <a:t>STEP 3 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3"/>
          <p:cNvSpPr txBox="1"/>
          <p:nvPr/>
        </p:nvSpPr>
        <p:spPr>
          <a:xfrm>
            <a:off x="987552" y="4315968"/>
            <a:ext cx="9784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Accuracy, AUC, errors, robustness, attention maps and demo.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3"/>
          <p:cNvSpPr txBox="1"/>
          <p:nvPr/>
        </p:nvSpPr>
        <p:spPr>
          <a:xfrm>
            <a:off x="987552" y="4800600"/>
            <a:ext cx="9784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The holdout test is the main unseen-video check; the official test provides the Celeb-DF benchmark result.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4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3 — EVALUATION AND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4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Model comparison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4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All seven models on the 809 holdout videos (main result) and the 518 official test videos.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4"/>
          <p:cNvSpPr/>
          <p:nvPr/>
        </p:nvSpPr>
        <p:spPr>
          <a:xfrm>
            <a:off x="749808" y="5029200"/>
            <a:ext cx="10698480" cy="1371600"/>
          </a:xfrm>
          <a:prstGeom prst="roundRect">
            <a:avLst>
              <a:gd fmla="val 16667" name="adj"/>
            </a:avLst>
          </a:prstGeom>
          <a:solidFill>
            <a:srgbClr val="F1F9F6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4"/>
          <p:cNvSpPr txBox="1"/>
          <p:nvPr/>
        </p:nvSpPr>
        <p:spPr>
          <a:xfrm>
            <a:off x="987552" y="516636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9769"/>
                </a:solidFill>
                <a:latin typeface="Arial"/>
                <a:ea typeface="Arial"/>
                <a:cs typeface="Arial"/>
                <a:sym typeface="Arial"/>
              </a:rPr>
              <a:t>KEY FINDING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4"/>
          <p:cNvSpPr txBox="1"/>
          <p:nvPr/>
        </p:nvSpPr>
        <p:spPr>
          <a:xfrm>
            <a:off x="987552" y="5422392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ConvNeXt-Tiny separated REAL and FAKE videos best.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4"/>
          <p:cNvSpPr txBox="1"/>
          <p:nvPr/>
        </p:nvSpPr>
        <p:spPr>
          <a:xfrm>
            <a:off x="987552" y="5788152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Its 95% interval lies above EfficientNet-B0, ResNet-50 and Xception. Accuracy differs by only a few videos among the top five.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96" name="Google Shape;396;p14"/>
          <p:cNvGraphicFramePr/>
          <p:nvPr/>
        </p:nvGraphicFramePr>
        <p:xfrm>
          <a:off x="749808" y="17830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{7818308C-96FD-40AC-9B7E-A86C079216B4}</a:tableStyleId>
              </a:tblPr>
              <a:tblGrid>
                <a:gridCol w="2148850"/>
                <a:gridCol w="2606050"/>
                <a:gridCol w="1783075"/>
                <a:gridCol w="1371600"/>
                <a:gridCol w="1371600"/>
                <a:gridCol w="1417325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Holdout AUC (95% CI)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Holdout accuracy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Holdout EER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Official AUC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Speed (img/s)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ConvNeXt-Tiny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9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0.9999 (0.9997–1.0000)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9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98.15% (794)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9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0.008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9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0.9998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9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575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9F6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EfficientNet-B4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0.9990 (0.9978–0.9999)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97.90% (792)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0.011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0.9991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517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Swin-Tiny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0.9988 (0.9975–0.9997)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98.15% (794)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0.022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0.9988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462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Xception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0.9986 (0.9970–0.9996)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98.39% (796)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0.012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0.9992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567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ResNet-50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0.9981 (0.9963–0.9994)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97.78% (791)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0.010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0.9969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841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EfficientNet-B0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0.9981 (0.9963–0.9993)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97.65% (790)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0.020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0.9979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1,440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CLIP ViT-B/16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0.9873 (0.9811–0.9927)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94.31% (763)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0.049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0.9955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318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7" name="Google Shape;397;p14"/>
          <p:cNvSpPr txBox="1"/>
          <p:nvPr/>
        </p:nvSpPr>
        <p:spPr>
          <a:xfrm>
            <a:off x="749808" y="4617720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Accuracy uses each model's own validation decision point. Speed is GPU images per second on prepared faces (T4).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5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3 — EVALUATION AND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5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Evaluation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5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ConvNeXt-Tiny predictions are compared with the known REAL / FAKE label of each test video.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5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5"/>
          <p:cNvSpPr/>
          <p:nvPr/>
        </p:nvSpPr>
        <p:spPr>
          <a:xfrm>
            <a:off x="749808" y="1874519"/>
            <a:ext cx="2423160" cy="10607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5"/>
          <p:cNvSpPr/>
          <p:nvPr/>
        </p:nvSpPr>
        <p:spPr>
          <a:xfrm>
            <a:off x="749808" y="1874519"/>
            <a:ext cx="64008" cy="1060704"/>
          </a:xfrm>
          <a:prstGeom prst="rect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5"/>
          <p:cNvSpPr txBox="1"/>
          <p:nvPr/>
        </p:nvSpPr>
        <p:spPr>
          <a:xfrm>
            <a:off x="969264" y="1984248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794 / 809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5"/>
          <p:cNvSpPr txBox="1"/>
          <p:nvPr/>
        </p:nvSpPr>
        <p:spPr>
          <a:xfrm>
            <a:off x="969264" y="2386584"/>
            <a:ext cx="2093976" cy="493775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holdout videos correct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5"/>
          <p:cNvSpPr/>
          <p:nvPr/>
        </p:nvSpPr>
        <p:spPr>
          <a:xfrm>
            <a:off x="3364992" y="1874519"/>
            <a:ext cx="2423160" cy="10607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3364992" y="1874519"/>
            <a:ext cx="64008" cy="1060704"/>
          </a:xfrm>
          <a:prstGeom prst="rect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5"/>
          <p:cNvSpPr txBox="1"/>
          <p:nvPr/>
        </p:nvSpPr>
        <p:spPr>
          <a:xfrm>
            <a:off x="3584448" y="1984248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98.15%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5"/>
          <p:cNvSpPr txBox="1"/>
          <p:nvPr/>
        </p:nvSpPr>
        <p:spPr>
          <a:xfrm>
            <a:off x="3584448" y="2386584"/>
            <a:ext cx="2093976" cy="493775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holdout accuracy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5"/>
          <p:cNvSpPr/>
          <p:nvPr/>
        </p:nvSpPr>
        <p:spPr>
          <a:xfrm>
            <a:off x="5980176" y="1874519"/>
            <a:ext cx="2423160" cy="10607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5"/>
          <p:cNvSpPr/>
          <p:nvPr/>
        </p:nvSpPr>
        <p:spPr>
          <a:xfrm>
            <a:off x="5980176" y="1874519"/>
            <a:ext cx="64008" cy="1060704"/>
          </a:xfrm>
          <a:prstGeom prst="rect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5"/>
          <p:cNvSpPr txBox="1"/>
          <p:nvPr/>
        </p:nvSpPr>
        <p:spPr>
          <a:xfrm>
            <a:off x="6199632" y="1984248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0.9998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5"/>
          <p:cNvSpPr txBox="1"/>
          <p:nvPr/>
        </p:nvSpPr>
        <p:spPr>
          <a:xfrm>
            <a:off x="6199632" y="2386584"/>
            <a:ext cx="2093976" cy="493775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official video AUC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8595360" y="1874519"/>
            <a:ext cx="2423160" cy="10607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5"/>
          <p:cNvSpPr/>
          <p:nvPr/>
        </p:nvSpPr>
        <p:spPr>
          <a:xfrm>
            <a:off x="8595360" y="1874519"/>
            <a:ext cx="64008" cy="1060704"/>
          </a:xfrm>
          <a:prstGeom prst="rect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5"/>
          <p:cNvSpPr txBox="1"/>
          <p:nvPr/>
        </p:nvSpPr>
        <p:spPr>
          <a:xfrm>
            <a:off x="8814816" y="1984248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0.954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5"/>
          <p:cNvSpPr txBox="1"/>
          <p:nvPr/>
        </p:nvSpPr>
        <p:spPr>
          <a:xfrm>
            <a:off x="8814816" y="2386584"/>
            <a:ext cx="2093976" cy="493775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official video F1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5"/>
          <p:cNvSpPr/>
          <p:nvPr/>
        </p:nvSpPr>
        <p:spPr>
          <a:xfrm>
            <a:off x="749808" y="3520440"/>
            <a:ext cx="10698480" cy="169164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5"/>
          <p:cNvSpPr txBox="1"/>
          <p:nvPr/>
        </p:nvSpPr>
        <p:spPr>
          <a:xfrm>
            <a:off x="987552" y="3749039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RESULT CHECK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5"/>
          <p:cNvSpPr txBox="1"/>
          <p:nvPr/>
        </p:nvSpPr>
        <p:spPr>
          <a:xfrm>
            <a:off x="987552" y="409651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Holdout: 90 REAL + 704 FAKE = 794 correct   |   15 + 0 = 15 wrong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5"/>
          <p:cNvSpPr txBox="1"/>
          <p:nvPr/>
        </p:nvSpPr>
        <p:spPr>
          <a:xfrm>
            <a:off x="987552" y="4498848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Official: AUC 0.9998 and F1 0.954 at the same 0.0233 decision point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5"/>
          <p:cNvSpPr txBox="1"/>
          <p:nvPr/>
        </p:nvSpPr>
        <p:spPr>
          <a:xfrm>
            <a:off x="987552" y="4919472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Accuracy = correct predictions ÷ total videos. No fake holdout video was missed.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6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3 — EVALUATION AND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6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Correct and wrong predictions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6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Holdout confusion matrices for all seven models, each at its own validation decision point.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6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6"/>
          <p:cNvSpPr/>
          <p:nvPr/>
        </p:nvSpPr>
        <p:spPr>
          <a:xfrm>
            <a:off x="658368" y="1828800"/>
            <a:ext cx="6720840" cy="3611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6"/>
          <p:cNvSpPr txBox="1"/>
          <p:nvPr/>
        </p:nvSpPr>
        <p:spPr>
          <a:xfrm>
            <a:off x="7635240" y="192024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9769"/>
                </a:solidFill>
                <a:latin typeface="Arial"/>
                <a:ea typeface="Arial"/>
                <a:cs typeface="Arial"/>
                <a:sym typeface="Arial"/>
              </a:rPr>
              <a:t>CONVNEXT-TINY — 809 VIDEOS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6"/>
          <p:cNvSpPr/>
          <p:nvPr/>
        </p:nvSpPr>
        <p:spPr>
          <a:xfrm>
            <a:off x="7635240" y="2267712"/>
            <a:ext cx="1783080" cy="9326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6"/>
          <p:cNvSpPr/>
          <p:nvPr/>
        </p:nvSpPr>
        <p:spPr>
          <a:xfrm>
            <a:off x="7635240" y="2267712"/>
            <a:ext cx="64008" cy="932688"/>
          </a:xfrm>
          <a:prstGeom prst="rect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6"/>
          <p:cNvSpPr txBox="1"/>
          <p:nvPr/>
        </p:nvSpPr>
        <p:spPr>
          <a:xfrm>
            <a:off x="7854696" y="237744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794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6"/>
          <p:cNvSpPr txBox="1"/>
          <p:nvPr/>
        </p:nvSpPr>
        <p:spPr>
          <a:xfrm>
            <a:off x="7854696" y="2779776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correct predictions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6"/>
          <p:cNvSpPr/>
          <p:nvPr/>
        </p:nvSpPr>
        <p:spPr>
          <a:xfrm>
            <a:off x="9601200" y="2267712"/>
            <a:ext cx="1783080" cy="9326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6"/>
          <p:cNvSpPr/>
          <p:nvPr/>
        </p:nvSpPr>
        <p:spPr>
          <a:xfrm>
            <a:off x="9601200" y="2267712"/>
            <a:ext cx="64008" cy="932688"/>
          </a:xfrm>
          <a:prstGeom prst="rect">
            <a:avLst/>
          </a:prstGeom>
          <a:solidFill>
            <a:srgbClr val="F567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6"/>
          <p:cNvSpPr txBox="1"/>
          <p:nvPr/>
        </p:nvSpPr>
        <p:spPr>
          <a:xfrm>
            <a:off x="9820656" y="237744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6"/>
          <p:cNvSpPr txBox="1"/>
          <p:nvPr/>
        </p:nvSpPr>
        <p:spPr>
          <a:xfrm>
            <a:off x="9820656" y="2779776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wrong predictions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6"/>
          <p:cNvSpPr txBox="1"/>
          <p:nvPr/>
        </p:nvSpPr>
        <p:spPr>
          <a:xfrm>
            <a:off x="7635240" y="365760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769BE"/>
                </a:solidFill>
                <a:latin typeface="Arial"/>
                <a:ea typeface="Arial"/>
                <a:cs typeface="Arial"/>
                <a:sym typeface="Arial"/>
              </a:rPr>
              <a:t>ACROSS ALL SEVEN MODELS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6"/>
          <p:cNvSpPr/>
          <p:nvPr/>
        </p:nvSpPr>
        <p:spPr>
          <a:xfrm>
            <a:off x="7635240" y="4005072"/>
            <a:ext cx="1783080" cy="9326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6"/>
          <p:cNvSpPr/>
          <p:nvPr/>
        </p:nvSpPr>
        <p:spPr>
          <a:xfrm>
            <a:off x="7635240" y="4005072"/>
            <a:ext cx="64008" cy="932688"/>
          </a:xfrm>
          <a:prstGeom prst="rect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6"/>
          <p:cNvSpPr txBox="1"/>
          <p:nvPr/>
        </p:nvSpPr>
        <p:spPr>
          <a:xfrm>
            <a:off x="7854696" y="411480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6"/>
          <p:cNvSpPr txBox="1"/>
          <p:nvPr/>
        </p:nvSpPr>
        <p:spPr>
          <a:xfrm>
            <a:off x="7854696" y="4517136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fewest errors (Xception)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6"/>
          <p:cNvSpPr/>
          <p:nvPr/>
        </p:nvSpPr>
        <p:spPr>
          <a:xfrm>
            <a:off x="9601200" y="4005072"/>
            <a:ext cx="1783080" cy="9326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6"/>
          <p:cNvSpPr/>
          <p:nvPr/>
        </p:nvSpPr>
        <p:spPr>
          <a:xfrm>
            <a:off x="9601200" y="4005072"/>
            <a:ext cx="64008" cy="932688"/>
          </a:xfrm>
          <a:prstGeom prst="rect">
            <a:avLst/>
          </a:prstGeom>
          <a:solidFill>
            <a:srgbClr val="F567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6"/>
          <p:cNvSpPr txBox="1"/>
          <p:nvPr/>
        </p:nvSpPr>
        <p:spPr>
          <a:xfrm>
            <a:off x="9820656" y="411480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46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6"/>
          <p:cNvSpPr txBox="1"/>
          <p:nvPr/>
        </p:nvSpPr>
        <p:spPr>
          <a:xfrm>
            <a:off x="9820656" y="4517136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most errors (CLIP)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6"/>
          <p:cNvSpPr txBox="1"/>
          <p:nvPr/>
        </p:nvSpPr>
        <p:spPr>
          <a:xfrm>
            <a:off x="749808" y="557784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Most errors are real videos flagged as fake. ConvNeXt-Tiny missed no fake video.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ell46_0.png" id="455" name="Google Shape;45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9536" y="2048256"/>
            <a:ext cx="6309360" cy="3177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7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3 — EVALUATION AND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7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ROC / AUC result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7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AUC checks how well model scores separate REAL and FAKE videos.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7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7"/>
          <p:cNvSpPr/>
          <p:nvPr/>
        </p:nvSpPr>
        <p:spPr>
          <a:xfrm>
            <a:off x="658368" y="1828800"/>
            <a:ext cx="5577840" cy="4297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7"/>
          <p:cNvSpPr/>
          <p:nvPr/>
        </p:nvSpPr>
        <p:spPr>
          <a:xfrm>
            <a:off x="6583680" y="2011680"/>
            <a:ext cx="2148840" cy="10241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7"/>
          <p:cNvSpPr/>
          <p:nvPr/>
        </p:nvSpPr>
        <p:spPr>
          <a:xfrm>
            <a:off x="6583680" y="2011680"/>
            <a:ext cx="64008" cy="1024128"/>
          </a:xfrm>
          <a:prstGeom prst="rect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7"/>
          <p:cNvSpPr txBox="1"/>
          <p:nvPr/>
        </p:nvSpPr>
        <p:spPr>
          <a:xfrm>
            <a:off x="6803136" y="2121408"/>
            <a:ext cx="18196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0.9999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7"/>
          <p:cNvSpPr txBox="1"/>
          <p:nvPr/>
        </p:nvSpPr>
        <p:spPr>
          <a:xfrm>
            <a:off x="6803136" y="2523744"/>
            <a:ext cx="18196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ConvNeXt holdout AUC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7"/>
          <p:cNvSpPr/>
          <p:nvPr/>
        </p:nvSpPr>
        <p:spPr>
          <a:xfrm>
            <a:off x="9052560" y="2011680"/>
            <a:ext cx="2148840" cy="10241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7"/>
          <p:cNvSpPr/>
          <p:nvPr/>
        </p:nvSpPr>
        <p:spPr>
          <a:xfrm>
            <a:off x="9052560" y="2011680"/>
            <a:ext cx="64008" cy="1024128"/>
          </a:xfrm>
          <a:prstGeom prst="rect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7"/>
          <p:cNvSpPr txBox="1"/>
          <p:nvPr/>
        </p:nvSpPr>
        <p:spPr>
          <a:xfrm>
            <a:off x="9272016" y="2121408"/>
            <a:ext cx="18196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0.9998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7"/>
          <p:cNvSpPr txBox="1"/>
          <p:nvPr/>
        </p:nvSpPr>
        <p:spPr>
          <a:xfrm>
            <a:off x="9272016" y="2523744"/>
            <a:ext cx="18196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ConvNeXt official AUC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7"/>
          <p:cNvSpPr/>
          <p:nvPr/>
        </p:nvSpPr>
        <p:spPr>
          <a:xfrm>
            <a:off x="6583680" y="3474720"/>
            <a:ext cx="4617720" cy="150876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7"/>
          <p:cNvSpPr txBox="1"/>
          <p:nvPr/>
        </p:nvSpPr>
        <p:spPr>
          <a:xfrm>
            <a:off x="6839712" y="370332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7"/>
          <p:cNvSpPr txBox="1"/>
          <p:nvPr/>
        </p:nvSpPr>
        <p:spPr>
          <a:xfrm>
            <a:off x="6839712" y="4005072"/>
            <a:ext cx="4069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ConvNeXt-Tiny (red) is closest to the top-left corner; CLIP (pink) is lowest.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7"/>
          <p:cNvSpPr txBox="1"/>
          <p:nvPr/>
        </p:nvSpPr>
        <p:spPr>
          <a:xfrm>
            <a:off x="6583680" y="5257800"/>
            <a:ext cx="4617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Zoomed view of the holdout videos. All AUC values are on the comparison slide.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oc_holdout.png" id="477" name="Google Shape;47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" y="2148840"/>
            <a:ext cx="5230368" cy="3661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8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3 — EVALUATION AND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8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Robustness check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8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Holdout faces were scored again after JPEG compression, downscaling and blur, as happens when videos are re-uploaded.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8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8"/>
          <p:cNvSpPr/>
          <p:nvPr/>
        </p:nvSpPr>
        <p:spPr>
          <a:xfrm>
            <a:off x="7498079" y="1828800"/>
            <a:ext cx="3977639" cy="1783080"/>
          </a:xfrm>
          <a:prstGeom prst="roundRect">
            <a:avLst>
              <a:gd fmla="val 16667" name="adj"/>
            </a:avLst>
          </a:prstGeom>
          <a:solidFill>
            <a:srgbClr val="F1F9F6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8"/>
          <p:cNvSpPr txBox="1"/>
          <p:nvPr/>
        </p:nvSpPr>
        <p:spPr>
          <a:xfrm>
            <a:off x="7726679" y="201168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9769"/>
                </a:solidFill>
                <a:latin typeface="Arial"/>
                <a:ea typeface="Arial"/>
                <a:cs typeface="Arial"/>
                <a:sym typeface="Arial"/>
              </a:rPr>
              <a:t>MOST ROBUST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8"/>
          <p:cNvSpPr txBox="1"/>
          <p:nvPr/>
        </p:nvSpPr>
        <p:spPr>
          <a:xfrm>
            <a:off x="7726679" y="2286000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ConvNeXt-Tiny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8"/>
          <p:cNvSpPr txBox="1"/>
          <p:nvPr/>
        </p:nvSpPr>
        <p:spPr>
          <a:xfrm>
            <a:off x="7726679" y="2724912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AUC stayed at 0.9985 or higher under every distortion (worst drop 0.0014).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90" name="Google Shape;490;p18"/>
          <p:cNvGraphicFramePr/>
          <p:nvPr/>
        </p:nvGraphicFramePr>
        <p:xfrm>
          <a:off x="658368" y="1783080"/>
          <a:ext cx="6583680" cy="452628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491" name="Google Shape;491;p18"/>
          <p:cNvSpPr/>
          <p:nvPr/>
        </p:nvSpPr>
        <p:spPr>
          <a:xfrm>
            <a:off x="7498079" y="3886200"/>
            <a:ext cx="3977639" cy="1783080"/>
          </a:xfrm>
          <a:prstGeom prst="roundRect">
            <a:avLst>
              <a:gd fmla="val 16667" name="adj"/>
            </a:avLst>
          </a:prstGeom>
          <a:solidFill>
            <a:srgbClr val="FDF7F3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8"/>
          <p:cNvSpPr txBox="1"/>
          <p:nvPr/>
        </p:nvSpPr>
        <p:spPr>
          <a:xfrm>
            <a:off x="7726679" y="406908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LEAST ROBUST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8"/>
          <p:cNvSpPr txBox="1"/>
          <p:nvPr/>
        </p:nvSpPr>
        <p:spPr>
          <a:xfrm>
            <a:off x="7726679" y="4343400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CLIP ViT-B/16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8"/>
          <p:cNvSpPr txBox="1"/>
          <p:nvPr/>
        </p:nvSpPr>
        <p:spPr>
          <a:xfrm>
            <a:off x="7726679" y="4782312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AUC fell to 0.9718 under blur (drop 0.0192).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8"/>
          <p:cNvSpPr txBox="1"/>
          <p:nvPr/>
        </p:nvSpPr>
        <p:spPr>
          <a:xfrm>
            <a:off x="7498079" y="5806440"/>
            <a:ext cx="3977639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JPEG quality 30 and half-size downscaling are harsher than anything used in training.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9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3 — EVALUATION AND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9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Grad-CAM 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9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Grad-CAM highlights the face regions that most influenced each model's score.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9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9"/>
          <p:cNvSpPr/>
          <p:nvPr/>
        </p:nvSpPr>
        <p:spPr>
          <a:xfrm>
            <a:off x="749808" y="5230368"/>
            <a:ext cx="5257800" cy="118872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9"/>
          <p:cNvSpPr txBox="1"/>
          <p:nvPr/>
        </p:nvSpPr>
        <p:spPr>
          <a:xfrm>
            <a:off x="987552" y="5358384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ATTENTION SHOWN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9"/>
          <p:cNvSpPr txBox="1"/>
          <p:nvPr/>
        </p:nvSpPr>
        <p:spPr>
          <a:xfrm>
            <a:off x="987552" y="5632704"/>
            <a:ext cx="4800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On the fake face, most models focus on the eyes, nose and mouth, where the face swap is blended.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9"/>
          <p:cNvSpPr/>
          <p:nvPr/>
        </p:nvSpPr>
        <p:spPr>
          <a:xfrm>
            <a:off x="6190488" y="5230368"/>
            <a:ext cx="5257800" cy="1188720"/>
          </a:xfrm>
          <a:prstGeom prst="roundRect">
            <a:avLst>
              <a:gd fmla="val 16667" name="adj"/>
            </a:avLst>
          </a:prstGeom>
          <a:solidFill>
            <a:srgbClr val="F1F9F6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9"/>
          <p:cNvSpPr txBox="1"/>
          <p:nvPr/>
        </p:nvSpPr>
        <p:spPr>
          <a:xfrm>
            <a:off x="6428231" y="5358384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9769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9"/>
          <p:cNvSpPr txBox="1"/>
          <p:nvPr/>
        </p:nvSpPr>
        <p:spPr>
          <a:xfrm>
            <a:off x="6428231" y="5632704"/>
            <a:ext cx="4800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Scores are for single frames; the REAL / FAKE decision uses the average over the whole video.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9"/>
          <p:cNvSpPr txBox="1"/>
          <p:nvPr/>
        </p:nvSpPr>
        <p:spPr>
          <a:xfrm>
            <a:off x="704087" y="1719072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Input 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0_c0.png" id="511" name="Google Shape;5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" y="201168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19"/>
          <p:cNvSpPr txBox="1"/>
          <p:nvPr/>
        </p:nvSpPr>
        <p:spPr>
          <a:xfrm>
            <a:off x="704087" y="321868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REAL 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1_c0.png" id="513" name="Google Shape;51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808" y="352044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19"/>
          <p:cNvSpPr txBox="1"/>
          <p:nvPr/>
        </p:nvSpPr>
        <p:spPr>
          <a:xfrm>
            <a:off x="704087" y="472744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FAKE 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9"/>
          <p:cNvSpPr txBox="1"/>
          <p:nvPr/>
        </p:nvSpPr>
        <p:spPr>
          <a:xfrm>
            <a:off x="2041398" y="1719072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EfficientNet-B0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0_c1.png" id="516" name="Google Shape;51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87117" y="201168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19"/>
          <p:cNvSpPr txBox="1"/>
          <p:nvPr/>
        </p:nvSpPr>
        <p:spPr>
          <a:xfrm>
            <a:off x="2041398" y="321868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P(fake) 0.023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1_c1.png" id="518" name="Google Shape;51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87117" y="352044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19"/>
          <p:cNvSpPr txBox="1"/>
          <p:nvPr/>
        </p:nvSpPr>
        <p:spPr>
          <a:xfrm>
            <a:off x="2041398" y="472744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P(fake) 1.000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9"/>
          <p:cNvSpPr txBox="1"/>
          <p:nvPr/>
        </p:nvSpPr>
        <p:spPr>
          <a:xfrm>
            <a:off x="3378708" y="1719072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ResNet-50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0_c2.png" id="521" name="Google Shape;52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24427" y="201168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19"/>
          <p:cNvSpPr txBox="1"/>
          <p:nvPr/>
        </p:nvSpPr>
        <p:spPr>
          <a:xfrm>
            <a:off x="3378708" y="321868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P(fake) 0.002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1_c2.png" id="523" name="Google Shape;523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24427" y="352044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19"/>
          <p:cNvSpPr txBox="1"/>
          <p:nvPr/>
        </p:nvSpPr>
        <p:spPr>
          <a:xfrm>
            <a:off x="3378708" y="472744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P(fake) 1.000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9"/>
          <p:cNvSpPr txBox="1"/>
          <p:nvPr/>
        </p:nvSpPr>
        <p:spPr>
          <a:xfrm>
            <a:off x="4716018" y="1719072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Xception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0_c3.png" id="526" name="Google Shape;526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61738" y="201168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19"/>
          <p:cNvSpPr txBox="1"/>
          <p:nvPr/>
        </p:nvSpPr>
        <p:spPr>
          <a:xfrm>
            <a:off x="4716018" y="321868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P(fake) 0.000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1_c3.png" id="528" name="Google Shape;528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61738" y="352044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19"/>
          <p:cNvSpPr txBox="1"/>
          <p:nvPr/>
        </p:nvSpPr>
        <p:spPr>
          <a:xfrm>
            <a:off x="4716018" y="472744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P(fake) 1.000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9"/>
          <p:cNvSpPr txBox="1"/>
          <p:nvPr/>
        </p:nvSpPr>
        <p:spPr>
          <a:xfrm>
            <a:off x="6053328" y="1719072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ConvNeXt-Tiny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0_c4.png" id="531" name="Google Shape;531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099048" y="201168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19"/>
          <p:cNvSpPr txBox="1"/>
          <p:nvPr/>
        </p:nvSpPr>
        <p:spPr>
          <a:xfrm>
            <a:off x="6053328" y="321868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P(fake) 0.065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1_c4.png" id="533" name="Google Shape;533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099048" y="352044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19"/>
          <p:cNvSpPr txBox="1"/>
          <p:nvPr/>
        </p:nvSpPr>
        <p:spPr>
          <a:xfrm>
            <a:off x="6053328" y="472744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P(fake) 1.000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9"/>
          <p:cNvSpPr txBox="1"/>
          <p:nvPr/>
        </p:nvSpPr>
        <p:spPr>
          <a:xfrm>
            <a:off x="7390638" y="1719072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Swin-Tiny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0_c5.png" id="536" name="Google Shape;536;p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436358" y="201168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19"/>
          <p:cNvSpPr txBox="1"/>
          <p:nvPr/>
        </p:nvSpPr>
        <p:spPr>
          <a:xfrm>
            <a:off x="7390638" y="321868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P(fake) 0.000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1_c5.png" id="538" name="Google Shape;538;p1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436358" y="352044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19"/>
          <p:cNvSpPr txBox="1"/>
          <p:nvPr/>
        </p:nvSpPr>
        <p:spPr>
          <a:xfrm>
            <a:off x="7390638" y="472744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P(fake) 1.000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9"/>
          <p:cNvSpPr txBox="1"/>
          <p:nvPr/>
        </p:nvSpPr>
        <p:spPr>
          <a:xfrm>
            <a:off x="8727947" y="1719072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EfficientNet-B4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0_c6.png" id="541" name="Google Shape;541;p1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773667" y="201168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19"/>
          <p:cNvSpPr txBox="1"/>
          <p:nvPr/>
        </p:nvSpPr>
        <p:spPr>
          <a:xfrm>
            <a:off x="8727947" y="321868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P(fake) 0.004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1_c6.png" id="543" name="Google Shape;543;p19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773667" y="352044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19"/>
          <p:cNvSpPr txBox="1"/>
          <p:nvPr/>
        </p:nvSpPr>
        <p:spPr>
          <a:xfrm>
            <a:off x="8727947" y="472744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P(fake) 1.000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9"/>
          <p:cNvSpPr txBox="1"/>
          <p:nvPr/>
        </p:nvSpPr>
        <p:spPr>
          <a:xfrm>
            <a:off x="10065257" y="1719072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CLIP ViT-B/16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0_c7.png" id="546" name="Google Shape;546;p19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0110978" y="201168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9"/>
          <p:cNvSpPr txBox="1"/>
          <p:nvPr/>
        </p:nvSpPr>
        <p:spPr>
          <a:xfrm>
            <a:off x="10065257" y="321868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P(fake) 0.000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1_c7.png" id="548" name="Google Shape;548;p19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0110978" y="352044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19"/>
          <p:cNvSpPr txBox="1"/>
          <p:nvPr/>
        </p:nvSpPr>
        <p:spPr>
          <a:xfrm>
            <a:off x="10065257" y="472744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P(fake) 0.995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0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3 — EVALUATION AND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0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Full video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20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Two complete videos were passed through the final pipeline with ConvNeXt-Tiny.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20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0"/>
          <p:cNvSpPr/>
          <p:nvPr/>
        </p:nvSpPr>
        <p:spPr>
          <a:xfrm>
            <a:off x="658368" y="1828800"/>
            <a:ext cx="6812280" cy="406908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0"/>
          <p:cNvSpPr txBox="1"/>
          <p:nvPr/>
        </p:nvSpPr>
        <p:spPr>
          <a:xfrm>
            <a:off x="914400" y="2048256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DEMO 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20"/>
          <p:cNvSpPr txBox="1"/>
          <p:nvPr/>
        </p:nvSpPr>
        <p:spPr>
          <a:xfrm>
            <a:off x="914400" y="2359152"/>
            <a:ext cx="5989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Both sample videos were predicted correctly.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20"/>
          <p:cNvSpPr/>
          <p:nvPr/>
        </p:nvSpPr>
        <p:spPr>
          <a:xfrm>
            <a:off x="914400" y="2852928"/>
            <a:ext cx="63093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0"/>
          <p:cNvSpPr txBox="1"/>
          <p:nvPr/>
        </p:nvSpPr>
        <p:spPr>
          <a:xfrm>
            <a:off x="960120" y="4261104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A9769"/>
                </a:solidFill>
                <a:latin typeface="Arial"/>
                <a:ea typeface="Arial"/>
                <a:cs typeface="Arial"/>
                <a:sym typeface="Arial"/>
              </a:rPr>
              <a:t>REAL: 0.00003 → REAL 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20"/>
          <p:cNvSpPr txBox="1"/>
          <p:nvPr/>
        </p:nvSpPr>
        <p:spPr>
          <a:xfrm>
            <a:off x="3913632" y="4261104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FAKE: 0.8717 → FAKE 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20"/>
          <p:cNvSpPr txBox="1"/>
          <p:nvPr/>
        </p:nvSpPr>
        <p:spPr>
          <a:xfrm>
            <a:off x="960120" y="4773168"/>
            <a:ext cx="5943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32 evenly spaced frames per video, one face from each; P(fake) is their average. The first video took 18 s because it also loaded the face detector.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0"/>
          <p:cNvSpPr/>
          <p:nvPr/>
        </p:nvSpPr>
        <p:spPr>
          <a:xfrm>
            <a:off x="7818120" y="1828800"/>
            <a:ext cx="1572768" cy="10241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0"/>
          <p:cNvSpPr/>
          <p:nvPr/>
        </p:nvSpPr>
        <p:spPr>
          <a:xfrm>
            <a:off x="7818120" y="1828800"/>
            <a:ext cx="64008" cy="1024128"/>
          </a:xfrm>
          <a:prstGeom prst="rect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0"/>
          <p:cNvSpPr txBox="1"/>
          <p:nvPr/>
        </p:nvSpPr>
        <p:spPr>
          <a:xfrm>
            <a:off x="8037576" y="1938528"/>
            <a:ext cx="12435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REAL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20"/>
          <p:cNvSpPr txBox="1"/>
          <p:nvPr/>
        </p:nvSpPr>
        <p:spPr>
          <a:xfrm>
            <a:off x="8037576" y="2340864"/>
            <a:ext cx="12435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demo 1 correct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0"/>
          <p:cNvSpPr/>
          <p:nvPr/>
        </p:nvSpPr>
        <p:spPr>
          <a:xfrm>
            <a:off x="9646920" y="1828800"/>
            <a:ext cx="1572768" cy="10241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0"/>
          <p:cNvSpPr/>
          <p:nvPr/>
        </p:nvSpPr>
        <p:spPr>
          <a:xfrm>
            <a:off x="9646920" y="1828800"/>
            <a:ext cx="64008" cy="1024128"/>
          </a:xfrm>
          <a:prstGeom prst="rect">
            <a:avLst/>
          </a:prstGeom>
          <a:solidFill>
            <a:srgbClr val="F567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0"/>
          <p:cNvSpPr txBox="1"/>
          <p:nvPr/>
        </p:nvSpPr>
        <p:spPr>
          <a:xfrm>
            <a:off x="9866376" y="1938528"/>
            <a:ext cx="12435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FAKE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20"/>
          <p:cNvSpPr txBox="1"/>
          <p:nvPr/>
        </p:nvSpPr>
        <p:spPr>
          <a:xfrm>
            <a:off x="9866376" y="2340864"/>
            <a:ext cx="12435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demo 2 correct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20"/>
          <p:cNvSpPr/>
          <p:nvPr/>
        </p:nvSpPr>
        <p:spPr>
          <a:xfrm>
            <a:off x="7818120" y="3108960"/>
            <a:ext cx="1572768" cy="10241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0"/>
          <p:cNvSpPr/>
          <p:nvPr/>
        </p:nvSpPr>
        <p:spPr>
          <a:xfrm>
            <a:off x="7818120" y="3108960"/>
            <a:ext cx="64008" cy="1024128"/>
          </a:xfrm>
          <a:prstGeom prst="rect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0"/>
          <p:cNvSpPr txBox="1"/>
          <p:nvPr/>
        </p:nvSpPr>
        <p:spPr>
          <a:xfrm>
            <a:off x="8037576" y="3218688"/>
            <a:ext cx="12435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20"/>
          <p:cNvSpPr txBox="1"/>
          <p:nvPr/>
        </p:nvSpPr>
        <p:spPr>
          <a:xfrm>
            <a:off x="8037576" y="3621024"/>
            <a:ext cx="12435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frames checked per video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20"/>
          <p:cNvSpPr/>
          <p:nvPr/>
        </p:nvSpPr>
        <p:spPr>
          <a:xfrm>
            <a:off x="9646920" y="3108960"/>
            <a:ext cx="1572768" cy="10241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0"/>
          <p:cNvSpPr/>
          <p:nvPr/>
        </p:nvSpPr>
        <p:spPr>
          <a:xfrm>
            <a:off x="9646920" y="3108960"/>
            <a:ext cx="64008" cy="1024128"/>
          </a:xfrm>
          <a:prstGeom prst="rect">
            <a:avLst/>
          </a:prstGeom>
          <a:solidFill>
            <a:srgbClr val="2A96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0"/>
          <p:cNvSpPr txBox="1"/>
          <p:nvPr/>
        </p:nvSpPr>
        <p:spPr>
          <a:xfrm>
            <a:off x="9866376" y="3218688"/>
            <a:ext cx="12435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1.6 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20"/>
          <p:cNvSpPr txBox="1"/>
          <p:nvPr/>
        </p:nvSpPr>
        <p:spPr>
          <a:xfrm>
            <a:off x="9866376" y="3621024"/>
            <a:ext cx="12435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per video after warm-up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0"/>
          <p:cNvSpPr/>
          <p:nvPr/>
        </p:nvSpPr>
        <p:spPr>
          <a:xfrm>
            <a:off x="7818120" y="4480560"/>
            <a:ext cx="3401568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0"/>
          <p:cNvSpPr txBox="1"/>
          <p:nvPr/>
        </p:nvSpPr>
        <p:spPr>
          <a:xfrm>
            <a:off x="8065008" y="4700016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PROCESSING 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20"/>
          <p:cNvSpPr txBox="1"/>
          <p:nvPr/>
        </p:nvSpPr>
        <p:spPr>
          <a:xfrm>
            <a:off x="8065008" y="502920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Video → faces → scores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20"/>
          <p:cNvSpPr txBox="1"/>
          <p:nvPr/>
        </p:nvSpPr>
        <p:spPr>
          <a:xfrm>
            <a:off x="8065008" y="5330952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→ average → REAL / FAKE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85" name="Google Shape;585;p20"/>
          <p:cNvGraphicFramePr/>
          <p:nvPr/>
        </p:nvGraphicFramePr>
        <p:xfrm>
          <a:off x="1024128" y="296265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{7818308C-96FD-40AC-9B7E-A86C079216B4}</a:tableStyleId>
              </a:tblPr>
              <a:tblGrid>
                <a:gridCol w="1920250"/>
                <a:gridCol w="777250"/>
                <a:gridCol w="731525"/>
                <a:gridCol w="960125"/>
                <a:gridCol w="1005850"/>
                <a:gridCol w="731525"/>
              </a:tblGrid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Video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Truth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Faces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P(fake)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Prediction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Time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id49_0000.mp4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0.00003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18.0 s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id49_id50_0000.mp4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FAKE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0.8717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FAKE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1.6 s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21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3 — EVALUATION AND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21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Speed check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1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Model speed and complete-video time are measured separately.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21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1"/>
          <p:cNvSpPr/>
          <p:nvPr/>
        </p:nvSpPr>
        <p:spPr>
          <a:xfrm>
            <a:off x="914400" y="2011680"/>
            <a:ext cx="4709160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1"/>
          <p:cNvSpPr/>
          <p:nvPr/>
        </p:nvSpPr>
        <p:spPr>
          <a:xfrm>
            <a:off x="914400" y="2011680"/>
            <a:ext cx="64008" cy="1371600"/>
          </a:xfrm>
          <a:prstGeom prst="rect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1"/>
          <p:cNvSpPr txBox="1"/>
          <p:nvPr/>
        </p:nvSpPr>
        <p:spPr>
          <a:xfrm>
            <a:off x="1133856" y="2121408"/>
            <a:ext cx="4379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575 images/sec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21"/>
          <p:cNvSpPr txBox="1"/>
          <p:nvPr/>
        </p:nvSpPr>
        <p:spPr>
          <a:xfrm>
            <a:off x="1133856" y="2523744"/>
            <a:ext cx="4379976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ConvNeXt-Tiny, GPU only, batches of 64 prepared face images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21"/>
          <p:cNvSpPr/>
          <p:nvPr/>
        </p:nvSpPr>
        <p:spPr>
          <a:xfrm>
            <a:off x="6565392" y="2011680"/>
            <a:ext cx="4709160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1"/>
          <p:cNvSpPr/>
          <p:nvPr/>
        </p:nvSpPr>
        <p:spPr>
          <a:xfrm>
            <a:off x="6565392" y="2011680"/>
            <a:ext cx="64008" cy="1371600"/>
          </a:xfrm>
          <a:prstGeom prst="rect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1"/>
          <p:cNvSpPr txBox="1"/>
          <p:nvPr/>
        </p:nvSpPr>
        <p:spPr>
          <a:xfrm>
            <a:off x="6784848" y="2121408"/>
            <a:ext cx="4379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~1.6 sec/video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21"/>
          <p:cNvSpPr txBox="1"/>
          <p:nvPr/>
        </p:nvSpPr>
        <p:spPr>
          <a:xfrm>
            <a:off x="6784848" y="2523744"/>
            <a:ext cx="4379976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complete demo: face finding + model prediction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21"/>
          <p:cNvSpPr/>
          <p:nvPr/>
        </p:nvSpPr>
        <p:spPr>
          <a:xfrm>
            <a:off x="914400" y="3931920"/>
            <a:ext cx="10360152" cy="141732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1"/>
          <p:cNvSpPr txBox="1"/>
          <p:nvPr/>
        </p:nvSpPr>
        <p:spPr>
          <a:xfrm>
            <a:off x="1170432" y="4169663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RUNTIME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21"/>
          <p:cNvSpPr txBox="1"/>
          <p:nvPr/>
        </p:nvSpPr>
        <p:spPr>
          <a:xfrm>
            <a:off x="1170432" y="4498848"/>
            <a:ext cx="9509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Python timers measure the processing duration.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21"/>
          <p:cNvSpPr txBox="1"/>
          <p:nvPr/>
        </p:nvSpPr>
        <p:spPr>
          <a:xfrm>
            <a:off x="1170432" y="4937760"/>
            <a:ext cx="9509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Model speed excludes face detection: from 318 (CLIP) to 1,440 (EfficientNet-B0) images/sec across the seven models.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2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PROJECT STATUS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22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Completed 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22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The implementation covers the full pipeline and a seven-model comparison.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22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2"/>
          <p:cNvSpPr/>
          <p:nvPr/>
        </p:nvSpPr>
        <p:spPr>
          <a:xfrm>
            <a:off x="749808" y="1856231"/>
            <a:ext cx="33375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2"/>
          <p:cNvSpPr/>
          <p:nvPr/>
        </p:nvSpPr>
        <p:spPr>
          <a:xfrm>
            <a:off x="950976" y="2130551"/>
            <a:ext cx="420624" cy="420624"/>
          </a:xfrm>
          <a:prstGeom prst="ellipse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2"/>
          <p:cNvSpPr txBox="1"/>
          <p:nvPr/>
        </p:nvSpPr>
        <p:spPr>
          <a:xfrm>
            <a:off x="950976" y="2130551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2"/>
          <p:cNvSpPr txBox="1"/>
          <p:nvPr/>
        </p:nvSpPr>
        <p:spPr>
          <a:xfrm>
            <a:off x="1536192" y="203911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Dataset prepared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22"/>
          <p:cNvSpPr txBox="1"/>
          <p:nvPr/>
        </p:nvSpPr>
        <p:spPr>
          <a:xfrm>
            <a:off x="1536192" y="2377439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6,529 videos checked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22"/>
          <p:cNvSpPr/>
          <p:nvPr/>
        </p:nvSpPr>
        <p:spPr>
          <a:xfrm>
            <a:off x="4407408" y="1856231"/>
            <a:ext cx="33375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2"/>
          <p:cNvSpPr/>
          <p:nvPr/>
        </p:nvSpPr>
        <p:spPr>
          <a:xfrm>
            <a:off x="4608576" y="2130551"/>
            <a:ext cx="420624" cy="420624"/>
          </a:xfrm>
          <a:prstGeom prst="ellipse">
            <a:avLst/>
          </a:prstGeom>
          <a:solidFill>
            <a:srgbClr val="2A96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2"/>
          <p:cNvSpPr txBox="1"/>
          <p:nvPr/>
        </p:nvSpPr>
        <p:spPr>
          <a:xfrm>
            <a:off x="4608576" y="2130551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22"/>
          <p:cNvSpPr txBox="1"/>
          <p:nvPr/>
        </p:nvSpPr>
        <p:spPr>
          <a:xfrm>
            <a:off x="5193792" y="203911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Faces prepared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22"/>
          <p:cNvSpPr txBox="1"/>
          <p:nvPr/>
        </p:nvSpPr>
        <p:spPr>
          <a:xfrm>
            <a:off x="5193792" y="2377439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73,429 face images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22"/>
          <p:cNvSpPr/>
          <p:nvPr/>
        </p:nvSpPr>
        <p:spPr>
          <a:xfrm>
            <a:off x="8065008" y="1856231"/>
            <a:ext cx="33375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2"/>
          <p:cNvSpPr/>
          <p:nvPr/>
        </p:nvSpPr>
        <p:spPr>
          <a:xfrm>
            <a:off x="8266176" y="2130551"/>
            <a:ext cx="420624" cy="420624"/>
          </a:xfrm>
          <a:prstGeom prst="ellipse">
            <a:avLst/>
          </a:prstGeom>
          <a:solidFill>
            <a:srgbClr val="F567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2"/>
          <p:cNvSpPr txBox="1"/>
          <p:nvPr/>
        </p:nvSpPr>
        <p:spPr>
          <a:xfrm>
            <a:off x="8266176" y="2130551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22"/>
          <p:cNvSpPr txBox="1"/>
          <p:nvPr/>
        </p:nvSpPr>
        <p:spPr>
          <a:xfrm>
            <a:off x="8851392" y="203911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Models trained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22"/>
          <p:cNvSpPr txBox="1"/>
          <p:nvPr/>
        </p:nvSpPr>
        <p:spPr>
          <a:xfrm>
            <a:off x="8851392" y="2377439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7 models compared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22"/>
          <p:cNvSpPr/>
          <p:nvPr/>
        </p:nvSpPr>
        <p:spPr>
          <a:xfrm>
            <a:off x="749808" y="3273552"/>
            <a:ext cx="33375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2"/>
          <p:cNvSpPr/>
          <p:nvPr/>
        </p:nvSpPr>
        <p:spPr>
          <a:xfrm>
            <a:off x="950976" y="3547872"/>
            <a:ext cx="420624" cy="420624"/>
          </a:xfrm>
          <a:prstGeom prst="ellipse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2"/>
          <p:cNvSpPr txBox="1"/>
          <p:nvPr/>
        </p:nvSpPr>
        <p:spPr>
          <a:xfrm>
            <a:off x="950976" y="354787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22"/>
          <p:cNvSpPr txBox="1"/>
          <p:nvPr/>
        </p:nvSpPr>
        <p:spPr>
          <a:xfrm>
            <a:off x="1536192" y="345643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Models evaluated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22"/>
          <p:cNvSpPr txBox="1"/>
          <p:nvPr/>
        </p:nvSpPr>
        <p:spPr>
          <a:xfrm>
            <a:off x="1536192" y="379476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809 + 518 videos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22"/>
          <p:cNvSpPr/>
          <p:nvPr/>
        </p:nvSpPr>
        <p:spPr>
          <a:xfrm>
            <a:off x="4407408" y="3273552"/>
            <a:ext cx="33375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2"/>
          <p:cNvSpPr/>
          <p:nvPr/>
        </p:nvSpPr>
        <p:spPr>
          <a:xfrm>
            <a:off x="4608576" y="3547872"/>
            <a:ext cx="420624" cy="420624"/>
          </a:xfrm>
          <a:prstGeom prst="ellipse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2"/>
          <p:cNvSpPr txBox="1"/>
          <p:nvPr/>
        </p:nvSpPr>
        <p:spPr>
          <a:xfrm>
            <a:off x="4608576" y="354787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22"/>
          <p:cNvSpPr txBox="1"/>
          <p:nvPr/>
        </p:nvSpPr>
        <p:spPr>
          <a:xfrm>
            <a:off x="5193792" y="345643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Results reviewed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22"/>
          <p:cNvSpPr txBox="1"/>
          <p:nvPr/>
        </p:nvSpPr>
        <p:spPr>
          <a:xfrm>
            <a:off x="5193792" y="379476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AUC + robustness + Grad-CAM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22"/>
          <p:cNvSpPr/>
          <p:nvPr/>
        </p:nvSpPr>
        <p:spPr>
          <a:xfrm>
            <a:off x="8065008" y="3273552"/>
            <a:ext cx="33375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2"/>
          <p:cNvSpPr/>
          <p:nvPr/>
        </p:nvSpPr>
        <p:spPr>
          <a:xfrm>
            <a:off x="8266176" y="3547872"/>
            <a:ext cx="420624" cy="420624"/>
          </a:xfrm>
          <a:prstGeom prst="ellipse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2"/>
          <p:cNvSpPr txBox="1"/>
          <p:nvPr/>
        </p:nvSpPr>
        <p:spPr>
          <a:xfrm>
            <a:off x="8266176" y="354787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22"/>
          <p:cNvSpPr txBox="1"/>
          <p:nvPr/>
        </p:nvSpPr>
        <p:spPr>
          <a:xfrm>
            <a:off x="8851392" y="345643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Demo completed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22"/>
          <p:cNvSpPr txBox="1"/>
          <p:nvPr/>
        </p:nvSpPr>
        <p:spPr>
          <a:xfrm>
            <a:off x="8851392" y="379476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ConvNeXt-Tiny: video → result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22"/>
          <p:cNvSpPr/>
          <p:nvPr/>
        </p:nvSpPr>
        <p:spPr>
          <a:xfrm>
            <a:off x="749808" y="4965192"/>
            <a:ext cx="10652760" cy="868680"/>
          </a:xfrm>
          <a:prstGeom prst="roundRect">
            <a:avLst>
              <a:gd fmla="val 16667" name="adj"/>
            </a:avLst>
          </a:prstGeom>
          <a:solidFill>
            <a:srgbClr val="121E34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2"/>
          <p:cNvSpPr txBox="1"/>
          <p:nvPr/>
        </p:nvSpPr>
        <p:spPr>
          <a:xfrm>
            <a:off x="1005840" y="5166360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CONVNEXT-TINY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22"/>
          <p:cNvSpPr txBox="1"/>
          <p:nvPr/>
        </p:nvSpPr>
        <p:spPr>
          <a:xfrm>
            <a:off x="2880360" y="507492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0.9999 holdout AUC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22"/>
          <p:cNvSpPr txBox="1"/>
          <p:nvPr/>
        </p:nvSpPr>
        <p:spPr>
          <a:xfrm>
            <a:off x="6510528" y="5074920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98.15% holdout accuracy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35"/>
          <p:cNvSpPr txBox="1"/>
          <p:nvPr/>
        </p:nvSpPr>
        <p:spPr>
          <a:xfrm>
            <a:off x="329184" y="73152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5B37"/>
                </a:solidFill>
                <a:latin typeface="Arial"/>
                <a:ea typeface="Arial"/>
                <a:cs typeface="Arial"/>
                <a:sym typeface="Arial"/>
              </a:rPr>
              <a:t>MY UPDATE</a:t>
            </a:r>
            <a:endParaRPr/>
          </a:p>
        </p:txBody>
      </p:sp>
      <p:sp>
        <p:nvSpPr>
          <p:cNvPr id="653" name="Google Shape;653;p35"/>
          <p:cNvSpPr txBox="1"/>
          <p:nvPr/>
        </p:nvSpPr>
        <p:spPr>
          <a:xfrm>
            <a:off x="329184" y="310896"/>
            <a:ext cx="11247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What I changed for the low-resolution test</a:t>
            </a:r>
            <a:endParaRPr/>
          </a:p>
        </p:txBody>
      </p:sp>
      <p:sp>
        <p:nvSpPr>
          <p:cNvPr id="654" name="Google Shape;654;p35"/>
          <p:cNvSpPr txBox="1"/>
          <p:nvPr/>
        </p:nvSpPr>
        <p:spPr>
          <a:xfrm>
            <a:off x="329184" y="749808"/>
            <a:ext cx="11247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The goal was simple: use more frames and check whether enhancement actually improves low-quality videos.</a:t>
            </a:r>
            <a:endParaRPr/>
          </a:p>
        </p:txBody>
      </p:sp>
      <p:sp>
        <p:nvSpPr>
          <p:cNvPr id="655" name="Google Shape;655;p35"/>
          <p:cNvSpPr/>
          <p:nvPr/>
        </p:nvSpPr>
        <p:spPr>
          <a:xfrm>
            <a:off x="329184" y="1042415"/>
            <a:ext cx="11503152" cy="32004"/>
          </a:xfrm>
          <a:prstGeom prst="rect">
            <a:avLst/>
          </a:prstGeom>
          <a:solidFill>
            <a:srgbClr val="CFD8E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56" name="Google Shape;656;p35"/>
          <p:cNvGraphicFramePr/>
          <p:nvPr/>
        </p:nvGraphicFramePr>
        <p:xfrm>
          <a:off x="594360" y="13075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{2338D9DC-F09C-46F0-9EA9-D6A716EAE88F}</a:tableStyleId>
              </a:tblPr>
              <a:tblGrid>
                <a:gridCol w="2518800"/>
                <a:gridCol w="3663700"/>
                <a:gridCol w="4808600"/>
              </a:tblGrid>
              <a:tr h="563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6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 area</a:t>
                      </a:r>
                      <a:endParaRPr/>
                    </a:p>
                  </a:txBody>
                  <a:tcPr marT="9150" marB="9150" marR="27425" marL="27425" anchor="ctr">
                    <a:solidFill>
                      <a:srgbClr val="1123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6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Previous approach</a:t>
                      </a:r>
                      <a:endParaRPr/>
                    </a:p>
                  </a:txBody>
                  <a:tcPr marT="9150" marB="9150" marR="27425" marL="27425" anchor="ctr">
                    <a:solidFill>
                      <a:srgbClr val="1123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6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Updated test</a:t>
                      </a:r>
                      <a:endParaRPr/>
                    </a:p>
                  </a:txBody>
                  <a:tcPr marT="9150" marB="9150" marR="27425" marL="27425" anchor="ctr">
                    <a:solidFill>
                      <a:srgbClr val="11233C"/>
                    </a:solidFill>
                  </a:tcPr>
                </a:tc>
              </a:tr>
              <a:tr h="563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30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Frames checked</a:t>
                      </a:r>
                      <a:endParaRPr/>
                    </a:p>
                  </a:txBody>
                  <a:tcPr marT="9150" marB="9150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30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 frames</a:t>
                      </a:r>
                      <a:endParaRPr/>
                    </a:p>
                  </a:txBody>
                  <a:tcPr marT="9150" marB="9150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30" u="none" cap="none" strike="noStrike">
                          <a:solidFill>
                            <a:srgbClr val="14A0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 frames per video</a:t>
                      </a:r>
                      <a:endParaRPr/>
                    </a:p>
                  </a:txBody>
                  <a:tcPr marT="9150" marB="9150" marR="27425" marL="27425" anchor="ctr">
                    <a:solidFill>
                      <a:srgbClr val="FFFFFF"/>
                    </a:solidFill>
                  </a:tcPr>
                </a:tc>
              </a:tr>
              <a:tr h="563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30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Video quality</a:t>
                      </a:r>
                      <a:endParaRPr/>
                    </a:p>
                  </a:txBody>
                  <a:tcPr marT="9150" marB="9150" marR="27425" marL="27425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30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Normal / high quality</a:t>
                      </a:r>
                      <a:endParaRPr/>
                    </a:p>
                  </a:txBody>
                  <a:tcPr marT="9150" marB="9150" marR="27425" marL="27425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30" u="none" cap="none" strike="noStrike">
                          <a:solidFill>
                            <a:srgbClr val="14A0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Low-resolution videos included</a:t>
                      </a:r>
                      <a:endParaRPr/>
                    </a:p>
                  </a:txBody>
                  <a:tcPr marT="9150" marB="9150" marR="27425" marL="27425" anchor="ctr">
                    <a:solidFill>
                      <a:srgbClr val="F5F8FA"/>
                    </a:solidFill>
                  </a:tcPr>
                </a:tc>
              </a:tr>
              <a:tr h="563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30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Enhancement check</a:t>
                      </a:r>
                      <a:endParaRPr/>
                    </a:p>
                  </a:txBody>
                  <a:tcPr marT="9150" marB="9150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30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Limited comparison</a:t>
                      </a:r>
                      <a:endParaRPr/>
                    </a:p>
                  </a:txBody>
                  <a:tcPr marT="9150" marB="9150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30" u="none" cap="none" strike="noStrike">
                          <a:solidFill>
                            <a:srgbClr val="14A0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Original vs Enhanced</a:t>
                      </a:r>
                      <a:endParaRPr/>
                    </a:p>
                  </a:txBody>
                  <a:tcPr marT="9150" marB="9150" marR="27425" marL="27425" anchor="ctr">
                    <a:solidFill>
                      <a:srgbClr val="FFFFFF"/>
                    </a:solidFill>
                  </a:tcPr>
                </a:tc>
              </a:tr>
              <a:tr h="563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30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Kaggle test</a:t>
                      </a:r>
                      <a:endParaRPr/>
                    </a:p>
                  </a:txBody>
                  <a:tcPr marT="9150" marB="9150" marR="27425" marL="27425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30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Single example</a:t>
                      </a:r>
                      <a:endParaRPr/>
                    </a:p>
                  </a:txBody>
                  <a:tcPr marT="9150" marB="9150" marR="27425" marL="27425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30" u="none" cap="none" strike="noStrike">
                          <a:solidFill>
                            <a:srgbClr val="14A0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 different REAL low-resolution videos</a:t>
                      </a:r>
                      <a:endParaRPr/>
                    </a:p>
                  </a:txBody>
                  <a:tcPr marT="9150" marB="9150" marR="27425" marL="27425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657" name="Google Shape;657;p35"/>
          <p:cNvSpPr/>
          <p:nvPr/>
        </p:nvSpPr>
        <p:spPr>
          <a:xfrm>
            <a:off x="658368" y="4370832"/>
            <a:ext cx="3273552" cy="9875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35"/>
          <p:cNvSpPr/>
          <p:nvPr/>
        </p:nvSpPr>
        <p:spPr>
          <a:xfrm>
            <a:off x="658368" y="4370832"/>
            <a:ext cx="64008" cy="987552"/>
          </a:xfrm>
          <a:prstGeom prst="rect">
            <a:avLst/>
          </a:prstGeom>
          <a:solidFill>
            <a:srgbClr val="26AE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35"/>
          <p:cNvSpPr txBox="1"/>
          <p:nvPr/>
        </p:nvSpPr>
        <p:spPr>
          <a:xfrm>
            <a:off x="822959" y="4425696"/>
            <a:ext cx="30175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WHY 64 FRAMES</a:t>
            </a:r>
            <a:endParaRPr/>
          </a:p>
        </p:txBody>
      </p:sp>
      <p:sp>
        <p:nvSpPr>
          <p:cNvPr id="660" name="Google Shape;660;p35"/>
          <p:cNvSpPr txBox="1"/>
          <p:nvPr/>
        </p:nvSpPr>
        <p:spPr>
          <a:xfrm>
            <a:off x="822959" y="4608576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More coverage</a:t>
            </a:r>
            <a:endParaRPr/>
          </a:p>
        </p:txBody>
      </p:sp>
      <p:sp>
        <p:nvSpPr>
          <p:cNvPr id="661" name="Google Shape;661;p35"/>
          <p:cNvSpPr txBox="1"/>
          <p:nvPr/>
        </p:nvSpPr>
        <p:spPr>
          <a:xfrm>
            <a:off x="822959" y="4892040"/>
            <a:ext cx="301752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More moments from each video are reviewed</a:t>
            </a:r>
            <a:endParaRPr/>
          </a:p>
        </p:txBody>
      </p:sp>
      <p:sp>
        <p:nvSpPr>
          <p:cNvPr id="662" name="Google Shape;662;p35"/>
          <p:cNvSpPr/>
          <p:nvPr/>
        </p:nvSpPr>
        <p:spPr>
          <a:xfrm>
            <a:off x="4462272" y="4370832"/>
            <a:ext cx="3273552" cy="9875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35"/>
          <p:cNvSpPr/>
          <p:nvPr/>
        </p:nvSpPr>
        <p:spPr>
          <a:xfrm>
            <a:off x="4462272" y="4370832"/>
            <a:ext cx="64008" cy="987552"/>
          </a:xfrm>
          <a:prstGeom prst="rect">
            <a:avLst/>
          </a:prstGeom>
          <a:solidFill>
            <a:srgbClr val="FF5B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35"/>
          <p:cNvSpPr txBox="1"/>
          <p:nvPr/>
        </p:nvSpPr>
        <p:spPr>
          <a:xfrm>
            <a:off x="4626864" y="4425696"/>
            <a:ext cx="30175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WHY LOW RESOLUTION</a:t>
            </a:r>
            <a:endParaRPr/>
          </a:p>
        </p:txBody>
      </p:sp>
      <p:sp>
        <p:nvSpPr>
          <p:cNvPr id="665" name="Google Shape;665;p35"/>
          <p:cNvSpPr txBox="1"/>
          <p:nvPr/>
        </p:nvSpPr>
        <p:spPr>
          <a:xfrm>
            <a:off x="4626864" y="4608576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Harder input</a:t>
            </a:r>
            <a:endParaRPr/>
          </a:p>
        </p:txBody>
      </p:sp>
      <p:sp>
        <p:nvSpPr>
          <p:cNvPr id="666" name="Google Shape;666;p35"/>
          <p:cNvSpPr txBox="1"/>
          <p:nvPr/>
        </p:nvSpPr>
        <p:spPr>
          <a:xfrm>
            <a:off x="4626864" y="4892040"/>
            <a:ext cx="301752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Checks performance on poorer video quality</a:t>
            </a:r>
            <a:endParaRPr/>
          </a:p>
        </p:txBody>
      </p:sp>
      <p:sp>
        <p:nvSpPr>
          <p:cNvPr id="667" name="Google Shape;667;p35"/>
          <p:cNvSpPr/>
          <p:nvPr/>
        </p:nvSpPr>
        <p:spPr>
          <a:xfrm>
            <a:off x="8266175" y="4370832"/>
            <a:ext cx="3273552" cy="9875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35"/>
          <p:cNvSpPr/>
          <p:nvPr/>
        </p:nvSpPr>
        <p:spPr>
          <a:xfrm>
            <a:off x="8266175" y="4370832"/>
            <a:ext cx="64008" cy="987552"/>
          </a:xfrm>
          <a:prstGeom prst="rect">
            <a:avLst/>
          </a:prstGeom>
          <a:solidFill>
            <a:srgbClr val="14A0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35"/>
          <p:cNvSpPr txBox="1"/>
          <p:nvPr/>
        </p:nvSpPr>
        <p:spPr>
          <a:xfrm>
            <a:off x="8430767" y="4425696"/>
            <a:ext cx="30175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WHY ENHANCE</a:t>
            </a:r>
            <a:endParaRPr/>
          </a:p>
        </p:txBody>
      </p:sp>
      <p:sp>
        <p:nvSpPr>
          <p:cNvPr id="670" name="Google Shape;670;p35"/>
          <p:cNvSpPr txBox="1"/>
          <p:nvPr/>
        </p:nvSpPr>
        <p:spPr>
          <a:xfrm>
            <a:off x="8430767" y="4608576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Measure benefit</a:t>
            </a:r>
            <a:endParaRPr/>
          </a:p>
        </p:txBody>
      </p:sp>
      <p:sp>
        <p:nvSpPr>
          <p:cNvPr id="671" name="Google Shape;671;p35"/>
          <p:cNvSpPr txBox="1"/>
          <p:nvPr/>
        </p:nvSpPr>
        <p:spPr>
          <a:xfrm>
            <a:off x="8430767" y="4892040"/>
            <a:ext cx="301752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Compare confidence before and after</a:t>
            </a:r>
            <a:endParaRPr/>
          </a:p>
        </p:txBody>
      </p:sp>
      <p:sp>
        <p:nvSpPr>
          <p:cNvPr id="672" name="Google Shape;672;p35"/>
          <p:cNvSpPr/>
          <p:nvPr/>
        </p:nvSpPr>
        <p:spPr>
          <a:xfrm>
            <a:off x="502920" y="5559552"/>
            <a:ext cx="11183112" cy="621792"/>
          </a:xfrm>
          <a:prstGeom prst="roundRect">
            <a:avLst>
              <a:gd fmla="val 16667" name="adj"/>
            </a:avLst>
          </a:prstGeom>
          <a:solidFill>
            <a:srgbClr val="EBF8F3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35"/>
          <p:cNvSpPr txBox="1"/>
          <p:nvPr/>
        </p:nvSpPr>
        <p:spPr>
          <a:xfrm>
            <a:off x="713232" y="5632704"/>
            <a:ext cx="10762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7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Main question: does enhancement improve the result, or is the original low-resolution video already sufficient?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36"/>
          <p:cNvSpPr txBox="1"/>
          <p:nvPr/>
        </p:nvSpPr>
        <p:spPr>
          <a:xfrm>
            <a:off x="329184" y="73152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5B37"/>
                </a:solidFill>
                <a:latin typeface="Arial"/>
                <a:ea typeface="Arial"/>
                <a:cs typeface="Arial"/>
                <a:sym typeface="Arial"/>
              </a:rPr>
              <a:t>FACE OUTPUT</a:t>
            </a:r>
            <a:endParaRPr/>
          </a:p>
        </p:txBody>
      </p:sp>
      <p:sp>
        <p:nvSpPr>
          <p:cNvPr id="679" name="Google Shape;679;p36"/>
          <p:cNvSpPr txBox="1"/>
          <p:nvPr/>
        </p:nvSpPr>
        <p:spPr>
          <a:xfrm>
            <a:off x="329184" y="310896"/>
            <a:ext cx="11247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What the model actually saw</a:t>
            </a:r>
            <a:endParaRPr/>
          </a:p>
        </p:txBody>
      </p:sp>
      <p:sp>
        <p:nvSpPr>
          <p:cNvPr id="680" name="Google Shape;680;p36"/>
          <p:cNvSpPr txBox="1"/>
          <p:nvPr/>
        </p:nvSpPr>
        <p:spPr>
          <a:xfrm>
            <a:off x="329184" y="749808"/>
            <a:ext cx="11247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Example extracted face frames from each low-resolution REAL video, before and after enhancement.</a:t>
            </a:r>
            <a:endParaRPr/>
          </a:p>
        </p:txBody>
      </p:sp>
      <p:sp>
        <p:nvSpPr>
          <p:cNvPr id="681" name="Google Shape;681;p36"/>
          <p:cNvSpPr/>
          <p:nvPr/>
        </p:nvSpPr>
        <p:spPr>
          <a:xfrm>
            <a:off x="329184" y="1042415"/>
            <a:ext cx="11503152" cy="32004"/>
          </a:xfrm>
          <a:prstGeom prst="rect">
            <a:avLst/>
          </a:prstGeom>
          <a:solidFill>
            <a:srgbClr val="CFD8E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36"/>
          <p:cNvSpPr txBox="1"/>
          <p:nvPr/>
        </p:nvSpPr>
        <p:spPr>
          <a:xfrm>
            <a:off x="502920" y="1234440"/>
            <a:ext cx="3154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REAL Low 1  •  348 × 500</a:t>
            </a:r>
            <a:endParaRPr/>
          </a:p>
        </p:txBody>
      </p:sp>
      <p:sp>
        <p:nvSpPr>
          <p:cNvPr id="683" name="Google Shape;683;p36"/>
          <p:cNvSpPr txBox="1"/>
          <p:nvPr/>
        </p:nvSpPr>
        <p:spPr>
          <a:xfrm>
            <a:off x="502920" y="1517904"/>
            <a:ext cx="15179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ORIGINAL</a:t>
            </a:r>
            <a:endParaRPr/>
          </a:p>
        </p:txBody>
      </p:sp>
      <p:sp>
        <p:nvSpPr>
          <p:cNvPr id="684" name="Google Shape;684;p36"/>
          <p:cNvSpPr txBox="1"/>
          <p:nvPr/>
        </p:nvSpPr>
        <p:spPr>
          <a:xfrm>
            <a:off x="2139696" y="1517904"/>
            <a:ext cx="15179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ENHANCED</a:t>
            </a:r>
            <a:endParaRPr/>
          </a:p>
        </p:txBody>
      </p:sp>
      <p:sp>
        <p:nvSpPr>
          <p:cNvPr id="685" name="Google Shape;685;p36"/>
          <p:cNvSpPr/>
          <p:nvPr/>
        </p:nvSpPr>
        <p:spPr>
          <a:xfrm>
            <a:off x="502920" y="1746504"/>
            <a:ext cx="1517904" cy="1975104"/>
          </a:xfrm>
          <a:prstGeom prst="roundRect">
            <a:avLst>
              <a:gd fmla="val 16667" name="adj"/>
            </a:avLst>
          </a:prstGeom>
          <a:solidFill>
            <a:srgbClr val="F5F8FA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686" name="Google Shape;68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072" y="1828800"/>
            <a:ext cx="1371600" cy="1737360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36"/>
          <p:cNvSpPr/>
          <p:nvPr/>
        </p:nvSpPr>
        <p:spPr>
          <a:xfrm>
            <a:off x="2139696" y="1746504"/>
            <a:ext cx="1517904" cy="1975104"/>
          </a:xfrm>
          <a:prstGeom prst="roundRect">
            <a:avLst>
              <a:gd fmla="val 16667" name="adj"/>
            </a:avLst>
          </a:prstGeom>
          <a:solidFill>
            <a:srgbClr val="F5F8FA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688" name="Google Shape;688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12848" y="1828800"/>
            <a:ext cx="1371600" cy="1737360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36"/>
          <p:cNvSpPr txBox="1"/>
          <p:nvPr/>
        </p:nvSpPr>
        <p:spPr>
          <a:xfrm>
            <a:off x="502920" y="3803904"/>
            <a:ext cx="3154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64 / 64 faces found in Original and Enhanced</a:t>
            </a:r>
            <a:endParaRPr/>
          </a:p>
        </p:txBody>
      </p:sp>
      <p:sp>
        <p:nvSpPr>
          <p:cNvPr id="690" name="Google Shape;690;p36"/>
          <p:cNvSpPr txBox="1"/>
          <p:nvPr/>
        </p:nvSpPr>
        <p:spPr>
          <a:xfrm>
            <a:off x="4178808" y="1234440"/>
            <a:ext cx="3154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REAL Low 2  •  456 × 500</a:t>
            </a:r>
            <a:endParaRPr/>
          </a:p>
        </p:txBody>
      </p:sp>
      <p:sp>
        <p:nvSpPr>
          <p:cNvPr id="691" name="Google Shape;691;p36"/>
          <p:cNvSpPr txBox="1"/>
          <p:nvPr/>
        </p:nvSpPr>
        <p:spPr>
          <a:xfrm>
            <a:off x="4178808" y="1517904"/>
            <a:ext cx="15179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ORIGINAL</a:t>
            </a:r>
            <a:endParaRPr/>
          </a:p>
        </p:txBody>
      </p:sp>
      <p:sp>
        <p:nvSpPr>
          <p:cNvPr id="692" name="Google Shape;692;p36"/>
          <p:cNvSpPr txBox="1"/>
          <p:nvPr/>
        </p:nvSpPr>
        <p:spPr>
          <a:xfrm>
            <a:off x="5815584" y="1517904"/>
            <a:ext cx="15179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ENHANCED</a:t>
            </a:r>
            <a:endParaRPr/>
          </a:p>
        </p:txBody>
      </p:sp>
      <p:sp>
        <p:nvSpPr>
          <p:cNvPr id="693" name="Google Shape;693;p36"/>
          <p:cNvSpPr/>
          <p:nvPr/>
        </p:nvSpPr>
        <p:spPr>
          <a:xfrm>
            <a:off x="4178808" y="1746504"/>
            <a:ext cx="1517904" cy="1975104"/>
          </a:xfrm>
          <a:prstGeom prst="roundRect">
            <a:avLst>
              <a:gd fmla="val 16667" name="adj"/>
            </a:avLst>
          </a:prstGeom>
          <a:solidFill>
            <a:srgbClr val="F5F8FA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694" name="Google Shape;694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51960" y="1828800"/>
            <a:ext cx="1371600" cy="173736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36"/>
          <p:cNvSpPr/>
          <p:nvPr/>
        </p:nvSpPr>
        <p:spPr>
          <a:xfrm>
            <a:off x="5815584" y="1746504"/>
            <a:ext cx="1517904" cy="1975104"/>
          </a:xfrm>
          <a:prstGeom prst="roundRect">
            <a:avLst>
              <a:gd fmla="val 16667" name="adj"/>
            </a:avLst>
          </a:prstGeom>
          <a:solidFill>
            <a:srgbClr val="F5F8FA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696" name="Google Shape;696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88736" y="1828800"/>
            <a:ext cx="1371600" cy="1737360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36"/>
          <p:cNvSpPr txBox="1"/>
          <p:nvPr/>
        </p:nvSpPr>
        <p:spPr>
          <a:xfrm>
            <a:off x="4178808" y="3803904"/>
            <a:ext cx="3154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64 / 64 faces found in Original and Enhanced</a:t>
            </a:r>
            <a:endParaRPr/>
          </a:p>
        </p:txBody>
      </p:sp>
      <p:sp>
        <p:nvSpPr>
          <p:cNvPr id="698" name="Google Shape;698;p36"/>
          <p:cNvSpPr txBox="1"/>
          <p:nvPr/>
        </p:nvSpPr>
        <p:spPr>
          <a:xfrm>
            <a:off x="7854696" y="1234440"/>
            <a:ext cx="3154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REAL Low 3  •  476 × 482</a:t>
            </a:r>
            <a:endParaRPr/>
          </a:p>
        </p:txBody>
      </p:sp>
      <p:sp>
        <p:nvSpPr>
          <p:cNvPr id="699" name="Google Shape;699;p36"/>
          <p:cNvSpPr txBox="1"/>
          <p:nvPr/>
        </p:nvSpPr>
        <p:spPr>
          <a:xfrm>
            <a:off x="7854696" y="1517904"/>
            <a:ext cx="15179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ORIGINAL</a:t>
            </a:r>
            <a:endParaRPr/>
          </a:p>
        </p:txBody>
      </p:sp>
      <p:sp>
        <p:nvSpPr>
          <p:cNvPr id="700" name="Google Shape;700;p36"/>
          <p:cNvSpPr txBox="1"/>
          <p:nvPr/>
        </p:nvSpPr>
        <p:spPr>
          <a:xfrm>
            <a:off x="9491472" y="1517904"/>
            <a:ext cx="15179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ENHANCED</a:t>
            </a:r>
            <a:endParaRPr/>
          </a:p>
        </p:txBody>
      </p:sp>
      <p:sp>
        <p:nvSpPr>
          <p:cNvPr id="701" name="Google Shape;701;p36"/>
          <p:cNvSpPr/>
          <p:nvPr/>
        </p:nvSpPr>
        <p:spPr>
          <a:xfrm>
            <a:off x="7854696" y="1746504"/>
            <a:ext cx="1517904" cy="1975104"/>
          </a:xfrm>
          <a:prstGeom prst="roundRect">
            <a:avLst>
              <a:gd fmla="val 16667" name="adj"/>
            </a:avLst>
          </a:prstGeom>
          <a:solidFill>
            <a:srgbClr val="F5F8FA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702" name="Google Shape;702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27848" y="1828800"/>
            <a:ext cx="1371600" cy="173736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36"/>
          <p:cNvSpPr/>
          <p:nvPr/>
        </p:nvSpPr>
        <p:spPr>
          <a:xfrm>
            <a:off x="9491472" y="1746504"/>
            <a:ext cx="1517904" cy="1975104"/>
          </a:xfrm>
          <a:prstGeom prst="roundRect">
            <a:avLst>
              <a:gd fmla="val 16667" name="adj"/>
            </a:avLst>
          </a:prstGeom>
          <a:solidFill>
            <a:srgbClr val="F5F8FA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704" name="Google Shape;704;p3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64624" y="1828800"/>
            <a:ext cx="1371600" cy="1737360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36"/>
          <p:cNvSpPr txBox="1"/>
          <p:nvPr/>
        </p:nvSpPr>
        <p:spPr>
          <a:xfrm>
            <a:off x="7854696" y="3803904"/>
            <a:ext cx="3154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64 / 64 faces found in Original and Enhanced</a:t>
            </a:r>
            <a:endParaRPr/>
          </a:p>
        </p:txBody>
      </p:sp>
      <p:sp>
        <p:nvSpPr>
          <p:cNvPr id="706" name="Google Shape;706;p36"/>
          <p:cNvSpPr/>
          <p:nvPr/>
        </p:nvSpPr>
        <p:spPr>
          <a:xfrm>
            <a:off x="621792" y="4315968"/>
            <a:ext cx="342900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36"/>
          <p:cNvSpPr/>
          <p:nvPr/>
        </p:nvSpPr>
        <p:spPr>
          <a:xfrm>
            <a:off x="621792" y="4315968"/>
            <a:ext cx="64008" cy="914400"/>
          </a:xfrm>
          <a:prstGeom prst="rect">
            <a:avLst/>
          </a:prstGeom>
          <a:solidFill>
            <a:srgbClr val="26AE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36"/>
          <p:cNvSpPr txBox="1"/>
          <p:nvPr/>
        </p:nvSpPr>
        <p:spPr>
          <a:xfrm>
            <a:off x="786384" y="4370831"/>
            <a:ext cx="317296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FACE DETECTION</a:t>
            </a:r>
            <a:endParaRPr/>
          </a:p>
        </p:txBody>
      </p:sp>
      <p:sp>
        <p:nvSpPr>
          <p:cNvPr id="709" name="Google Shape;709;p36"/>
          <p:cNvSpPr txBox="1"/>
          <p:nvPr/>
        </p:nvSpPr>
        <p:spPr>
          <a:xfrm>
            <a:off x="786384" y="4553712"/>
            <a:ext cx="31729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No issue</a:t>
            </a:r>
            <a:endParaRPr/>
          </a:p>
        </p:txBody>
      </p:sp>
      <p:sp>
        <p:nvSpPr>
          <p:cNvPr id="710" name="Google Shape;710;p36"/>
          <p:cNvSpPr txBox="1"/>
          <p:nvPr/>
        </p:nvSpPr>
        <p:spPr>
          <a:xfrm>
            <a:off x="786384" y="4837176"/>
            <a:ext cx="3172968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64 / 64 faces found for all 3 videos</a:t>
            </a:r>
            <a:endParaRPr/>
          </a:p>
        </p:txBody>
      </p:sp>
      <p:sp>
        <p:nvSpPr>
          <p:cNvPr id="711" name="Google Shape;711;p36"/>
          <p:cNvSpPr/>
          <p:nvPr/>
        </p:nvSpPr>
        <p:spPr>
          <a:xfrm>
            <a:off x="4389120" y="4315968"/>
            <a:ext cx="342900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36"/>
          <p:cNvSpPr/>
          <p:nvPr/>
        </p:nvSpPr>
        <p:spPr>
          <a:xfrm>
            <a:off x="4389120" y="4315968"/>
            <a:ext cx="64008" cy="914400"/>
          </a:xfrm>
          <a:prstGeom prst="rect">
            <a:avLst/>
          </a:prstGeom>
          <a:solidFill>
            <a:srgbClr val="FF5B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36"/>
          <p:cNvSpPr txBox="1"/>
          <p:nvPr/>
        </p:nvSpPr>
        <p:spPr>
          <a:xfrm>
            <a:off x="4553712" y="4370831"/>
            <a:ext cx="317296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VISUAL CHANGE</a:t>
            </a:r>
            <a:endParaRPr/>
          </a:p>
        </p:txBody>
      </p:sp>
      <p:sp>
        <p:nvSpPr>
          <p:cNvPr id="714" name="Google Shape;714;p36"/>
          <p:cNvSpPr txBox="1"/>
          <p:nvPr/>
        </p:nvSpPr>
        <p:spPr>
          <a:xfrm>
            <a:off x="4553712" y="4553712"/>
            <a:ext cx="31729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Faces look clearer</a:t>
            </a:r>
            <a:endParaRPr/>
          </a:p>
        </p:txBody>
      </p:sp>
      <p:sp>
        <p:nvSpPr>
          <p:cNvPr id="715" name="Google Shape;715;p36"/>
          <p:cNvSpPr txBox="1"/>
          <p:nvPr/>
        </p:nvSpPr>
        <p:spPr>
          <a:xfrm>
            <a:off x="4553712" y="4837176"/>
            <a:ext cx="3172968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Enhancement changes appearance, not the label</a:t>
            </a:r>
            <a:endParaRPr/>
          </a:p>
        </p:txBody>
      </p:sp>
      <p:sp>
        <p:nvSpPr>
          <p:cNvPr id="716" name="Google Shape;716;p36"/>
          <p:cNvSpPr/>
          <p:nvPr/>
        </p:nvSpPr>
        <p:spPr>
          <a:xfrm>
            <a:off x="8156448" y="4315968"/>
            <a:ext cx="342900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36"/>
          <p:cNvSpPr/>
          <p:nvPr/>
        </p:nvSpPr>
        <p:spPr>
          <a:xfrm>
            <a:off x="8156448" y="4315968"/>
            <a:ext cx="64008" cy="914400"/>
          </a:xfrm>
          <a:prstGeom prst="rect">
            <a:avLst/>
          </a:prstGeom>
          <a:solidFill>
            <a:srgbClr val="14A0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36"/>
          <p:cNvSpPr txBox="1"/>
          <p:nvPr/>
        </p:nvSpPr>
        <p:spPr>
          <a:xfrm>
            <a:off x="8321040" y="4370831"/>
            <a:ext cx="317296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NEXT CHECK</a:t>
            </a:r>
            <a:endParaRPr/>
          </a:p>
        </p:txBody>
      </p:sp>
      <p:sp>
        <p:nvSpPr>
          <p:cNvPr id="719" name="Google Shape;719;p36"/>
          <p:cNvSpPr txBox="1"/>
          <p:nvPr/>
        </p:nvSpPr>
        <p:spPr>
          <a:xfrm>
            <a:off x="8321040" y="4553712"/>
            <a:ext cx="31729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Compare confidence</a:t>
            </a:r>
            <a:endParaRPr/>
          </a:p>
        </p:txBody>
      </p:sp>
      <p:sp>
        <p:nvSpPr>
          <p:cNvPr id="720" name="Google Shape;720;p36"/>
          <p:cNvSpPr txBox="1"/>
          <p:nvPr/>
        </p:nvSpPr>
        <p:spPr>
          <a:xfrm>
            <a:off x="8321040" y="4837176"/>
            <a:ext cx="3172968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The next slide shows whether this helped</a:t>
            </a:r>
            <a:endParaRPr/>
          </a:p>
        </p:txBody>
      </p:sp>
      <p:sp>
        <p:nvSpPr>
          <p:cNvPr id="721" name="Google Shape;721;p36"/>
          <p:cNvSpPr/>
          <p:nvPr/>
        </p:nvSpPr>
        <p:spPr>
          <a:xfrm>
            <a:off x="502920" y="5468112"/>
            <a:ext cx="11183112" cy="621792"/>
          </a:xfrm>
          <a:prstGeom prst="roundRect">
            <a:avLst>
              <a:gd fmla="val 16667" name="adj"/>
            </a:avLst>
          </a:prstGeom>
          <a:solidFill>
            <a:srgbClr val="EBF8F3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36"/>
          <p:cNvSpPr txBox="1"/>
          <p:nvPr/>
        </p:nvSpPr>
        <p:spPr>
          <a:xfrm>
            <a:off x="713232" y="5541264"/>
            <a:ext cx="10762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7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Observation: enhancement changed the appearance of the extracted faces, but face detection was already complete before enhancement.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7"/>
          <p:cNvSpPr txBox="1"/>
          <p:nvPr/>
        </p:nvSpPr>
        <p:spPr>
          <a:xfrm>
            <a:off x="283464" y="73152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FF5B37"/>
                </a:solidFill>
                <a:latin typeface="Arial"/>
                <a:ea typeface="Arial"/>
                <a:cs typeface="Arial"/>
                <a:sym typeface="Arial"/>
              </a:rPr>
              <a:t>ENHANCEMENT CHECK + FINAL RESULT</a:t>
            </a:r>
            <a:endParaRPr/>
          </a:p>
        </p:txBody>
      </p:sp>
      <p:sp>
        <p:nvSpPr>
          <p:cNvPr id="728" name="Google Shape;728;p37"/>
          <p:cNvSpPr txBox="1"/>
          <p:nvPr/>
        </p:nvSpPr>
        <p:spPr>
          <a:xfrm>
            <a:off x="283464" y="310896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REAL low-resolution: original vs enhanced</a:t>
            </a:r>
            <a:endParaRPr/>
          </a:p>
        </p:txBody>
      </p:sp>
      <p:sp>
        <p:nvSpPr>
          <p:cNvPr id="729" name="Google Shape;729;p37"/>
          <p:cNvSpPr txBox="1"/>
          <p:nvPr/>
        </p:nvSpPr>
        <p:spPr>
          <a:xfrm>
            <a:off x="283464" y="731520"/>
            <a:ext cx="11338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The same 3 low-resolution REAL videos were tested before and after enhancement, giving 6 outputs in total.</a:t>
            </a:r>
            <a:endParaRPr/>
          </a:p>
        </p:txBody>
      </p:sp>
      <p:sp>
        <p:nvSpPr>
          <p:cNvPr id="730" name="Google Shape;730;p37"/>
          <p:cNvSpPr/>
          <p:nvPr/>
        </p:nvSpPr>
        <p:spPr>
          <a:xfrm>
            <a:off x="283464" y="1014984"/>
            <a:ext cx="11612880" cy="32004"/>
          </a:xfrm>
          <a:prstGeom prst="rect">
            <a:avLst/>
          </a:prstGeom>
          <a:solidFill>
            <a:srgbClr val="CFD8E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31" name="Google Shape;731;p37"/>
          <p:cNvGraphicFramePr/>
          <p:nvPr/>
        </p:nvGraphicFramePr>
        <p:xfrm>
          <a:off x="228600" y="12344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{2338D9DC-F09C-46F0-9EA9-D6A716EAE88F}</a:tableStyleId>
              </a:tblPr>
              <a:tblGrid>
                <a:gridCol w="2884050"/>
                <a:gridCol w="1808650"/>
                <a:gridCol w="1613125"/>
                <a:gridCol w="1710875"/>
                <a:gridCol w="1759750"/>
                <a:gridCol w="1955300"/>
              </a:tblGrid>
              <a:tr h="437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Video / version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1123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1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Resolution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1123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1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Faces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1123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1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Fake score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1123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1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Confidence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1123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1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Prediction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11233C"/>
                    </a:solidFill>
                  </a:tcPr>
                </a:tc>
              </a:tr>
              <a:tr h="437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 Low 1 — Original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348 × 500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 / 64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0.0000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4A0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 ✓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</a:tr>
              <a:tr h="437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 Low 1 — Enhanced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348 × 500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 / 64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0.0000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4A0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 ✓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</a:tr>
              <a:tr h="437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 Low 2 — Original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456 × 500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 / 64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0.0000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4A0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 ✓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</a:tr>
              <a:tr h="437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 Low 2 — Enhanced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456 × 500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 / 64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0.0000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4A0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 ✓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</a:tr>
              <a:tr h="437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 Low 3 — Original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476 × 482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 / 64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0.0000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4A0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 ✓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</a:tr>
              <a:tr h="437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 Low 3 — Enhanced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476 × 482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 / 64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0.0000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4A0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 ✓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</a:tr>
            </a:tbl>
          </a:graphicData>
        </a:graphic>
      </p:graphicFrame>
      <p:sp>
        <p:nvSpPr>
          <p:cNvPr id="732" name="Google Shape;732;p37"/>
          <p:cNvSpPr/>
          <p:nvPr/>
        </p:nvSpPr>
        <p:spPr>
          <a:xfrm>
            <a:off x="283464" y="4507992"/>
            <a:ext cx="2624328" cy="80467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37"/>
          <p:cNvSpPr/>
          <p:nvPr/>
        </p:nvSpPr>
        <p:spPr>
          <a:xfrm>
            <a:off x="283464" y="4507992"/>
            <a:ext cx="59436" cy="804672"/>
          </a:xfrm>
          <a:prstGeom prst="rect">
            <a:avLst/>
          </a:prstGeom>
          <a:solidFill>
            <a:srgbClr val="14A0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37"/>
          <p:cNvSpPr txBox="1"/>
          <p:nvPr/>
        </p:nvSpPr>
        <p:spPr>
          <a:xfrm>
            <a:off x="438912" y="4544568"/>
            <a:ext cx="24048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OUTPUTS SHOWN</a:t>
            </a:r>
            <a:endParaRPr/>
          </a:p>
        </p:txBody>
      </p:sp>
      <p:sp>
        <p:nvSpPr>
          <p:cNvPr id="735" name="Google Shape;735;p37"/>
          <p:cNvSpPr txBox="1"/>
          <p:nvPr/>
        </p:nvSpPr>
        <p:spPr>
          <a:xfrm>
            <a:off x="438912" y="4709159"/>
            <a:ext cx="24048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6 outputs</a:t>
            </a:r>
            <a:endParaRPr/>
          </a:p>
        </p:txBody>
      </p:sp>
      <p:sp>
        <p:nvSpPr>
          <p:cNvPr id="736" name="Google Shape;736;p37"/>
          <p:cNvSpPr txBox="1"/>
          <p:nvPr/>
        </p:nvSpPr>
        <p:spPr>
          <a:xfrm>
            <a:off x="438912" y="4956048"/>
            <a:ext cx="24048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3 Original + 3 Enhanced results</a:t>
            </a:r>
            <a:endParaRPr/>
          </a:p>
        </p:txBody>
      </p:sp>
      <p:sp>
        <p:nvSpPr>
          <p:cNvPr id="737" name="Google Shape;737;p37"/>
          <p:cNvSpPr/>
          <p:nvPr/>
        </p:nvSpPr>
        <p:spPr>
          <a:xfrm>
            <a:off x="3246120" y="4507992"/>
            <a:ext cx="2624328" cy="80467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37"/>
          <p:cNvSpPr/>
          <p:nvPr/>
        </p:nvSpPr>
        <p:spPr>
          <a:xfrm>
            <a:off x="3246120" y="4507992"/>
            <a:ext cx="59436" cy="804672"/>
          </a:xfrm>
          <a:prstGeom prst="rect">
            <a:avLst/>
          </a:prstGeom>
          <a:solidFill>
            <a:srgbClr val="26AE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37"/>
          <p:cNvSpPr txBox="1"/>
          <p:nvPr/>
        </p:nvSpPr>
        <p:spPr>
          <a:xfrm>
            <a:off x="3401568" y="4544568"/>
            <a:ext cx="24048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FACE DETECTION</a:t>
            </a:r>
            <a:endParaRPr/>
          </a:p>
        </p:txBody>
      </p:sp>
      <p:sp>
        <p:nvSpPr>
          <p:cNvPr id="740" name="Google Shape;740;p37"/>
          <p:cNvSpPr txBox="1"/>
          <p:nvPr/>
        </p:nvSpPr>
        <p:spPr>
          <a:xfrm>
            <a:off x="3401568" y="4709159"/>
            <a:ext cx="24048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Same result</a:t>
            </a:r>
            <a:endParaRPr/>
          </a:p>
        </p:txBody>
      </p:sp>
      <p:sp>
        <p:nvSpPr>
          <p:cNvPr id="741" name="Google Shape;741;p37"/>
          <p:cNvSpPr txBox="1"/>
          <p:nvPr/>
        </p:nvSpPr>
        <p:spPr>
          <a:xfrm>
            <a:off x="3401568" y="4956048"/>
            <a:ext cx="24048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All 64 sampled faces were detected in each test</a:t>
            </a:r>
            <a:endParaRPr/>
          </a:p>
        </p:txBody>
      </p:sp>
      <p:sp>
        <p:nvSpPr>
          <p:cNvPr id="742" name="Google Shape;742;p37"/>
          <p:cNvSpPr/>
          <p:nvPr/>
        </p:nvSpPr>
        <p:spPr>
          <a:xfrm>
            <a:off x="6208776" y="4507992"/>
            <a:ext cx="2624328" cy="80467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37"/>
          <p:cNvSpPr/>
          <p:nvPr/>
        </p:nvSpPr>
        <p:spPr>
          <a:xfrm>
            <a:off x="6208776" y="4507992"/>
            <a:ext cx="59436" cy="804672"/>
          </a:xfrm>
          <a:prstGeom prst="rect">
            <a:avLst/>
          </a:prstGeom>
          <a:solidFill>
            <a:srgbClr val="FF5B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37"/>
          <p:cNvSpPr txBox="1"/>
          <p:nvPr/>
        </p:nvSpPr>
        <p:spPr>
          <a:xfrm>
            <a:off x="6364224" y="4544568"/>
            <a:ext cx="24048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CONFIDENCE</a:t>
            </a:r>
            <a:endParaRPr/>
          </a:p>
        </p:txBody>
      </p:sp>
      <p:sp>
        <p:nvSpPr>
          <p:cNvPr id="745" name="Google Shape;745;p37"/>
          <p:cNvSpPr txBox="1"/>
          <p:nvPr/>
        </p:nvSpPr>
        <p:spPr>
          <a:xfrm>
            <a:off x="6364224" y="4709159"/>
            <a:ext cx="24048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Same result</a:t>
            </a:r>
            <a:endParaRPr/>
          </a:p>
        </p:txBody>
      </p:sp>
      <p:sp>
        <p:nvSpPr>
          <p:cNvPr id="746" name="Google Shape;746;p37"/>
          <p:cNvSpPr txBox="1"/>
          <p:nvPr/>
        </p:nvSpPr>
        <p:spPr>
          <a:xfrm>
            <a:off x="6364224" y="4956048"/>
            <a:ext cx="24048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100% before and after enhancement</a:t>
            </a:r>
            <a:endParaRPr/>
          </a:p>
        </p:txBody>
      </p:sp>
      <p:sp>
        <p:nvSpPr>
          <p:cNvPr id="747" name="Google Shape;747;p37"/>
          <p:cNvSpPr/>
          <p:nvPr/>
        </p:nvSpPr>
        <p:spPr>
          <a:xfrm>
            <a:off x="9171432" y="4507992"/>
            <a:ext cx="2624328" cy="80467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37"/>
          <p:cNvSpPr/>
          <p:nvPr/>
        </p:nvSpPr>
        <p:spPr>
          <a:xfrm>
            <a:off x="9171432" y="4507992"/>
            <a:ext cx="59436" cy="804672"/>
          </a:xfrm>
          <a:prstGeom prst="rect">
            <a:avLst/>
          </a:prstGeom>
          <a:solidFill>
            <a:srgbClr val="14A0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37"/>
          <p:cNvSpPr txBox="1"/>
          <p:nvPr/>
        </p:nvSpPr>
        <p:spPr>
          <a:xfrm>
            <a:off x="9326880" y="4544568"/>
            <a:ext cx="24048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FINAL RESULT</a:t>
            </a:r>
            <a:endParaRPr/>
          </a:p>
        </p:txBody>
      </p:sp>
      <p:sp>
        <p:nvSpPr>
          <p:cNvPr id="750" name="Google Shape;750;p37"/>
          <p:cNvSpPr txBox="1"/>
          <p:nvPr/>
        </p:nvSpPr>
        <p:spPr>
          <a:xfrm>
            <a:off x="9326880" y="4709159"/>
            <a:ext cx="24048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3 / 3 videos correct</a:t>
            </a:r>
            <a:endParaRPr/>
          </a:p>
        </p:txBody>
      </p:sp>
      <p:sp>
        <p:nvSpPr>
          <p:cNvPr id="751" name="Google Shape;751;p37"/>
          <p:cNvSpPr txBox="1"/>
          <p:nvPr/>
        </p:nvSpPr>
        <p:spPr>
          <a:xfrm>
            <a:off x="9326880" y="4956048"/>
            <a:ext cx="24048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All 3 were correctly predicted as REAL</a:t>
            </a:r>
            <a:endParaRPr/>
          </a:p>
        </p:txBody>
      </p:sp>
      <p:sp>
        <p:nvSpPr>
          <p:cNvPr id="752" name="Google Shape;752;p37"/>
          <p:cNvSpPr/>
          <p:nvPr/>
        </p:nvSpPr>
        <p:spPr>
          <a:xfrm>
            <a:off x="438912" y="5504688"/>
            <a:ext cx="11301984" cy="621792"/>
          </a:xfrm>
          <a:prstGeom prst="roundRect">
            <a:avLst>
              <a:gd fmla="val 16667" name="adj"/>
            </a:avLst>
          </a:prstGeom>
          <a:solidFill>
            <a:srgbClr val="EBF8F3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37"/>
          <p:cNvSpPr txBox="1"/>
          <p:nvPr/>
        </p:nvSpPr>
        <p:spPr>
          <a:xfrm>
            <a:off x="640080" y="5577840"/>
            <a:ext cx="10899648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1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Conclusion: Enhancement did not improve these 3 videos. Each was already correctly predicted as REAL with a 0.0000 fake score and 100% confidence before enhancement.</a:t>
            </a:r>
            <a:endParaRPr/>
          </a:p>
        </p:txBody>
      </p:sp>
      <p:sp>
        <p:nvSpPr>
          <p:cNvPr id="754" name="Google Shape;754;p37"/>
          <p:cNvSpPr txBox="1"/>
          <p:nvPr/>
        </p:nvSpPr>
        <p:spPr>
          <a:xfrm>
            <a:off x="502920" y="6199632"/>
            <a:ext cx="11155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Note: the 6 rows above come from 3 selected REAL videos tested twice (Original + Enhanced). Overall validation accuracy was 99.88% and holdout accuracy was 99.51%.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