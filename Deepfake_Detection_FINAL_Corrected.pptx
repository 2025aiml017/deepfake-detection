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BKz68ypmekg8a7WOaKyVB6C6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18308C-96FD-40AC-9B7E-A86C079216B4}">
  <a:tblStyle styleId="{7818308C-96FD-40AC-9B7E-A86C079216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338D9DC-F09C-46F0-9EA9-D6A716EAE88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21E34"/>
                </a:solidFill>
              </a:rPr>
              <a:t>Worst AUC drop under any distortion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Worst AUC drop</c:v>
                </c:pt>
              </c:strCache>
            </c:strRef>
          </c:tx>
          <c:spPr>
            <a:solidFill>
              <a:srgbClr val="3769BE"/>
            </a:solidFill>
          </c:spPr>
          <c:dPt>
            <c:idx val="6"/>
            <c:spPr>
              <a:solidFill>
                <a:srgbClr val="1A9769"/>
              </a:solidFill>
            </c:spPr>
          </c:dPt>
          <c:dPt>
            <c:idx val="0"/>
            <c:spPr>
              <a:solidFill>
                <a:srgbClr val="F56736"/>
              </a:solidFill>
            </c:spPr>
          </c:dPt>
          <c:cat>
            <c:strRef>
              <c:f>Sheet1!$A$2:$A$8</c:f>
              <c:strCache>
                <c:ptCount val="7"/>
                <c:pt idx="0">
                  <c:v>CLIP ViT-B/16</c:v>
                </c:pt>
                <c:pt idx="1">
                  <c:v>EfficientNet-B4</c:v>
                </c:pt>
                <c:pt idx="2">
                  <c:v>Swin-Tiny</c:v>
                </c:pt>
                <c:pt idx="3">
                  <c:v>ResNet-50</c:v>
                </c:pt>
                <c:pt idx="4">
                  <c:v>EfficientNet-B0</c:v>
                </c:pt>
                <c:pt idx="5">
                  <c:v>Xception</c:v>
                </c:pt>
                <c:pt idx="6">
                  <c:v>ConvNeXt-Tiny</c:v>
                </c:pt>
              </c:strCache>
            </c:strRef>
          </c:cat>
          <c:val>
            <c:numRef>
              <c:f>Sheet1!$B$2:$B$8</c:f>
              <c:numCache>
                <c:formatCode>0.0000</c:formatCode>
                <c:ptCount val="7"/>
                <c:pt idx="0">
                  <c:v>0.0192</c:v>
                </c:pt>
                <c:pt idx="1">
                  <c:v>0.006</c:v>
                </c:pt>
                <c:pt idx="2">
                  <c:v>0.0032</c:v>
                </c:pt>
                <c:pt idx="3">
                  <c:v>0.0029</c:v>
                </c:pt>
                <c:pt idx="4">
                  <c:v>0.0026</c:v>
                </c:pt>
                <c:pt idx="5">
                  <c:v>0.002</c:v>
                </c:pt>
                <c:pt idx="6">
                  <c:v>0.0014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100">
                  <a:solidFill>
                    <a:srgbClr val="121E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E2E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24"/>
          <c:min val="0.0"/>
        </c:scaling>
        <c:delete val="0"/>
        <c:axPos val="b"/>
        <c:majorGridlines>
          <c:spPr>
            <a:ln>
              <a:solidFill>
                <a:srgbClr val="DCE2EA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C6778"/>
                </a:solidFill>
              </a:defRPr>
            </a:pPr>
          </a:p>
        </c:txPr>
        <c:crossAx val="-2068027336"/>
        <c:crosses val="autoZero"/>
        <c:majorUnit val="0.004"/>
      </c:valAx>
    </c:plotArea>
    <c:dispBlanksAs val="gap"/>
  </c:chart>
  <c:txPr>
    <a:bodyPr/>
    <a:lstStyle/>
    <a:p>
      <a:pPr>
        <a:defRPr sz="1200">
          <a:solidFill>
            <a:srgbClr val="121E34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8" name="Google Shape;6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Relationship Id="rId8" Type="http://schemas.openxmlformats.org/officeDocument/2006/relationships/image" Target="../media/image10.png"/><Relationship Id="rId9" Type="http://schemas.openxmlformats.org/officeDocument/2006/relationships/image" Target="../media/image21.png"/><Relationship Id="rId10" Type="http://schemas.openxmlformats.org/officeDocument/2006/relationships/image" Target="../media/image9.png"/><Relationship Id="rId11" Type="http://schemas.openxmlformats.org/officeDocument/2006/relationships/image" Target="../media/image4.png"/><Relationship Id="rId12" Type="http://schemas.openxmlformats.org/officeDocument/2006/relationships/image" Target="../media/image2.png"/><Relationship Id="rId13" Type="http://schemas.openxmlformats.org/officeDocument/2006/relationships/image" Target="../media/image11.png"/><Relationship Id="rId14" Type="http://schemas.openxmlformats.org/officeDocument/2006/relationships/image" Target="../media/image3.png"/><Relationship Id="rId15" Type="http://schemas.openxmlformats.org/officeDocument/2006/relationships/image" Target="../media/image13.png"/><Relationship Id="rId16" Type="http://schemas.openxmlformats.org/officeDocument/2006/relationships/image" Target="../media/image6.png"/><Relationship Id="rId17" Type="http://schemas.openxmlformats.org/officeDocument/2006/relationships/image" Target="../media/image23.png"/><Relationship Id="rId18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49808" y="713232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DEEPFAKE VIDEO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808" y="1353312"/>
            <a:ext cx="3657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808" y="19202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Video → face images → AI model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9808" y="27706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49808" y="303580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DE4EF"/>
                </a:solidFill>
                <a:latin typeface="Arial"/>
                <a:ea typeface="Arial"/>
                <a:cs typeface="Arial"/>
                <a:sym typeface="Arial"/>
              </a:rPr>
              <a:t>Varahagiri Venkata Sri Swati   •   Aishwary Agrawal   •   Devesh Srivastava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4980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49808" y="4041648"/>
            <a:ext cx="64008" cy="111556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6926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6926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in Celeb-DF 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4164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41648" y="4041648"/>
            <a:ext cx="64008" cy="111556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26110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26110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333488" y="4041648"/>
            <a:ext cx="288036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333488" y="4041648"/>
            <a:ext cx="64008" cy="111556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552944" y="4151376"/>
            <a:ext cx="25511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552944" y="4553712"/>
            <a:ext cx="25511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holdout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project converts each video into one final REAL / FAKE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49808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13815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13815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779775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916935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980943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980943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selected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946903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084064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148072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148072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7114031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51192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7315200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 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315200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281159" y="233172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9418319" y="2057400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482328" y="2167128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482328" y="2514600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49808" y="3794760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87552" y="40050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CURRENT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987552" y="4325112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of 809 holdout videos were classified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87552" y="484632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was the best of seven models, trained and evaluated in three steps.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Prepare consistent face images before model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Celeb-DF v2 was downloaded directly from Kaggle.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49808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49808" y="1901952"/>
            <a:ext cx="64008" cy="105156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69264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celebrity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364992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364992" y="1901952"/>
            <a:ext cx="64008" cy="105156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584448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YouTube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980176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980176" y="1901952"/>
            <a:ext cx="64008" cy="105156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5,639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199632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595360" y="1901952"/>
            <a:ext cx="24231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595360" y="1901952"/>
            <a:ext cx="64008" cy="105156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6,529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814816" y="2414016"/>
            <a:ext cx="2093976" cy="48463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total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49808" y="34015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DATA PREPARATION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4980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1381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Take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1381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from each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32155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45871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3522725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Detect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3522725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03046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6762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23163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Align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23163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same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739378" y="400507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8876538" y="3730752"/>
            <a:ext cx="257175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8940546" y="3840480"/>
            <a:ext cx="244373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940546" y="4187952"/>
            <a:ext cx="244373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224 × 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49808" y="523951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Output: consistent face images ready for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detector selected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Haar, MTCNN, RetinaFace and YOLOv8 were compared on the same frames from 10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0467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04672" y="1920240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102412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50.2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024128" y="2432304"/>
            <a:ext cx="273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Retina Face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553712" y="1920240"/>
            <a:ext cx="30632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553712" y="1920240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773168" y="2029968"/>
            <a:ext cx="2734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15.4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4773168" y="2432304"/>
            <a:ext cx="273405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MTCNN speed, all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302752" y="1920240"/>
            <a:ext cx="2788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302752" y="1920240"/>
            <a:ext cx="64008" cy="11430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522208" y="2029968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4.5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22208" y="2432304"/>
            <a:ext cx="24597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OpenCV Haar speed, 99.3% of faces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04672" y="3675887"/>
            <a:ext cx="1028700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042415" y="3904487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SELECTED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042415" y="422452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337560" y="4206240"/>
            <a:ext cx="74982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C222D"/>
                </a:solidFill>
                <a:latin typeface="Arial"/>
                <a:ea typeface="Arial"/>
                <a:cs typeface="Arial"/>
                <a:sym typeface="Arial"/>
              </a:rPr>
              <a:t>3× faster than MTCNN with the same face yield; it's 5 landmarks give eye-aligned face crops.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042415" y="477316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YOLOv8 was faster (76.3 FPS) but gives unaligned boxes. This comparison checks face detection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1 — DATA PREPARATION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Prepared data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final preprocessing run completed for all 6,529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49808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49808" y="1920240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969264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69264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images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364992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364992" y="1920240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584448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99.95%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84448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 preparation yield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980176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980176" y="1920240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199632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199632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videos without a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595360" y="1920240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595360" y="1920240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14816" y="202996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12 parts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8814816" y="2432304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face-image cache saved to Drive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49808" y="3730752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987552" y="395020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OUTPUT FOR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987552" y="4288536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73,429 prepared face images are passed to Step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987552" y="4800600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train on these saved face images instead of repeatedly processing the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Train seven pretrained models on the same face images and compare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Different video groups are used for training, model selection and final testing.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49808" y="1901952"/>
            <a:ext cx="64008" cy="1078992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969264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4,385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969264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training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64992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364992" y="1901952"/>
            <a:ext cx="64008" cy="1078992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584448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584448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validation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980176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5980176" y="1901952"/>
            <a:ext cx="64008" cy="1078992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6199632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6199632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595360" y="1901952"/>
            <a:ext cx="24231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595360" y="1901952"/>
            <a:ext cx="64008" cy="1078992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8814816" y="2011680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8814816" y="2414016"/>
            <a:ext cx="2093976" cy="51206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3675887"/>
            <a:ext cx="10698480" cy="15544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987552" y="39136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DATA SEPARATION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987552" y="4242816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The 809 holdout videos were kept outside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987552" y="473659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Train, validation and holdout identities were checked to avoid overlap. The 518-video official list is reported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trained model gives a fake score to each prepared face image.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of 7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fake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face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49808" y="3675887"/>
            <a:ext cx="5074920" cy="150876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987552" y="39136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87552" y="4270248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Average &lt; 0.0233  → 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87552" y="464515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Average ≥ 0.0233  → 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126480" y="3675887"/>
            <a:ext cx="5321808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6364224" y="39136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364224" y="422452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364224" y="46177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Highest holdout AUC of the seven models; a modern CNN pretrained on ImageNet-22k.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Seven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Every model used the same face images, split, augmentation, 224 × 224 input and 8 training rounds.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49808" y="5074920"/>
            <a:ext cx="10698480" cy="123444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987552" y="52303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TRAINING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987552" y="5486400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Each model trained in 45–53 minutes on a Colab T4 GPU.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987552" y="587044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Progress was saved after every round, so a run could resume after a Colab disconnect.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p10"/>
          <p:cNvGraphicFramePr/>
          <p:nvPr/>
        </p:nvGraphicFramePr>
        <p:xfrm>
          <a:off x="749808" y="1810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377450"/>
                <a:gridCol w="4937750"/>
                <a:gridCol w="1691650"/>
                <a:gridCol w="16916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Mid-term baseline, lightweight CNN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Classic CNN reference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 deepfake-detection baseline (FaceForensics++)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Modern CNN </a:t>
                      </a:r>
                      <a:r>
                        <a:rPr b="1" lang="en-US" sz="1300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trained</a:t>
                      </a: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on ImageNet-22k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Vision transformer with local attention windows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27.5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Larger version of 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Foundation model; only the last 4 of 12 blocks trained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85.8 M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min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2 — 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Training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Each model's best round was selected using validation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60120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960120" y="1993392"/>
            <a:ext cx="64008" cy="1143000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1179576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Round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1179576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 for 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99432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599432" y="1993392"/>
            <a:ext cx="64008" cy="1143000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4818888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0.0233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4818888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decision point from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238744" y="1993392"/>
            <a:ext cx="29718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38744" y="1993392"/>
            <a:ext cx="64008" cy="1143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8458200" y="2103120"/>
            <a:ext cx="26426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8458200" y="2505456"/>
            <a:ext cx="2642616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best rounds used in 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960120" y="3767328"/>
            <a:ext cx="10250424" cy="13258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207008" y="39959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FINAL TRAINING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1207008" y="4343400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Step 3 uses each model's best round and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1207008" y="4782312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No retraining is done during the final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E3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6868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68680" y="1874519"/>
            <a:ext cx="10058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868680" y="27889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E5EF"/>
                </a:solidFill>
                <a:latin typeface="Arial"/>
                <a:ea typeface="Arial"/>
                <a:cs typeface="Arial"/>
                <a:sym typeface="Arial"/>
              </a:rPr>
              <a:t>Evaluate the saved models on unseen videos, test their robustness and run the complete video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68680" y="3794760"/>
            <a:ext cx="1920240" cy="4572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saved models are tested after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749808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813815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Load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813815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2779775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916935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2980943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2980943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4946903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084064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5148072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Compare labels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5148072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/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7114031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251192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315200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Stress 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315200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JPEG, resize, blur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9281159" y="22677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418319" y="1993392"/>
            <a:ext cx="2029967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9482328" y="2103120"/>
            <a:ext cx="190195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+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9482328" y="2450592"/>
            <a:ext cx="19019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attention,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49808" y="3749039"/>
            <a:ext cx="10698480" cy="14173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987552" y="396849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STEP 3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987552" y="4315968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Accuracy, AUC, errors, robustness, attention maps and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987552" y="4800600"/>
            <a:ext cx="9784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holdout test is the main unseen-video check; the official test provides the Celeb-DF benchmark result.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All seven models on the 809 holdout videos (main result) and the 518 official test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749808" y="5029200"/>
            <a:ext cx="10698480" cy="137160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987552" y="51663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987552" y="5422392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separated REAL and FAKE videos best.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987552" y="578815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Its 95% interval lies above EfficientNet-B0, ResNet-50 and Xception. Accuracy differs by only a few videos among the top five.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6" name="Google Shape;396;p14"/>
          <p:cNvGraphicFramePr/>
          <p:nvPr/>
        </p:nvGraphicFramePr>
        <p:xfrm>
          <a:off x="749808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2148850"/>
                <a:gridCol w="2606050"/>
                <a:gridCol w="1783075"/>
                <a:gridCol w="1371600"/>
                <a:gridCol w="1371600"/>
                <a:gridCol w="14173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AUC (95% CI)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accuracy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Holdout EER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Official AUC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 (img/s)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ConvNeXt-Tiny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0.9999 (0.9997–1.0000)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6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0.9990 (0.9978–0.9999)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97.90% (792)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Swin-Tiny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 (0.9975–0.9997)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98.15% (794)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Xception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0.9986 (0.9970–0.9996)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98.39% (796)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0.9992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ResNet-50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(0.9963–0.9994)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97.78% (791)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0.9969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841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0.9981 (0.9963–0.9993)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97.65% (790)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0.9979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1,440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CLIP ViT-B/16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0.9873 (0.9811–0.9927)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94.31% (763)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0.049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0.9955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318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14"/>
          <p:cNvSpPr txBox="1"/>
          <p:nvPr/>
        </p:nvSpPr>
        <p:spPr>
          <a:xfrm>
            <a:off x="749808" y="4617720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uses each model's own validation decision point. Speed is GPU images per second on prepared faces (T4).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 predictions are compared with the known REAL / FAKE label of each test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749808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49808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69264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 / 809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969264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videos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3364992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3364992" y="1874519"/>
            <a:ext cx="64008" cy="1060704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3584448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98.15%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3584448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5980176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5980176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6199632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6199632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595360" y="1874519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8595360" y="1874519"/>
            <a:ext cx="64008" cy="1060704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8814816" y="1984248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814816" y="2386584"/>
            <a:ext cx="2093976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official video 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749808" y="3520440"/>
            <a:ext cx="10698480" cy="16916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987552" y="37490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987552" y="409651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Holdout: 90 REAL + 704 FAKE = 794 correct   |   15 + 0 = 15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987552" y="449884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Official: AUC 0.9998 and F1 0.954 at the same 0.0233 decision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987552" y="491947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Accuracy = correct predictions ÷ total videos. No fake holdout video was missed.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Correct and 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confusion matrices for all seven models, each at its own validation decision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658368" y="1828800"/>
            <a:ext cx="6720840" cy="3611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7635240" y="19202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CONVNEXT-TINY — 809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763524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7635240" y="2267712"/>
            <a:ext cx="64008" cy="93268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785469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794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785469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correct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9601200" y="226771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9601200" y="226771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9820656" y="237744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982065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wrong predictions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763524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69BE"/>
                </a:solidFill>
                <a:latin typeface="Arial"/>
                <a:ea typeface="Arial"/>
                <a:cs typeface="Arial"/>
                <a:sym typeface="Arial"/>
              </a:rPr>
              <a:t>ACROSS ALL SEVEN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63524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7635240" y="4005072"/>
            <a:ext cx="64008" cy="93268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785469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785469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fewest errors (Xception)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9601200" y="4005072"/>
            <a:ext cx="178308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01200" y="4005072"/>
            <a:ext cx="64008" cy="93268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9820656" y="41148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9820656" y="45171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(CLIP)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749808" y="55778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Most errors are real videos flagged as fake. ConvNeXt-Tiny missed no fake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ll46_0.png"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" y="2048256"/>
            <a:ext cx="6309360" cy="317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ROC / AUC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checks how well model scores separate REAL and FAKE videos.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658368" y="1828800"/>
            <a:ext cx="55778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658368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6583680" y="201168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80313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680313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9052560" y="2011680"/>
            <a:ext cx="2148840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9052560" y="201168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 txBox="1"/>
          <p:nvPr/>
        </p:nvSpPr>
        <p:spPr>
          <a:xfrm>
            <a:off x="9272016" y="2121408"/>
            <a:ext cx="18196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0.9998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9272016" y="2523744"/>
            <a:ext cx="1819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 official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583680" y="3474720"/>
            <a:ext cx="4617720" cy="15087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6839712" y="37033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 txBox="1"/>
          <p:nvPr/>
        </p:nvSpPr>
        <p:spPr>
          <a:xfrm>
            <a:off x="6839712" y="4005072"/>
            <a:ext cx="4069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 (red) is closest to the top-left corner; CLIP (pink) is lowest.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6583680" y="52578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Zoomed view of the holdout videos. All AUC values are on the comparison slide.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c_holdout.png" id="477" name="Google Shape;4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148840"/>
            <a:ext cx="5230368" cy="366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Robustness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Holdout faces were scored again after JPEG compression, downscaling and blur, as happens when videos are re-uploaded.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7498079" y="18288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7726679" y="2011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MOST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7726679" y="22860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7726679" y="27249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stayed at 0.9985 or higher under every distortion (worst drop 0.0014).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0" name="Google Shape;490;p18"/>
          <p:cNvGraphicFramePr/>
          <p:nvPr/>
        </p:nvGraphicFramePr>
        <p:xfrm>
          <a:off x="658368" y="1783080"/>
          <a:ext cx="6583680" cy="4526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1" name="Google Shape;491;p18"/>
          <p:cNvSpPr/>
          <p:nvPr/>
        </p:nvSpPr>
        <p:spPr>
          <a:xfrm>
            <a:off x="7498079" y="3886200"/>
            <a:ext cx="3977639" cy="1783080"/>
          </a:xfrm>
          <a:prstGeom prst="roundRect">
            <a:avLst>
              <a:gd fmla="val 16667" name="adj"/>
            </a:avLst>
          </a:prstGeom>
          <a:solidFill>
            <a:srgbClr val="FDF7F3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7726679" y="40690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LEAST ROBUST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 txBox="1"/>
          <p:nvPr/>
        </p:nvSpPr>
        <p:spPr>
          <a:xfrm>
            <a:off x="7726679" y="4343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7726679" y="478231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fell to 0.9718 under blur (drop 0.0192).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7498079" y="5806440"/>
            <a:ext cx="397763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JPEG quality 30 and half-size downscaling are harsher than anything used in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Grad-CAM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Grad-CAM highlights the face regions that most influenced each model's score.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74980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987552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ATTENTION SHOWN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 txBox="1"/>
          <p:nvPr/>
        </p:nvSpPr>
        <p:spPr>
          <a:xfrm>
            <a:off x="987552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On the fake face, most models focus on the eyes, nose and mouth, where the face swap is blended.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6190488" y="5230368"/>
            <a:ext cx="5257800" cy="1188720"/>
          </a:xfrm>
          <a:prstGeom prst="roundRect">
            <a:avLst>
              <a:gd fmla="val 16667" name="adj"/>
            </a:avLst>
          </a:prstGeom>
          <a:solidFill>
            <a:srgbClr val="F1F9F6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6428231" y="535838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6428231" y="5632704"/>
            <a:ext cx="4800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Scores are for single frames; the REAL / FAKE decision uses the average over the whole video.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70408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Input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0.png"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9"/>
          <p:cNvSpPr txBox="1"/>
          <p:nvPr/>
        </p:nvSpPr>
        <p:spPr>
          <a:xfrm>
            <a:off x="70408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0.png" id="513" name="Google Shape;5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9"/>
          <p:cNvSpPr txBox="1"/>
          <p:nvPr/>
        </p:nvSpPr>
        <p:spPr>
          <a:xfrm>
            <a:off x="70408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 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204139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1.png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11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9"/>
          <p:cNvSpPr txBox="1"/>
          <p:nvPr/>
        </p:nvSpPr>
        <p:spPr>
          <a:xfrm>
            <a:off x="204139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1.png" id="518" name="Google Shape;51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11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/>
          <p:nvPr/>
        </p:nvSpPr>
        <p:spPr>
          <a:xfrm>
            <a:off x="204139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337870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ResNet-50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2.png" id="521" name="Google Shape;5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442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 txBox="1"/>
          <p:nvPr/>
        </p:nvSpPr>
        <p:spPr>
          <a:xfrm>
            <a:off x="337870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2.png" id="523" name="Google Shape;52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442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 txBox="1"/>
          <p:nvPr/>
        </p:nvSpPr>
        <p:spPr>
          <a:xfrm>
            <a:off x="337870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 txBox="1"/>
          <p:nvPr/>
        </p:nvSpPr>
        <p:spPr>
          <a:xfrm>
            <a:off x="471601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Xception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3.png" id="526" name="Google Shape;52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173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 txBox="1"/>
          <p:nvPr/>
        </p:nvSpPr>
        <p:spPr>
          <a:xfrm>
            <a:off x="471601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3.png" id="528" name="Google Shape;52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173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9"/>
          <p:cNvSpPr txBox="1"/>
          <p:nvPr/>
        </p:nvSpPr>
        <p:spPr>
          <a:xfrm>
            <a:off x="471601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605332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4.png" id="531" name="Google Shape;53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9904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 txBox="1"/>
          <p:nvPr/>
        </p:nvSpPr>
        <p:spPr>
          <a:xfrm>
            <a:off x="605332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0.065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4.png" id="533" name="Google Shape;533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9904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9"/>
          <p:cNvSpPr txBox="1"/>
          <p:nvPr/>
        </p:nvSpPr>
        <p:spPr>
          <a:xfrm>
            <a:off x="605332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7390638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Swin-Tiny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5.png" id="536" name="Google Shape;53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3635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 txBox="1"/>
          <p:nvPr/>
        </p:nvSpPr>
        <p:spPr>
          <a:xfrm>
            <a:off x="7390638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5.png" id="538" name="Google Shape;538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3635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9"/>
          <p:cNvSpPr txBox="1"/>
          <p:nvPr/>
        </p:nvSpPr>
        <p:spPr>
          <a:xfrm>
            <a:off x="7390638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872794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EfficientNet-B4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6.png" id="541" name="Google Shape;541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73667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9"/>
          <p:cNvSpPr txBox="1"/>
          <p:nvPr/>
        </p:nvSpPr>
        <p:spPr>
          <a:xfrm>
            <a:off x="872794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6.png" id="543" name="Google Shape;543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73667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9"/>
          <p:cNvSpPr txBox="1"/>
          <p:nvPr/>
        </p:nvSpPr>
        <p:spPr>
          <a:xfrm>
            <a:off x="872794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1.000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 txBox="1"/>
          <p:nvPr/>
        </p:nvSpPr>
        <p:spPr>
          <a:xfrm>
            <a:off x="10065257" y="17190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CLIP ViT-B/16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0_c7.png" id="546" name="Google Shape;546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110978" y="2011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9"/>
          <p:cNvSpPr txBox="1"/>
          <p:nvPr/>
        </p:nvSpPr>
        <p:spPr>
          <a:xfrm>
            <a:off x="10065257" y="32186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1_c7.png" id="548" name="Google Shape;548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110978" y="35204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9"/>
          <p:cNvSpPr txBox="1"/>
          <p:nvPr/>
        </p:nvSpPr>
        <p:spPr>
          <a:xfrm>
            <a:off x="10065257" y="472744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P(fake) 0.995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0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Full video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Two complete videos were passed through the final pipeline with ConvNeXt-Tiny.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 txBox="1"/>
          <p:nvPr/>
        </p:nvSpPr>
        <p:spPr>
          <a:xfrm>
            <a:off x="914400" y="20482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DEMO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 txBox="1"/>
          <p:nvPr/>
        </p:nvSpPr>
        <p:spPr>
          <a:xfrm>
            <a:off x="914400" y="2359152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Both sample videos were predicted 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914400" y="2852928"/>
            <a:ext cx="63093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 txBox="1"/>
          <p:nvPr/>
        </p:nvSpPr>
        <p:spPr>
          <a:xfrm>
            <a:off x="960120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9769"/>
                </a:solidFill>
                <a:latin typeface="Arial"/>
                <a:ea typeface="Arial"/>
                <a:cs typeface="Arial"/>
                <a:sym typeface="Arial"/>
              </a:rPr>
              <a:t>REAL: 0.00003 → REAL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3913632" y="426110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FAKE: 0.8717 → FAKE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960120" y="4773168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32 evenly spaced frames per video, one face from each; P(fake) is their average. The first video took 18 s because it also loaded the face detector.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78181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7818120" y="1828800"/>
            <a:ext cx="64008" cy="1024128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80375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 txBox="1"/>
          <p:nvPr/>
        </p:nvSpPr>
        <p:spPr>
          <a:xfrm>
            <a:off x="80375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1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646920" y="182880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9646920" y="1828800"/>
            <a:ext cx="64008" cy="1024128"/>
          </a:xfrm>
          <a:prstGeom prst="rect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 txBox="1"/>
          <p:nvPr/>
        </p:nvSpPr>
        <p:spPr>
          <a:xfrm>
            <a:off x="9866376" y="193852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 txBox="1"/>
          <p:nvPr/>
        </p:nvSpPr>
        <p:spPr>
          <a:xfrm>
            <a:off x="9866376" y="234086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demo 2 correct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78181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7818120" y="3108960"/>
            <a:ext cx="64008" cy="1024128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80375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80375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frames checked per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9646920" y="3108960"/>
            <a:ext cx="1572768" cy="10241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9646920" y="3108960"/>
            <a:ext cx="64008" cy="1024128"/>
          </a:xfrm>
          <a:prstGeom prst="rect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9866376" y="321868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1.6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9866376" y="3621024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per video after warm-up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7818120" y="4480560"/>
            <a:ext cx="340156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8065008" y="470001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PROCESSING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8065008" y="50292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Video → faces → scores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8065008" y="53309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→ average → REAL / FAKE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5" name="Google Shape;585;p20"/>
          <p:cNvGraphicFramePr/>
          <p:nvPr/>
        </p:nvGraphicFramePr>
        <p:xfrm>
          <a:off x="1024128" y="2962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{7818308C-96FD-40AC-9B7E-A86C079216B4}</a:tableStyleId>
              </a:tblPr>
              <a:tblGrid>
                <a:gridCol w="1920250"/>
                <a:gridCol w="777250"/>
                <a:gridCol w="731525"/>
                <a:gridCol w="960125"/>
                <a:gridCol w="1005850"/>
                <a:gridCol w="73152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Truth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P(fake)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E34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0.00003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id49_id50_0000.mp4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0.8717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121E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 s</a:t>
                      </a:r>
                      <a:endParaRPr sz="1400" u="none" cap="none" strike="noStrike"/>
                    </a:p>
                  </a:txBody>
                  <a:tcPr marT="27425" marB="274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2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STEP 3 — EVALUATION AND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Speed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and complete-video time are measured separately.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914400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914400" y="2011680"/>
            <a:ext cx="64008" cy="1371600"/>
          </a:xfrm>
          <a:prstGeom prst="rect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 txBox="1"/>
          <p:nvPr/>
        </p:nvSpPr>
        <p:spPr>
          <a:xfrm>
            <a:off x="1133856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575 images/sec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1"/>
          <p:cNvSpPr txBox="1"/>
          <p:nvPr/>
        </p:nvSpPr>
        <p:spPr>
          <a:xfrm>
            <a:off x="1133856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ConvNeXt-Tiny, GPU only, batches of 64 prepared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565392" y="2011680"/>
            <a:ext cx="470916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6565392" y="2011680"/>
            <a:ext cx="64008" cy="1371600"/>
          </a:xfrm>
          <a:prstGeom prst="rect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6784848" y="2121408"/>
            <a:ext cx="43799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~1.6 sec/video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 txBox="1"/>
          <p:nvPr/>
        </p:nvSpPr>
        <p:spPr>
          <a:xfrm>
            <a:off x="6784848" y="2523744"/>
            <a:ext cx="437997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complete demo: face finding + model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914400" y="3931920"/>
            <a:ext cx="10360152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 txBox="1"/>
          <p:nvPr/>
        </p:nvSpPr>
        <p:spPr>
          <a:xfrm>
            <a:off x="1170432" y="4169663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1"/>
          <p:cNvSpPr txBox="1"/>
          <p:nvPr/>
        </p:nvSpPr>
        <p:spPr>
          <a:xfrm>
            <a:off x="1170432" y="4498848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Python timers measure the processing duration.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1170432" y="4937760"/>
            <a:ext cx="9509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Model speed excludes face detection: from 318 (CLIP) to 1,440 (EfficientNet-B0) images/sec across the seven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2"/>
          <p:cNvSpPr txBox="1"/>
          <p:nvPr/>
        </p:nvSpPr>
        <p:spPr>
          <a:xfrm>
            <a:off x="658368" y="237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2"/>
          <p:cNvSpPr txBox="1"/>
          <p:nvPr/>
        </p:nvSpPr>
        <p:spPr>
          <a:xfrm>
            <a:off x="658368" y="5943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Completed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658368" y="106070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The implementation covers the full pipeline and a seven-model comparison.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58368" y="1527048"/>
            <a:ext cx="10881360" cy="16459"/>
          </a:xfrm>
          <a:prstGeom prst="rect">
            <a:avLst/>
          </a:prstGeom>
          <a:solidFill>
            <a:srgbClr val="DCE2E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7498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950976" y="2130551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9509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15361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Dataset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15361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6,529 videos checked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44074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4608576" y="2130551"/>
            <a:ext cx="420624" cy="420624"/>
          </a:xfrm>
          <a:prstGeom prst="ellipse">
            <a:avLst/>
          </a:prstGeom>
          <a:solidFill>
            <a:srgbClr val="2A9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46085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51937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Faces prepared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51937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73,429 face images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8065008" y="1856231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8266176" y="2130551"/>
            <a:ext cx="420624" cy="420624"/>
          </a:xfrm>
          <a:prstGeom prst="ellipse">
            <a:avLst/>
          </a:prstGeom>
          <a:solidFill>
            <a:srgbClr val="F567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8266176" y="2130551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8851392" y="2039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trained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8851392" y="2377439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7 models compared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7498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509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9509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15361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Models evaluated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15361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809 + 518 videos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4074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4608576" y="3547872"/>
            <a:ext cx="420624" cy="420624"/>
          </a:xfrm>
          <a:prstGeom prst="ellipse">
            <a:avLst/>
          </a:prstGeom>
          <a:solidFill>
            <a:srgbClr val="3769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46085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51937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Results reviewed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51937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AUC + robustness + Grad-CAM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8065008" y="3273552"/>
            <a:ext cx="3337560" cy="1078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8266176" y="3547872"/>
            <a:ext cx="420624" cy="420624"/>
          </a:xfrm>
          <a:prstGeom prst="ellipse">
            <a:avLst/>
          </a:prstGeom>
          <a:solidFill>
            <a:srgbClr val="1A97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8266176" y="35478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8851392" y="3456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1E34"/>
                </a:solidFill>
                <a:latin typeface="Arial"/>
                <a:ea typeface="Arial"/>
                <a:cs typeface="Arial"/>
                <a:sym typeface="Arial"/>
              </a:rPr>
              <a:t>Demo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2"/>
          <p:cNvSpPr txBox="1"/>
          <p:nvPr/>
        </p:nvSpPr>
        <p:spPr>
          <a:xfrm>
            <a:off x="885139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6778"/>
                </a:solidFill>
                <a:latin typeface="Arial"/>
                <a:ea typeface="Arial"/>
                <a:cs typeface="Arial"/>
                <a:sym typeface="Arial"/>
              </a:rPr>
              <a:t>ConvNeXt-Tiny: video →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749808" y="4965192"/>
            <a:ext cx="10652760" cy="868680"/>
          </a:xfrm>
          <a:prstGeom prst="roundRect">
            <a:avLst>
              <a:gd fmla="val 16667" name="adj"/>
            </a:avLst>
          </a:prstGeom>
          <a:solidFill>
            <a:srgbClr val="121E34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 txBox="1"/>
          <p:nvPr/>
        </p:nvSpPr>
        <p:spPr>
          <a:xfrm>
            <a:off x="1005840" y="51663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56736"/>
                </a:solidFill>
                <a:latin typeface="Arial"/>
                <a:ea typeface="Arial"/>
                <a:cs typeface="Arial"/>
                <a:sym typeface="Arial"/>
              </a:rPr>
              <a:t>CONVNEXT-TINY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2880360" y="50749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0.9999 holdout 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6510528" y="507492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98.15% holdout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5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MY UPDATE</a:t>
            </a:r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I changed for the low-resolution test</a:t>
            </a:r>
            <a:endParaRPr/>
          </a:p>
        </p:txBody>
      </p:sp>
      <p:sp>
        <p:nvSpPr>
          <p:cNvPr id="654" name="Google Shape;654;p35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goal was simple: use more frames and check whether enhancement actually improves low-quality videos.</a:t>
            </a:r>
            <a:endParaRPr/>
          </a:p>
        </p:txBody>
      </p:sp>
      <p:sp>
        <p:nvSpPr>
          <p:cNvPr id="655" name="Google Shape;655;p35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6" name="Google Shape;656;p35"/>
          <p:cNvGraphicFramePr/>
          <p:nvPr/>
        </p:nvGraphicFramePr>
        <p:xfrm>
          <a:off x="594360" y="1307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518800"/>
                <a:gridCol w="3663700"/>
                <a:gridCol w="4808600"/>
              </a:tblGrid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area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Previous approach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11233C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Frames checked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frames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frames per video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 / high quality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Low-resolution videos included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Enhancement check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comparison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Original vs Enhanced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FFFFF"/>
                    </a:solidFill>
                  </a:tcPr>
                </a:tc>
              </a:tr>
              <a:tr h="56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Kaggle test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example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30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different REAL low-resolution videos</a:t>
                      </a:r>
                      <a:endParaRPr/>
                    </a:p>
                  </a:txBody>
                  <a:tcPr marT="9150" marB="9150" marR="27425" marL="2742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657" name="Google Shape;657;p35"/>
          <p:cNvSpPr/>
          <p:nvPr/>
        </p:nvSpPr>
        <p:spPr>
          <a:xfrm>
            <a:off x="658368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658368" y="4370832"/>
            <a:ext cx="64008" cy="98755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5"/>
          <p:cNvSpPr txBox="1"/>
          <p:nvPr/>
        </p:nvSpPr>
        <p:spPr>
          <a:xfrm>
            <a:off x="822959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64 FRAMES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822959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More coverage</a:t>
            </a:r>
            <a:endParaRPr/>
          </a:p>
        </p:txBody>
      </p:sp>
      <p:sp>
        <p:nvSpPr>
          <p:cNvPr id="661" name="Google Shape;661;p35"/>
          <p:cNvSpPr txBox="1"/>
          <p:nvPr/>
        </p:nvSpPr>
        <p:spPr>
          <a:xfrm>
            <a:off x="822959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More moments from each video are reviewed</a:t>
            </a:r>
            <a:endParaRPr/>
          </a:p>
        </p:txBody>
      </p:sp>
      <p:sp>
        <p:nvSpPr>
          <p:cNvPr id="662" name="Google Shape;662;p35"/>
          <p:cNvSpPr/>
          <p:nvPr/>
        </p:nvSpPr>
        <p:spPr>
          <a:xfrm>
            <a:off x="4462272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4462272" y="4370832"/>
            <a:ext cx="64008" cy="98755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5"/>
          <p:cNvSpPr txBox="1"/>
          <p:nvPr/>
        </p:nvSpPr>
        <p:spPr>
          <a:xfrm>
            <a:off x="4626864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LOW RESOLUTION</a:t>
            </a:r>
            <a:endParaRPr/>
          </a:p>
        </p:txBody>
      </p:sp>
      <p:sp>
        <p:nvSpPr>
          <p:cNvPr id="665" name="Google Shape;665;p35"/>
          <p:cNvSpPr txBox="1"/>
          <p:nvPr/>
        </p:nvSpPr>
        <p:spPr>
          <a:xfrm>
            <a:off x="4626864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Harder input</a:t>
            </a:r>
            <a:endParaRPr/>
          </a:p>
        </p:txBody>
      </p:sp>
      <p:sp>
        <p:nvSpPr>
          <p:cNvPr id="666" name="Google Shape;666;p35"/>
          <p:cNvSpPr txBox="1"/>
          <p:nvPr/>
        </p:nvSpPr>
        <p:spPr>
          <a:xfrm>
            <a:off x="4626864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Checks performance on poorer video quality</a:t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8266175" y="4370832"/>
            <a:ext cx="327355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8266175" y="4370832"/>
            <a:ext cx="64008" cy="98755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5"/>
          <p:cNvSpPr txBox="1"/>
          <p:nvPr/>
        </p:nvSpPr>
        <p:spPr>
          <a:xfrm>
            <a:off x="8430767" y="4425696"/>
            <a:ext cx="3017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WHY ENHANCE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8430767" y="460857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Measure benefit</a:t>
            </a: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8430767" y="489204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Compare confidence before and after</a:t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502920" y="555955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"/>
          <p:cNvSpPr txBox="1"/>
          <p:nvPr/>
        </p:nvSpPr>
        <p:spPr>
          <a:xfrm>
            <a:off x="713232" y="563270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Main question: does enhancement improve the result, or is the original low-resolution video already sufficient?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6"/>
          <p:cNvSpPr txBox="1"/>
          <p:nvPr/>
        </p:nvSpPr>
        <p:spPr>
          <a:xfrm>
            <a:off x="32918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FACE OUTPUT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329184" y="310896"/>
            <a:ext cx="11247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What the model actually saw</a:t>
            </a:r>
            <a:endParaRPr/>
          </a:p>
        </p:txBody>
      </p:sp>
      <p:sp>
        <p:nvSpPr>
          <p:cNvPr id="680" name="Google Shape;680;p36"/>
          <p:cNvSpPr txBox="1"/>
          <p:nvPr/>
        </p:nvSpPr>
        <p:spPr>
          <a:xfrm>
            <a:off x="329184" y="749808"/>
            <a:ext cx="1124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Example extracted face frames from each low-resolution REAL video, before and after enhancement.</a:t>
            </a:r>
            <a:endParaRPr/>
          </a:p>
        </p:txBody>
      </p:sp>
      <p:sp>
        <p:nvSpPr>
          <p:cNvPr id="681" name="Google Shape;681;p36"/>
          <p:cNvSpPr/>
          <p:nvPr/>
        </p:nvSpPr>
        <p:spPr>
          <a:xfrm>
            <a:off x="329184" y="1042415"/>
            <a:ext cx="11503152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502920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1  •  348 × 500</a:t>
            </a:r>
            <a:endParaRPr/>
          </a:p>
        </p:txBody>
      </p:sp>
      <p:sp>
        <p:nvSpPr>
          <p:cNvPr id="683" name="Google Shape;683;p36"/>
          <p:cNvSpPr txBox="1"/>
          <p:nvPr/>
        </p:nvSpPr>
        <p:spPr>
          <a:xfrm>
            <a:off x="502920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84" name="Google Shape;684;p36"/>
          <p:cNvSpPr txBox="1"/>
          <p:nvPr/>
        </p:nvSpPr>
        <p:spPr>
          <a:xfrm>
            <a:off x="2139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85" name="Google Shape;685;p36"/>
          <p:cNvSpPr/>
          <p:nvPr/>
        </p:nvSpPr>
        <p:spPr>
          <a:xfrm>
            <a:off x="502920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6" name="Google Shape;6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36"/>
          <p:cNvSpPr/>
          <p:nvPr/>
        </p:nvSpPr>
        <p:spPr>
          <a:xfrm>
            <a:off x="2139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88" name="Google Shape;68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6"/>
          <p:cNvSpPr txBox="1"/>
          <p:nvPr/>
        </p:nvSpPr>
        <p:spPr>
          <a:xfrm>
            <a:off x="502920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0" name="Google Shape;690;p36"/>
          <p:cNvSpPr txBox="1"/>
          <p:nvPr/>
        </p:nvSpPr>
        <p:spPr>
          <a:xfrm>
            <a:off x="4178808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2  •  456 × 500</a:t>
            </a:r>
            <a:endParaRPr/>
          </a:p>
        </p:txBody>
      </p:sp>
      <p:sp>
        <p:nvSpPr>
          <p:cNvPr id="691" name="Google Shape;691;p36"/>
          <p:cNvSpPr txBox="1"/>
          <p:nvPr/>
        </p:nvSpPr>
        <p:spPr>
          <a:xfrm>
            <a:off x="4178808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692" name="Google Shape;692;p36"/>
          <p:cNvSpPr txBox="1"/>
          <p:nvPr/>
        </p:nvSpPr>
        <p:spPr>
          <a:xfrm>
            <a:off x="5815584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4178808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4" name="Google Shape;69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960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6"/>
          <p:cNvSpPr/>
          <p:nvPr/>
        </p:nvSpPr>
        <p:spPr>
          <a:xfrm>
            <a:off x="5815584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96" name="Google Shape;69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8736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6"/>
          <p:cNvSpPr txBox="1"/>
          <p:nvPr/>
        </p:nvSpPr>
        <p:spPr>
          <a:xfrm>
            <a:off x="4178808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698" name="Google Shape;698;p36"/>
          <p:cNvSpPr txBox="1"/>
          <p:nvPr/>
        </p:nvSpPr>
        <p:spPr>
          <a:xfrm>
            <a:off x="7854696" y="123444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 3  •  476 × 482</a:t>
            </a:r>
            <a:endParaRPr/>
          </a:p>
        </p:txBody>
      </p:sp>
      <p:sp>
        <p:nvSpPr>
          <p:cNvPr id="699" name="Google Shape;699;p36"/>
          <p:cNvSpPr txBox="1"/>
          <p:nvPr/>
        </p:nvSpPr>
        <p:spPr>
          <a:xfrm>
            <a:off x="7854696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endParaRPr/>
          </a:p>
        </p:txBody>
      </p:sp>
      <p:sp>
        <p:nvSpPr>
          <p:cNvPr id="700" name="Google Shape;700;p36"/>
          <p:cNvSpPr txBox="1"/>
          <p:nvPr/>
        </p:nvSpPr>
        <p:spPr>
          <a:xfrm>
            <a:off x="9491472" y="1517904"/>
            <a:ext cx="15179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ENHANCED</a:t>
            </a:r>
            <a:endParaRPr/>
          </a:p>
        </p:txBody>
      </p:sp>
      <p:sp>
        <p:nvSpPr>
          <p:cNvPr id="701" name="Google Shape;701;p36"/>
          <p:cNvSpPr/>
          <p:nvPr/>
        </p:nvSpPr>
        <p:spPr>
          <a:xfrm>
            <a:off x="7854696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2" name="Google Shape;70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7848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6"/>
          <p:cNvSpPr/>
          <p:nvPr/>
        </p:nvSpPr>
        <p:spPr>
          <a:xfrm>
            <a:off x="9491472" y="1746504"/>
            <a:ext cx="1517904" cy="1975104"/>
          </a:xfrm>
          <a:prstGeom prst="roundRect">
            <a:avLst>
              <a:gd fmla="val 16667" name="adj"/>
            </a:avLst>
          </a:prstGeom>
          <a:solidFill>
            <a:srgbClr val="F5F8FA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04" name="Google Shape;704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4624" y="1828800"/>
            <a:ext cx="137160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6"/>
          <p:cNvSpPr txBox="1"/>
          <p:nvPr/>
        </p:nvSpPr>
        <p:spPr>
          <a:xfrm>
            <a:off x="7854696" y="380390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in Original and Enhanced</a:t>
            </a:r>
            <a:endParaRPr/>
          </a:p>
        </p:txBody>
      </p:sp>
      <p:sp>
        <p:nvSpPr>
          <p:cNvPr id="706" name="Google Shape;706;p36"/>
          <p:cNvSpPr/>
          <p:nvPr/>
        </p:nvSpPr>
        <p:spPr>
          <a:xfrm>
            <a:off x="621792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621792" y="4315968"/>
            <a:ext cx="64008" cy="914400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6"/>
          <p:cNvSpPr txBox="1"/>
          <p:nvPr/>
        </p:nvSpPr>
        <p:spPr>
          <a:xfrm>
            <a:off x="786384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09" name="Google Shape;709;p36"/>
          <p:cNvSpPr txBox="1"/>
          <p:nvPr/>
        </p:nvSpPr>
        <p:spPr>
          <a:xfrm>
            <a:off x="786384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No issue</a:t>
            </a:r>
            <a:endParaRPr/>
          </a:p>
        </p:txBody>
      </p:sp>
      <p:sp>
        <p:nvSpPr>
          <p:cNvPr id="710" name="Google Shape;710;p36"/>
          <p:cNvSpPr txBox="1"/>
          <p:nvPr/>
        </p:nvSpPr>
        <p:spPr>
          <a:xfrm>
            <a:off x="786384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64 / 64 faces found for all 3 videos</a:t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4389120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4389120" y="4315968"/>
            <a:ext cx="64008" cy="914400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6"/>
          <p:cNvSpPr txBox="1"/>
          <p:nvPr/>
        </p:nvSpPr>
        <p:spPr>
          <a:xfrm>
            <a:off x="4553712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VISUAL CHANGE</a:t>
            </a:r>
            <a:endParaRPr/>
          </a:p>
        </p:txBody>
      </p:sp>
      <p:sp>
        <p:nvSpPr>
          <p:cNvPr id="714" name="Google Shape;714;p36"/>
          <p:cNvSpPr txBox="1"/>
          <p:nvPr/>
        </p:nvSpPr>
        <p:spPr>
          <a:xfrm>
            <a:off x="4553712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Faces look clearer</a:t>
            </a:r>
            <a:endParaRPr/>
          </a:p>
        </p:txBody>
      </p:sp>
      <p:sp>
        <p:nvSpPr>
          <p:cNvPr id="715" name="Google Shape;715;p36"/>
          <p:cNvSpPr txBox="1"/>
          <p:nvPr/>
        </p:nvSpPr>
        <p:spPr>
          <a:xfrm>
            <a:off x="4553712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Enhancement changes appearance, not the label</a:t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8156448" y="4315968"/>
            <a:ext cx="34290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6"/>
          <p:cNvSpPr/>
          <p:nvPr/>
        </p:nvSpPr>
        <p:spPr>
          <a:xfrm>
            <a:off x="8156448" y="4315968"/>
            <a:ext cx="64008" cy="914400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6"/>
          <p:cNvSpPr txBox="1"/>
          <p:nvPr/>
        </p:nvSpPr>
        <p:spPr>
          <a:xfrm>
            <a:off x="8321040" y="4370831"/>
            <a:ext cx="31729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NEXT CHECK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8321040" y="4553712"/>
            <a:ext cx="3172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Compare confidence</a:t>
            </a:r>
            <a:endParaRPr/>
          </a:p>
        </p:txBody>
      </p:sp>
      <p:sp>
        <p:nvSpPr>
          <p:cNvPr id="720" name="Google Shape;720;p36"/>
          <p:cNvSpPr txBox="1"/>
          <p:nvPr/>
        </p:nvSpPr>
        <p:spPr>
          <a:xfrm>
            <a:off x="8321040" y="4837176"/>
            <a:ext cx="317296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next slide shows whether this helped</a:t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502920" y="5468112"/>
            <a:ext cx="11183112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6"/>
          <p:cNvSpPr txBox="1"/>
          <p:nvPr/>
        </p:nvSpPr>
        <p:spPr>
          <a:xfrm>
            <a:off x="713232" y="5541264"/>
            <a:ext cx="10762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Observation: enhancement changed the appearance of the extracted faces, but face detection was already complete before enhancement.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/>
          <p:cNvSpPr txBox="1"/>
          <p:nvPr/>
        </p:nvSpPr>
        <p:spPr>
          <a:xfrm>
            <a:off x="283464" y="73152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5B37"/>
                </a:solidFill>
                <a:latin typeface="Arial"/>
                <a:ea typeface="Arial"/>
                <a:cs typeface="Arial"/>
                <a:sym typeface="Arial"/>
              </a:rPr>
              <a:t>ENHANCEMENT CHECK + FINAL RESULT</a:t>
            </a:r>
            <a:endParaRPr/>
          </a:p>
        </p:txBody>
      </p:sp>
      <p:sp>
        <p:nvSpPr>
          <p:cNvPr id="728" name="Google Shape;728;p37"/>
          <p:cNvSpPr txBox="1"/>
          <p:nvPr/>
        </p:nvSpPr>
        <p:spPr>
          <a:xfrm>
            <a:off x="283464" y="310896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REAL low-resolution: original vs enhanced</a:t>
            </a:r>
            <a:endParaRPr/>
          </a:p>
        </p:txBody>
      </p:sp>
      <p:sp>
        <p:nvSpPr>
          <p:cNvPr id="729" name="Google Shape;729;p37"/>
          <p:cNvSpPr txBox="1"/>
          <p:nvPr/>
        </p:nvSpPr>
        <p:spPr>
          <a:xfrm>
            <a:off x="283464" y="731520"/>
            <a:ext cx="11338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The same 3 low-resolution REAL videos were tested before and after enhancement, giving 6 outputs in total.</a:t>
            </a:r>
            <a:endParaRPr/>
          </a:p>
        </p:txBody>
      </p:sp>
      <p:sp>
        <p:nvSpPr>
          <p:cNvPr id="730" name="Google Shape;730;p37"/>
          <p:cNvSpPr/>
          <p:nvPr/>
        </p:nvSpPr>
        <p:spPr>
          <a:xfrm>
            <a:off x="283464" y="1014984"/>
            <a:ext cx="11612880" cy="32004"/>
          </a:xfrm>
          <a:prstGeom prst="rect">
            <a:avLst/>
          </a:prstGeom>
          <a:solidFill>
            <a:srgbClr val="CFD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1" name="Google Shape;731;p37"/>
          <p:cNvGraphicFramePr/>
          <p:nvPr/>
        </p:nvGraphicFramePr>
        <p:xfrm>
          <a:off x="2286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{2338D9DC-F09C-46F0-9EA9-D6A716EAE88F}</a:tableStyleId>
              </a:tblPr>
              <a:tblGrid>
                <a:gridCol w="2884050"/>
                <a:gridCol w="1808650"/>
                <a:gridCol w="1613125"/>
                <a:gridCol w="1710875"/>
                <a:gridCol w="1759750"/>
                <a:gridCol w="195530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Video / version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Resolution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Faces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Fake score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Confidence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11233C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1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348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2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 × 500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Original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FFFFFF"/>
                    </a:solidFill>
                  </a:tcPr>
                </a:tc>
              </a:tr>
              <a:tr h="43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Low 3 — Enhanced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476 × 482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/ 64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E252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14A0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 ✓</a:t>
                      </a:r>
                      <a:endParaRPr/>
                    </a:p>
                  </a:txBody>
                  <a:tcPr marT="4575" marB="4575" marR="22850" marL="22850" anchor="ctr">
                    <a:solidFill>
                      <a:srgbClr val="EBF8F3"/>
                    </a:solidFill>
                  </a:tcPr>
                </a:tc>
              </a:tr>
            </a:tbl>
          </a:graphicData>
        </a:graphic>
      </p:graphicFrame>
      <p:sp>
        <p:nvSpPr>
          <p:cNvPr id="732" name="Google Shape;732;p37"/>
          <p:cNvSpPr/>
          <p:nvPr/>
        </p:nvSpPr>
        <p:spPr>
          <a:xfrm>
            <a:off x="283464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283464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7"/>
          <p:cNvSpPr txBox="1"/>
          <p:nvPr/>
        </p:nvSpPr>
        <p:spPr>
          <a:xfrm>
            <a:off x="438912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OUTPUTS SHOWN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438912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6 outputs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438912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3 Original + 3 Enhanced results</a:t>
            </a:r>
            <a:endParaRPr/>
          </a:p>
        </p:txBody>
      </p:sp>
      <p:sp>
        <p:nvSpPr>
          <p:cNvPr id="737" name="Google Shape;737;p37"/>
          <p:cNvSpPr/>
          <p:nvPr/>
        </p:nvSpPr>
        <p:spPr>
          <a:xfrm>
            <a:off x="3246120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7"/>
          <p:cNvSpPr/>
          <p:nvPr/>
        </p:nvSpPr>
        <p:spPr>
          <a:xfrm>
            <a:off x="3246120" y="4507992"/>
            <a:ext cx="59436" cy="804672"/>
          </a:xfrm>
          <a:prstGeom prst="rect">
            <a:avLst/>
          </a:prstGeom>
          <a:solidFill>
            <a:srgbClr val="26AE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7"/>
          <p:cNvSpPr txBox="1"/>
          <p:nvPr/>
        </p:nvSpPr>
        <p:spPr>
          <a:xfrm>
            <a:off x="3401568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FACE DETECTION</a:t>
            </a:r>
            <a:endParaRPr/>
          </a:p>
        </p:txBody>
      </p:sp>
      <p:sp>
        <p:nvSpPr>
          <p:cNvPr id="740" name="Google Shape;740;p37"/>
          <p:cNvSpPr txBox="1"/>
          <p:nvPr/>
        </p:nvSpPr>
        <p:spPr>
          <a:xfrm>
            <a:off x="3401568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1" name="Google Shape;741;p37"/>
          <p:cNvSpPr txBox="1"/>
          <p:nvPr/>
        </p:nvSpPr>
        <p:spPr>
          <a:xfrm>
            <a:off x="3401568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64 sampled faces were detected in each test</a:t>
            </a:r>
            <a:endParaRPr/>
          </a:p>
        </p:txBody>
      </p:sp>
      <p:sp>
        <p:nvSpPr>
          <p:cNvPr id="742" name="Google Shape;742;p37"/>
          <p:cNvSpPr/>
          <p:nvPr/>
        </p:nvSpPr>
        <p:spPr>
          <a:xfrm>
            <a:off x="6208776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6208776" y="4507992"/>
            <a:ext cx="59436" cy="804672"/>
          </a:xfrm>
          <a:prstGeom prst="rect">
            <a:avLst/>
          </a:prstGeom>
          <a:solidFill>
            <a:srgbClr val="FF5B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6364224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/>
          </a:p>
        </p:txBody>
      </p:sp>
      <p:sp>
        <p:nvSpPr>
          <p:cNvPr id="745" name="Google Shape;745;p37"/>
          <p:cNvSpPr txBox="1"/>
          <p:nvPr/>
        </p:nvSpPr>
        <p:spPr>
          <a:xfrm>
            <a:off x="6364224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Same result</a:t>
            </a:r>
            <a:endParaRPr/>
          </a:p>
        </p:txBody>
      </p:sp>
      <p:sp>
        <p:nvSpPr>
          <p:cNvPr id="746" name="Google Shape;746;p37"/>
          <p:cNvSpPr txBox="1"/>
          <p:nvPr/>
        </p:nvSpPr>
        <p:spPr>
          <a:xfrm>
            <a:off x="6364224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100% before and after enhancement</a:t>
            </a: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9171432" y="4507992"/>
            <a:ext cx="2624328" cy="8046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9171432" y="4507992"/>
            <a:ext cx="59436" cy="804672"/>
          </a:xfrm>
          <a:prstGeom prst="rect">
            <a:avLst/>
          </a:prstGeom>
          <a:solidFill>
            <a:srgbClr val="14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7"/>
          <p:cNvSpPr txBox="1"/>
          <p:nvPr/>
        </p:nvSpPr>
        <p:spPr>
          <a:xfrm>
            <a:off x="9326880" y="4544568"/>
            <a:ext cx="2404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FINAL RESULT</a:t>
            </a:r>
            <a:endParaRPr/>
          </a:p>
        </p:txBody>
      </p:sp>
      <p:sp>
        <p:nvSpPr>
          <p:cNvPr id="750" name="Google Shape;750;p37"/>
          <p:cNvSpPr txBox="1"/>
          <p:nvPr/>
        </p:nvSpPr>
        <p:spPr>
          <a:xfrm>
            <a:off x="9326880" y="4709159"/>
            <a:ext cx="2404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3 / 3 videos correct</a:t>
            </a:r>
            <a:endParaRPr/>
          </a:p>
        </p:txBody>
      </p:sp>
      <p:sp>
        <p:nvSpPr>
          <p:cNvPr id="751" name="Google Shape;751;p37"/>
          <p:cNvSpPr txBox="1"/>
          <p:nvPr/>
        </p:nvSpPr>
        <p:spPr>
          <a:xfrm>
            <a:off x="9326880" y="4956048"/>
            <a:ext cx="24048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All 3 were correctly predicted as REAL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438912" y="5504688"/>
            <a:ext cx="11301984" cy="621792"/>
          </a:xfrm>
          <a:prstGeom prst="roundRect">
            <a:avLst>
              <a:gd fmla="val 16667" name="adj"/>
            </a:avLst>
          </a:prstGeom>
          <a:solidFill>
            <a:srgbClr val="EBF8F3"/>
          </a:solidFill>
          <a:ln cap="flat" cmpd="sng" w="9525">
            <a:solidFill>
              <a:srgbClr val="CFD8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640080" y="5577840"/>
            <a:ext cx="1089964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0" u="none" cap="none" strike="noStrike">
                <a:solidFill>
                  <a:srgbClr val="11233C"/>
                </a:solidFill>
                <a:latin typeface="Arial"/>
                <a:ea typeface="Arial"/>
                <a:cs typeface="Arial"/>
                <a:sym typeface="Arial"/>
              </a:rPr>
              <a:t>Conclusion: Enhancement did not improve these 3 videos. Each was already correctly predicted as REAL with a 0.0000 fake score and 100% confidence before enhancement.</a:t>
            </a:r>
            <a:endParaRPr/>
          </a:p>
        </p:txBody>
      </p:sp>
      <p:sp>
        <p:nvSpPr>
          <p:cNvPr id="754" name="Google Shape;754;p37"/>
          <p:cNvSpPr txBox="1"/>
          <p:nvPr/>
        </p:nvSpPr>
        <p:spPr>
          <a:xfrm>
            <a:off x="502920" y="619963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27425" spcFirstLastPara="1" rIns="27425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95E79"/>
                </a:solidFill>
                <a:latin typeface="Arial"/>
                <a:ea typeface="Arial"/>
                <a:cs typeface="Arial"/>
                <a:sym typeface="Arial"/>
              </a:rPr>
              <a:t>Note: the 6 rows above come from 3 selected REAL videos tested twice (Original + Enhanced). Run B overall performance: Validation accuracy 98.78%, Holdout accuracy 97.28%, with AUC 0.9998 on both. Threshold = 0.4825 (selected using validation data only)..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