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metadata" ContentType="application/binary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  <Override PartName="/ppt/slides/slide31.xml" ContentType="application/vnd.openxmlformats-officedocument.presentationml.slide+xml"/>
  <Override PartName="/ppt/slides/slide32.xml" ContentType="application/vnd.openxmlformats-officedocument.presentationml.slide+xml"/>
</Types>
</file>

<file path=_rels/.rels><?xml version='1.0' encoding='UTF-8' standalone='yes'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48" r:id="rId5"/>
  </p:sldMasterIdLst>
  <p:notesMasterIdLst>
    <p:notesMasterId r:id="rId6"/>
  </p:notesMasterIdLst>
  <p:sldIdLst>
    <p:sldId id="256" r:id="rId7"/>
    <p:sldId id="257" r:id="rId8"/>
    <p:sldId id="258" r:id="rId9"/>
    <p:sldId id="259" r:id="rId10"/>
    <p:sldId id="281" r:id="rId33"/>
    <p:sldId id="260" r:id="rId11"/>
    <p:sldId id="261" r:id="rId12"/>
    <p:sldId id="262" r:id="rId13"/>
    <p:sldId id="263" r:id="rId14"/>
    <p:sldId id="282" r:id="rId34"/>
    <p:sldId id="283" r:id="rId35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84" r:id="rId36"/>
    <p:sldId id="277" r:id="rId28"/>
    <p:sldId id="278" r:id="rId29"/>
    <p:sldId id="279" r:id="rId30"/>
    <p:sldId id="280" r:id="rId31"/>
    <p:sldId id="286" r:id="rId38"/>
    <p:sldId id="287" r:id="rId39"/>
    <p:sldId id="285" r:id="rId37"/>
  </p:sldIdLst>
  <p:sldSz cy="6858000" cx="12191675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160">
          <p15:clr>
            <a:srgbClr val="000000"/>
          </p15:clr>
        </p15:guide>
        <p15:guide id="2" pos="2880">
          <p15:clr>
            <a:srgbClr val="000000"/>
          </p15:clr>
        </p15:guide>
      </p15:sldGuideLst>
    </p:ext>
    <p:ext uri="GoogleSlidesCustomDataVersion2">
      <go:slidesCustomData xmlns:go="http://customooxmlschemas.google.com/" r:id="rId32" roundtripDataSignature="AMtx7miBKz68ypmekg8a7WOaKyVB6C6CUg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7818308C-96FD-40AC-9B7E-A86C079216B4}">
  <a:tblStyle styleId="{7818308C-96FD-40AC-9B7E-A86C079216B4}" styleName="Table_0">
    <a:wholeTbl>
      <a:tcTxStyle b="off" i="off">
        <a:font>
          <a:latin typeface="Calibri"/>
          <a:ea typeface="Calibri"/>
          <a:cs typeface="Calibri"/>
        </a:font>
        <a:schemeClr val="dk1"/>
      </a:tcTxStyle>
      <a:tcStyle>
        <a:tcBdr>
          <a:left>
            <a:ln cap="flat" cmpd="sng" w="9525">
              <a:solidFill>
                <a:srgbClr val="000000">
                  <a:alpha val="0"/>
                </a:srgbClr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000000">
                  <a:alpha val="0"/>
                </a:srgbClr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000000">
                  <a:alpha val="0"/>
                </a:srgbClr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000000">
                  <a:alpha val="0"/>
                </a:srgbClr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000000">
                  <a:alpha val="0"/>
                </a:srgbClr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000000">
                  <a:alpha val="0"/>
                </a:srgbClr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FFFFF">
              <a:alpha val="0"/>
            </a:srgbClr>
          </a:solidFill>
        </a:fill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  <a:tblStyle styleId="{2338D9DC-F09C-46F0-9EA9-D6A716EAE88F}" styleName="Table_1">
    <a:wholeTbl>
      <a:tcTxStyle b="off" i="off">
        <a:font>
          <a:latin typeface="Arial"/>
          <a:ea typeface="Arial"/>
          <a:cs typeface="Arial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8ECF4"/>
          </a:solidFill>
        </a:fill>
      </a:tcStyle>
    </a:wholeTbl>
    <a:band1H>
      <a:tcTxStyle/>
      <a:tcStyle>
        <a:fill>
          <a:solidFill>
            <a:srgbClr val="CFD7E7"/>
          </a:solidFill>
        </a:fill>
      </a:tcStyle>
    </a:band1H>
    <a:band2H>
      <a:tcTxStyle/>
    </a:band2H>
    <a:band1V>
      <a:tcTxStyle/>
      <a:tcStyle>
        <a:fill>
          <a:solidFill>
            <a:srgbClr val="CFD7E7"/>
          </a:solidFill>
        </a:fill>
      </a:tcStyle>
    </a:band1V>
    <a:band2V>
      <a:tcTxStyle/>
    </a:band2V>
    <a:lastCol>
      <a:tcTxStyle b="on" i="off">
        <a:font>
          <a:latin typeface="Arial"/>
          <a:ea typeface="Arial"/>
          <a:cs typeface="Arial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Arial"/>
          <a:ea typeface="Arial"/>
          <a:cs typeface="Arial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Arial"/>
          <a:ea typeface="Arial"/>
          <a:cs typeface="Arial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Arial"/>
          <a:ea typeface="Arial"/>
          <a:cs typeface="Arial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160" orient="horz"/>
        <p:guide pos="2880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tableStyles" Target="tableStyles.xml"/><Relationship Id="rId5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6.xml"/><Relationship Id="rId12" Type="http://schemas.openxmlformats.org/officeDocument/2006/relationships/slide" Target="slides/slide7.xml"/><Relationship Id="rId13" Type="http://schemas.openxmlformats.org/officeDocument/2006/relationships/slide" Target="slides/slide8.xml"/><Relationship Id="rId14" Type="http://schemas.openxmlformats.org/officeDocument/2006/relationships/slide" Target="slides/slide9.xml"/><Relationship Id="rId15" Type="http://schemas.openxmlformats.org/officeDocument/2006/relationships/slide" Target="slides/slide12.xml"/><Relationship Id="rId16" Type="http://schemas.openxmlformats.org/officeDocument/2006/relationships/slide" Target="slides/slide13.xml"/><Relationship Id="rId17" Type="http://schemas.openxmlformats.org/officeDocument/2006/relationships/slide" Target="slides/slide14.xml"/><Relationship Id="rId18" Type="http://schemas.openxmlformats.org/officeDocument/2006/relationships/slide" Target="slides/slide15.xml"/><Relationship Id="rId19" Type="http://schemas.openxmlformats.org/officeDocument/2006/relationships/slide" Target="slides/slide16.xml"/><Relationship Id="rId20" Type="http://schemas.openxmlformats.org/officeDocument/2006/relationships/slide" Target="slides/slide17.xml"/><Relationship Id="rId21" Type="http://schemas.openxmlformats.org/officeDocument/2006/relationships/slide" Target="slides/slide18.xml"/><Relationship Id="rId22" Type="http://schemas.openxmlformats.org/officeDocument/2006/relationships/slide" Target="slides/slide19.xml"/><Relationship Id="rId23" Type="http://schemas.openxmlformats.org/officeDocument/2006/relationships/slide" Target="slides/slide20.xml"/><Relationship Id="rId24" Type="http://schemas.openxmlformats.org/officeDocument/2006/relationships/slide" Target="slides/slide21.xml"/><Relationship Id="rId25" Type="http://schemas.openxmlformats.org/officeDocument/2006/relationships/slide" Target="slides/slide22.xml"/><Relationship Id="rId26" Type="http://schemas.openxmlformats.org/officeDocument/2006/relationships/slide" Target="slides/slide23.xml"/><Relationship Id="rId27" Type="http://schemas.openxmlformats.org/officeDocument/2006/relationships/slide" Target="slides/slide24.xml"/><Relationship Id="rId28" Type="http://schemas.openxmlformats.org/officeDocument/2006/relationships/slide" Target="slides/slide26.xml"/><Relationship Id="rId29" Type="http://schemas.openxmlformats.org/officeDocument/2006/relationships/slide" Target="slides/slide27.xml"/><Relationship Id="rId30" Type="http://schemas.openxmlformats.org/officeDocument/2006/relationships/slide" Target="slides/slide28.xml"/><Relationship Id="rId31" Type="http://schemas.openxmlformats.org/officeDocument/2006/relationships/slide" Target="slides/slide29.xml"/><Relationship Id="rId32" Type="http://customschemas.google.com/relationships/presentationmetadata" Target="metadata"/><Relationship Id="rId33" Type="http://schemas.openxmlformats.org/officeDocument/2006/relationships/slide" Target="slides/slide5.xml"/><Relationship Id="rId34" Type="http://schemas.openxmlformats.org/officeDocument/2006/relationships/slide" Target="slides/slide10.xml"/><Relationship Id="rId35" Type="http://schemas.openxmlformats.org/officeDocument/2006/relationships/slide" Target="slides/slide11.xml"/><Relationship Id="rId36" Type="http://schemas.openxmlformats.org/officeDocument/2006/relationships/slide" Target="slides/slide25.xml"/><Relationship Id="rId37" Type="http://schemas.openxmlformats.org/officeDocument/2006/relationships/slide" Target="slides/slide30.xml"/>  <Relationship Id="rId38" Type="http://schemas.openxmlformats.org/officeDocument/2006/relationships/slide" Target="slides/slide31.xml"/>
  <Relationship Id="rId39" Type="http://schemas.openxmlformats.org/officeDocument/2006/relationships/slide" Target="slides/slide32.xml"/>
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300" b="1">
                <a:solidFill>
                  <a:srgbClr val="121E34"/>
                </a:solidFill>
              </a:rPr>
              <a:t>Worst AUC drop under any distortion (lower is better)</a:t>
            </a:r>
          </a:p>
        </c:rich>
      </c:tx>
      <c:layout/>
      <c:overlay val="0"/>
    </c:title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Worst AUC drop</c:v>
                </c:pt>
              </c:strCache>
            </c:strRef>
          </c:tx>
          <c:spPr>
            <a:solidFill>
              <a:srgbClr val="3769BE"/>
            </a:solidFill>
          </c:spPr>
          <c:dPt>
            <c:idx val="6"/>
            <c:spPr>
              <a:solidFill>
                <a:srgbClr val="1A9769"/>
              </a:solidFill>
            </c:spPr>
          </c:dPt>
          <c:dPt>
            <c:idx val="0"/>
            <c:spPr>
              <a:solidFill>
                <a:srgbClr val="F56736"/>
              </a:solidFill>
            </c:spPr>
          </c:dPt>
          <c:cat>
            <c:strRef>
              <c:f>Sheet1!$A$2:$A$8</c:f>
              <c:strCache>
                <c:ptCount val="7"/>
                <c:pt idx="0">
                  <c:v>CLIP ViT-B/16</c:v>
                </c:pt>
                <c:pt idx="1">
                  <c:v>EfficientNet-B4</c:v>
                </c:pt>
                <c:pt idx="2">
                  <c:v>Swin-Tiny</c:v>
                </c:pt>
                <c:pt idx="3">
                  <c:v>ResNet-50</c:v>
                </c:pt>
                <c:pt idx="4">
                  <c:v>EfficientNet-B0</c:v>
                </c:pt>
                <c:pt idx="5">
                  <c:v>Xception</c:v>
                </c:pt>
                <c:pt idx="6">
                  <c:v>ConvNeXt-Tiny</c:v>
                </c:pt>
              </c:strCache>
            </c:strRef>
          </c:cat>
          <c:val>
            <c:numRef>
              <c:f>Sheet1!$B$2:$B$8</c:f>
              <c:numCache>
                <c:formatCode>0.0000</c:formatCode>
                <c:ptCount val="7"/>
                <c:pt idx="0">
                  <c:v>0.0192</c:v>
                </c:pt>
                <c:pt idx="1">
                  <c:v>0.006</c:v>
                </c:pt>
                <c:pt idx="2">
                  <c:v>0.0032</c:v>
                </c:pt>
                <c:pt idx="3">
                  <c:v>0.0029</c:v>
                </c:pt>
                <c:pt idx="4">
                  <c:v>0.0026</c:v>
                </c:pt>
                <c:pt idx="5">
                  <c:v>0.002</c:v>
                </c:pt>
                <c:pt idx="6">
                  <c:v>0.0014</c:v>
                </c:pt>
              </c:numCache>
            </c:numRef>
          </c:val>
        </c:ser>
        <c:dLbls>
          <c:numFmt formatCode="0.0000" sourceLinked="0"/>
          <c:txPr>
            <a:bodyPr/>
            <a:lstStyle/>
            <a:p>
              <a:pPr>
                <a:defRPr sz="1100">
                  <a:solidFill>
                    <a:srgbClr val="121E34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DCE2EA"/>
            </a:solidFill>
          </a:ln>
        </c:spPr>
        <c:txPr>
          <a:bodyPr/>
          <a:lstStyle/>
          <a:p>
            <a:pPr>
              <a:defRPr sz="12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0.024"/>
          <c:min val="0.0"/>
        </c:scaling>
        <c:delete val="0"/>
        <c:axPos val="b"/>
        <c:majorGridlines>
          <c:spPr>
            <a:ln>
              <a:solidFill>
                <a:srgbClr val="DCE2EA"/>
              </a:solidFill>
            </a:ln>
          </c:spPr>
        </c:majorGridlines>
        <c:numFmt formatCode="0.000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>
                <a:solidFill>
                  <a:srgbClr val="5C6778"/>
                </a:solidFill>
              </a:defRPr>
            </a:pPr>
          </a:p>
        </c:txPr>
        <c:crossAx val="-2068027336"/>
        <c:crosses val="autoZero"/>
        <c:majorUnit val="0.004"/>
      </c:valAx>
    </c:plotArea>
    <c:dispBlanksAs val="gap"/>
  </c:chart>
  <c:txPr>
    <a:bodyPr/>
    <a:lstStyle/>
    <a:p>
      <a:pPr>
        <a:defRPr sz="1200">
          <a:solidFill>
            <a:srgbClr val="121E34"/>
          </a:solidFill>
          <a:latin typeface="Aptos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Real videos</c:v>
                </c:pt>
              </c:strCache>
            </c:strRef>
          </c:tx>
          <c:spPr>
            <a:solidFill>
              <a:srgbClr val="3769BE"/>
            </a:solidFill>
          </c:spPr>
          <c:invertIfNegative val="0"/>
          <c:cat>
            <c:strRef>
              <c:f>Sheet1!$A$2:$A$5</c:f>
              <c:strCache>
                <c:ptCount val="4"/>
                <c:pt idx="0">
                  <c:v>Train</c:v>
                </c:pt>
                <c:pt idx="1">
                  <c:v>Validation</c:v>
                </c:pt>
                <c:pt idx="2">
                  <c:v>Holdout</c:v>
                </c:pt>
                <c:pt idx="3">
                  <c:v>Official test</c:v>
                </c:pt>
              </c:strCache>
            </c:strRef>
          </c:cat>
          <c:val>
            <c:numRef>
              <c:f>Sheet1!$B$2:$B$5</c:f>
              <c:numCache>
                <c:formatCode>#,##0</c:formatCode>
                <c:ptCount val="4"/>
                <c:pt idx="0">
                  <c:v>495</c:v>
                </c:pt>
                <c:pt idx="1">
                  <c:v>112</c:v>
                </c:pt>
                <c:pt idx="2">
                  <c:v>105</c:v>
                </c:pt>
                <c:pt idx="3">
                  <c:v>178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Fake videos</c:v>
                </c:pt>
              </c:strCache>
            </c:strRef>
          </c:tx>
          <c:spPr>
            <a:solidFill>
              <a:srgbClr val="F56736"/>
            </a:solidFill>
          </c:spPr>
          <c:invertIfNegative val="0"/>
          <c:cat>
            <c:strRef>
              <c:f>Sheet1!$A$2:$A$5</c:f>
              <c:strCache>
                <c:ptCount val="4"/>
                <c:pt idx="0">
                  <c:v>Train</c:v>
                </c:pt>
                <c:pt idx="1">
                  <c:v>Validation</c:v>
                </c:pt>
                <c:pt idx="2">
                  <c:v>Holdout</c:v>
                </c:pt>
                <c:pt idx="3">
                  <c:v>Official test</c:v>
                </c:pt>
              </c:strCache>
            </c:strRef>
          </c:cat>
          <c:val>
            <c:numRef>
              <c:f>Sheet1!$C$2:$C$5</c:f>
              <c:numCache>
                <c:formatCode>#,##0</c:formatCode>
                <c:ptCount val="4"/>
                <c:pt idx="0">
                  <c:v>3890</c:v>
                </c:pt>
                <c:pt idx="1">
                  <c:v>705</c:v>
                </c:pt>
                <c:pt idx="2">
                  <c:v>704</c:v>
                </c:pt>
                <c:pt idx="3">
                  <c:v>340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sz="1200" b="1">
                  <a:solidFill>
                    <a:srgbClr val="121E34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140"/>
        <c:overlap val="-12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DCE2EA"/>
            </a:solidFill>
          </a:ln>
        </c:spPr>
        <c:txPr>
          <a:bodyPr/>
          <a:lstStyle/>
          <a:p>
            <a:pPr>
              <a:defRPr sz="1300">
                <a:solidFill>
                  <a:srgbClr val="121E34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4600.0"/>
          <c:min val="0.0"/>
        </c:scaling>
        <c:delete/>
        <c:axPos val="l"/>
        <c:majorTickMark val="out"/>
        <c:minorTickMark val="none"/>
        <c:tickLblPos val="nextTo"/>
        <c:crossAx val="-2068027336"/>
        <c:crosses val="autoZero"/>
      </c:valAx>
    </c:plotArea>
    <c:legend>
      <c:legendPos val="t"/>
      <c:overlay val="0"/>
      <c:txPr>
        <a:bodyPr/>
        <a:lstStyle/>
        <a:p>
          <a:pPr>
            <a:defRPr sz="1200"/>
          </a:pPr>
        </a:p>
      </c:txPr>
    </c:legend>
    <c:dispBlanksAs val="gap"/>
  </c:chart>
  <c:txPr>
    <a:bodyPr/>
    <a:lstStyle/>
    <a:p>
      <a:pPr>
        <a:defRPr sz="1100">
          <a:solidFill>
            <a:srgbClr val="5C6778"/>
          </a:solidFill>
          <a:latin typeface="Arial"/>
        </a:defRPr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Real faces</c:v>
                </c:pt>
              </c:strCache>
            </c:strRef>
          </c:tx>
          <c:spPr>
            <a:solidFill>
              <a:srgbClr val="3769BE"/>
            </a:solidFill>
          </c:spPr>
          <c:invertIfNegative val="0"/>
          <c:cat>
            <c:strRef>
              <c:f>Sheet1!$A$2:$A$5</c:f>
              <c:strCache>
                <c:ptCount val="4"/>
                <c:pt idx="0">
                  <c:v>Train</c:v>
                </c:pt>
                <c:pt idx="1">
                  <c:v>Validation</c:v>
                </c:pt>
                <c:pt idx="2">
                  <c:v>Holdout</c:v>
                </c:pt>
                <c:pt idx="3">
                  <c:v>Official test</c:v>
                </c:pt>
              </c:strCache>
            </c:strRef>
          </c:cat>
          <c:val>
            <c:numRef>
              <c:f>Sheet1!$B$2:$B$5</c:f>
              <c:numCache>
                <c:formatCode>#,##0</c:formatCode>
                <c:ptCount val="4"/>
                <c:pt idx="0">
                  <c:v>15805</c:v>
                </c:pt>
                <c:pt idx="1">
                  <c:v>3584</c:v>
                </c:pt>
                <c:pt idx="2">
                  <c:v>3360</c:v>
                </c:pt>
                <c:pt idx="3">
                  <c:v>2848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Fake faces</c:v>
                </c:pt>
              </c:strCache>
            </c:strRef>
          </c:tx>
          <c:spPr>
            <a:solidFill>
              <a:srgbClr val="F56736"/>
            </a:solidFill>
          </c:spPr>
          <c:invertIfNegative val="0"/>
          <c:cat>
            <c:strRef>
              <c:f>Sheet1!$A$2:$A$5</c:f>
              <c:strCache>
                <c:ptCount val="4"/>
                <c:pt idx="0">
                  <c:v>Train</c:v>
                </c:pt>
                <c:pt idx="1">
                  <c:v>Validation</c:v>
                </c:pt>
                <c:pt idx="2">
                  <c:v>Holdout</c:v>
                </c:pt>
                <c:pt idx="3">
                  <c:v>Official test</c:v>
                </c:pt>
              </c:strCache>
            </c:strRef>
          </c:cat>
          <c:val>
            <c:numRef>
              <c:f>Sheet1!$C$2:$C$5</c:f>
              <c:numCache>
                <c:formatCode>#,##0</c:formatCode>
                <c:ptCount val="4"/>
                <c:pt idx="0">
                  <c:v>31120</c:v>
                </c:pt>
                <c:pt idx="1">
                  <c:v>5640</c:v>
                </c:pt>
                <c:pt idx="2">
                  <c:v>5632</c:v>
                </c:pt>
                <c:pt idx="3">
                  <c:v>5440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sz="1200" b="1">
                  <a:solidFill>
                    <a:srgbClr val="121E34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140"/>
        <c:overlap val="-12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DCE2EA"/>
            </a:solidFill>
          </a:ln>
        </c:spPr>
        <c:txPr>
          <a:bodyPr/>
          <a:lstStyle/>
          <a:p>
            <a:pPr>
              <a:defRPr sz="1300">
                <a:solidFill>
                  <a:srgbClr val="121E34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36000.0"/>
          <c:min val="0.0"/>
        </c:scaling>
        <c:delete/>
        <c:axPos val="l"/>
        <c:majorTickMark val="out"/>
        <c:minorTickMark val="none"/>
        <c:tickLblPos val="nextTo"/>
        <c:crossAx val="-2068027336"/>
        <c:crosses val="autoZero"/>
      </c:valAx>
    </c:plotArea>
    <c:legend>
      <c:legendPos val="t"/>
      <c:overlay val="0"/>
      <c:txPr>
        <a:bodyPr/>
        <a:lstStyle/>
        <a:p>
          <a:pPr>
            <a:defRPr sz="1200"/>
          </a:pPr>
        </a:p>
      </c:txPr>
    </c:legend>
    <c:dispBlanksAs val="gap"/>
  </c:chart>
  <c:txPr>
    <a:bodyPr/>
    <a:lstStyle/>
    <a:p>
      <a:pPr>
        <a:defRPr sz="1100">
          <a:solidFill>
            <a:srgbClr val="5C6778"/>
          </a:solidFill>
          <a:latin typeface="Arial"/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98450" lvl="1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9845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9845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9845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9845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9845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9845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9845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82" name="Google Shape;82;p1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103" name="Google Shape;103;p2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134" name="Google Shape;134;p3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143" name="Google Shape;143;p4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184" name="Google Shape;184;p5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209" name="Google Shape;209;p6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237" name="Google Shape;237;p7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246" name="Google Shape;246;p8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2" name="Shape 2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3" name="Google Shape;273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274" name="Google Shape;274;p9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7" name="Shape 3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8" name="Google Shape;308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309" name="Google Shape;309;p10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0" name="Shape 3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1" name="Google Shape;321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322" name="Google Shape;322;p11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346" name="Google Shape;346;p12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355" name="Google Shape;355;p13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84" name="Shape 3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5" name="Google Shape;385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386" name="Google Shape;386;p14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98" name="Shape 3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9" name="Google Shape;399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400" name="Google Shape;400;p15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27" name="Shape 4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8" name="Google Shape;428;p1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429" name="Google Shape;429;p16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56" name="Shape 4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7" name="Google Shape;457;p1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458" name="Google Shape;458;p17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78" name="Shape 4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9" name="Google Shape;479;p1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480" name="Google Shape;480;p18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96" name="Shape 4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7" name="Google Shape;497;p1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498" name="Google Shape;498;p19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50" name="Shape 5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1" name="Google Shape;551;p2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552" name="Google Shape;552;p20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86" name="Shape 5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7" name="Google Shape;587;p2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588" name="Google Shape;588;p21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06" name="Shape 6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7" name="Google Shape;607;p2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608" name="Google Shape;608;p22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48" name="Shape 6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9" name="Google Shape;649;p3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50" name="Google Shape;650;p35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74" name="Shape 6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5" name="Google Shape;675;p3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76" name="Google Shape;676;p36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23" name="Shape 7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4" name="Google Shape;724;p3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25" name="Google Shape;725;p37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24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" name="Google Shape;13;p24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" name="Google Shape;14;p24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30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" name="Google Shape;17;p30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30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" name="Google Shape;19;p30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25"/>
          <p:cNvSpPr txBox="1"/>
          <p:nvPr>
            <p:ph type="ctr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2" name="Google Shape;22;p25"/>
          <p:cNvSpPr txBox="1"/>
          <p:nvPr>
            <p:ph idx="1" type="subTitle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ctr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rgbClr val="888888"/>
              </a:buClr>
              <a:buSzPts val="3200"/>
              <a:buNone/>
              <a:defRPr>
                <a:solidFill>
                  <a:srgbClr val="888888"/>
                </a:solidFill>
              </a:defRPr>
            </a:lvl1pPr>
            <a:lvl2pPr lvl="1" algn="ctr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888888"/>
              </a:buClr>
              <a:buSzPts val="2800"/>
              <a:buNone/>
              <a:defRPr>
                <a:solidFill>
                  <a:srgbClr val="888888"/>
                </a:solidFill>
              </a:defRPr>
            </a:lvl2pPr>
            <a:lvl3pPr lvl="2" algn="ctr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3pPr>
            <a:lvl4pPr lvl="3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4pPr>
            <a:lvl5pPr lvl="4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5pPr>
            <a:lvl6pPr lvl="5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6pPr>
            <a:lvl7pPr lvl="6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7pPr>
            <a:lvl8pPr lvl="7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8pPr>
            <a:lvl9pPr lvl="8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23" name="Google Shape;23;p25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4" name="Google Shape;24;p25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5" name="Google Shape;25;p25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6" name="Shape 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Google Shape;27;p26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26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9" name="Google Shape;29;p26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0" name="Google Shape;30;p26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" name="Google Shape;31;p26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27"/>
          <p:cNvSpPr txBox="1"/>
          <p:nvPr>
            <p:ph type="title"/>
          </p:nvPr>
        </p:nvSpPr>
        <p:spPr>
          <a:xfrm>
            <a:off x="722313" y="4406900"/>
            <a:ext cx="7772400" cy="136207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Calibri"/>
              <a:buNone/>
              <a:defRPr b="1" sz="4000" cap="none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27"/>
          <p:cNvSpPr txBox="1"/>
          <p:nvPr>
            <p:ph idx="1" type="body"/>
          </p:nvPr>
        </p:nvSpPr>
        <p:spPr>
          <a:xfrm>
            <a:off x="722313" y="2906713"/>
            <a:ext cx="7772400" cy="15001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1pPr>
            <a:lvl2pPr indent="-228600" lvl="1" marL="914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5" name="Google Shape;35;p27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27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27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28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28"/>
          <p:cNvSpPr txBox="1"/>
          <p:nvPr>
            <p:ph idx="1" type="body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41" name="Google Shape;41;p28"/>
          <p:cNvSpPr txBox="1"/>
          <p:nvPr>
            <p:ph idx="2" type="body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42" name="Google Shape;42;p28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28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28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29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29"/>
          <p:cNvSpPr txBox="1"/>
          <p:nvPr>
            <p:ph idx="1" type="body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29"/>
          <p:cNvSpPr txBox="1"/>
          <p:nvPr>
            <p:ph idx="2" type="body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9" name="Google Shape;49;p29"/>
          <p:cNvSpPr txBox="1"/>
          <p:nvPr>
            <p:ph idx="3" type="body"/>
          </p:nvPr>
        </p:nvSpPr>
        <p:spPr>
          <a:xfrm>
            <a:off x="4645025" y="1535113"/>
            <a:ext cx="4041775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29"/>
          <p:cNvSpPr txBox="1"/>
          <p:nvPr>
            <p:ph idx="4" type="body"/>
          </p:nvPr>
        </p:nvSpPr>
        <p:spPr>
          <a:xfrm>
            <a:off x="4645025" y="2174875"/>
            <a:ext cx="4041775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51" name="Google Shape;51;p29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29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29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31"/>
          <p:cNvSpPr txBox="1"/>
          <p:nvPr>
            <p:ph type="title"/>
          </p:nvPr>
        </p:nvSpPr>
        <p:spPr>
          <a:xfrm>
            <a:off x="457200" y="273050"/>
            <a:ext cx="3008313" cy="116205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31"/>
          <p:cNvSpPr txBox="1"/>
          <p:nvPr>
            <p:ph idx="1" type="body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algn="l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indent="-406400" lvl="1" marL="9144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  <a:defRPr sz="2800"/>
            </a:lvl2pPr>
            <a:lvl3pPr indent="-381000" lvl="2" marL="13716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/>
            </a:lvl5pPr>
            <a:lvl6pPr indent="-355600" lvl="5" marL="27432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indent="-355600" lvl="6" marL="32004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indent="-355600" lvl="7" marL="3657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indent="-355600" lvl="8" marL="4114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/>
        </p:txBody>
      </p:sp>
      <p:sp>
        <p:nvSpPr>
          <p:cNvPr id="57" name="Google Shape;57;p31"/>
          <p:cNvSpPr txBox="1"/>
          <p:nvPr>
            <p:ph idx="2" type="body"/>
          </p:nvPr>
        </p:nvSpPr>
        <p:spPr>
          <a:xfrm>
            <a:off x="457200" y="1435100"/>
            <a:ext cx="3008313" cy="46910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58" name="Google Shape;58;p31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31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31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type="picTx">
  <p:cSld name="PICTURE_WITH_CAPTION_TEXT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32"/>
          <p:cNvSpPr txBox="1"/>
          <p:nvPr>
            <p:ph type="title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32"/>
          <p:cNvSpPr/>
          <p:nvPr>
            <p:ph idx="2" type="pic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32"/>
          <p:cNvSpPr txBox="1"/>
          <p:nvPr>
            <p:ph idx="1" type="body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65" name="Google Shape;65;p32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6" name="Google Shape;66;p32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7" name="Google Shape;67;p32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33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0" name="Google Shape;70;p33"/>
          <p:cNvSpPr txBox="1"/>
          <p:nvPr>
            <p:ph idx="1" type="body"/>
          </p:nvPr>
        </p:nvSpPr>
        <p:spPr>
          <a:xfrm rot="5400000">
            <a:off x="2309019" y="-251618"/>
            <a:ext cx="4525963" cy="8229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1" name="Google Shape;71;p33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33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3" name="Google Shape;73;p33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type="vertTitleAndTx">
  <p:cSld name="VERTICAL_TITLE_AND_VERTICAL_TEXT"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34"/>
          <p:cNvSpPr txBox="1"/>
          <p:nvPr>
            <p:ph type="title"/>
          </p:nvPr>
        </p:nvSpPr>
        <p:spPr>
          <a:xfrm rot="5400000">
            <a:off x="4732338" y="2171701"/>
            <a:ext cx="5851525" cy="2057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34"/>
          <p:cNvSpPr txBox="1"/>
          <p:nvPr>
            <p:ph idx="1" type="body"/>
          </p:nvPr>
        </p:nvSpPr>
        <p:spPr>
          <a:xfrm rot="5400000">
            <a:off x="541338" y="190500"/>
            <a:ext cx="5851525" cy="6019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7" name="Google Shape;77;p34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8" name="Google Shape;78;p34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34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23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b="0" i="0" sz="4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7" name="Google Shape;7;p23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marR="0" rtl="0" algn="l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b="0" i="0" sz="3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406400" lvl="1" marL="914400" marR="0" rtl="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b="0" i="0" sz="2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81000" lvl="2" marL="1371600" marR="0" rtl="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5560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5560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55600" lvl="5" marL="2743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p23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9" name="Google Shape;9;p23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0" name="Google Shape;10;p23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5.png"/><Relationship Id="rId3" Type="http://schemas.openxmlformats.org/officeDocument/2006/relationships/image" Target="../media/image26.png"/><Relationship Id="rId4" Type="http://schemas.openxmlformats.org/officeDocument/2006/relationships/image" Target="../media/image27.png"/><Relationship Id="rId5" Type="http://schemas.openxmlformats.org/officeDocument/2006/relationships/image" Target="../media/image28.png"/><Relationship Id="rId6" Type="http://schemas.openxmlformats.org/officeDocument/2006/relationships/image" Target="../media/image29.png"/><Relationship Id="rId7" Type="http://schemas.openxmlformats.org/officeDocument/2006/relationships/image" Target="../media/image30.png"/><Relationship Id="rId8" Type="http://schemas.openxmlformats.org/officeDocument/2006/relationships/image" Target="../media/image31.png"/><Relationship Id="rId9" Type="http://schemas.openxmlformats.org/officeDocument/2006/relationships/image" Target="../media/image3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chart" Target="../charts/chart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chart" Target="../charts/chart3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3" Type="http://schemas.openxmlformats.org/officeDocument/2006/relationships/chart" Target="../charts/chart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22.png"/><Relationship Id="rId4" Type="http://schemas.openxmlformats.org/officeDocument/2006/relationships/image" Target="../media/image8.png"/><Relationship Id="rId5" Type="http://schemas.openxmlformats.org/officeDocument/2006/relationships/image" Target="../media/image5.png"/><Relationship Id="rId6" Type="http://schemas.openxmlformats.org/officeDocument/2006/relationships/image" Target="../media/image12.png"/><Relationship Id="rId7" Type="http://schemas.openxmlformats.org/officeDocument/2006/relationships/image" Target="../media/image24.png"/><Relationship Id="rId8" Type="http://schemas.openxmlformats.org/officeDocument/2006/relationships/image" Target="../media/image10.png"/><Relationship Id="rId9" Type="http://schemas.openxmlformats.org/officeDocument/2006/relationships/image" Target="../media/image21.png"/><Relationship Id="rId10" Type="http://schemas.openxmlformats.org/officeDocument/2006/relationships/image" Target="../media/image9.png"/><Relationship Id="rId11" Type="http://schemas.openxmlformats.org/officeDocument/2006/relationships/image" Target="../media/image4.png"/><Relationship Id="rId12" Type="http://schemas.openxmlformats.org/officeDocument/2006/relationships/image" Target="../media/image2.png"/><Relationship Id="rId13" Type="http://schemas.openxmlformats.org/officeDocument/2006/relationships/image" Target="../media/image11.png"/><Relationship Id="rId14" Type="http://schemas.openxmlformats.org/officeDocument/2006/relationships/image" Target="../media/image3.png"/><Relationship Id="rId15" Type="http://schemas.openxmlformats.org/officeDocument/2006/relationships/image" Target="../media/image13.png"/><Relationship Id="rId16" Type="http://schemas.openxmlformats.org/officeDocument/2006/relationships/image" Target="../media/image6.png"/><Relationship Id="rId17" Type="http://schemas.openxmlformats.org/officeDocument/2006/relationships/image" Target="../media/image23.png"/><Relationship Id="rId18" Type="http://schemas.openxmlformats.org/officeDocument/2006/relationships/image" Target="../media/image18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5.png"/><Relationship Id="rId4" Type="http://schemas.openxmlformats.org/officeDocument/2006/relationships/image" Target="../media/image14.png"/><Relationship Id="rId5" Type="http://schemas.openxmlformats.org/officeDocument/2006/relationships/image" Target="../media/image16.png"/><Relationship Id="rId6" Type="http://schemas.openxmlformats.org/officeDocument/2006/relationships/image" Target="../media/image20.png"/><Relationship Id="rId7" Type="http://schemas.openxmlformats.org/officeDocument/2006/relationships/image" Target="../media/image17.png"/><Relationship Id="rId8" Type="http://schemas.openxmlformats.org/officeDocument/2006/relationships/image" Target="../media/image19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hyperlink" Target="https://detect-deep-fake.streamlit.app/" TargetMode="External"/><Relationship Id="rId3" Type="http://schemas.openxmlformats.org/officeDocument/2006/relationships/image" Target="../media/image33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3" Type="http://schemas.openxmlformats.org/officeDocument/2006/relationships/image" Target="../media/image34.png"/><Relationship Id="rId4" Type="http://schemas.openxmlformats.org/officeDocument/2006/relationships/image" Target="../media/image35.png"/><Relationship Id="rId5" Type="http://schemas.openxmlformats.org/officeDocument/2006/relationships/image" Target="../media/image36.png"/><Relationship Id="rId6" Type="http://schemas.openxmlformats.org/officeDocument/2006/relationships/image" Target="../media/image37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21E34"/>
        </a:solidFill>
      </p:bgPr>
    </p:bg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"/>
          <p:cNvSpPr txBox="1"/>
          <p:nvPr/>
        </p:nvSpPr>
        <p:spPr>
          <a:xfrm>
            <a:off x="749808" y="713232"/>
            <a:ext cx="10515600" cy="594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27425" spcFirstLastPara="1" rIns="27425" wrap="square" tIns="182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100"/>
              <a:buFont typeface="Arial"/>
              <a:buNone/>
            </a:pPr>
            <a:r>
              <a:rPr b="1" i="0" lang="en-US" sz="31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DEEPFAKE VIDEO DETECTION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5" name="Google Shape;85;p1"/>
          <p:cNvSpPr txBox="1"/>
          <p:nvPr/>
        </p:nvSpPr>
        <p:spPr>
          <a:xfrm>
            <a:off x="749808" y="1353312"/>
            <a:ext cx="3657600" cy="252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27425" spcFirstLastPara="1" rIns="27425" wrap="square" tIns="182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7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6" name="Google Shape;86;p1"/>
          <p:cNvSpPr txBox="1"/>
          <p:nvPr/>
        </p:nvSpPr>
        <p:spPr>
          <a:xfrm>
            <a:off x="749808" y="1920240"/>
            <a:ext cx="9875520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27425" spcFirstLastPara="1" rIns="27425" wrap="square" tIns="182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</a:pPr>
            <a:r>
              <a:rPr b="0" i="0" lang="en-US" sz="1900" u="none" cap="none" strike="noStrike">
                <a:solidFill>
                  <a:srgbClr val="DDE4EF"/>
                </a:solidFill>
                <a:latin typeface="Arial"/>
                <a:ea typeface="Arial"/>
                <a:cs typeface="Arial"/>
                <a:sym typeface="Arial"/>
              </a:rPr>
              <a:t>Video → face images → AI model → REAL / FAKE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7" name="Google Shape;87;p1"/>
          <p:cNvSpPr txBox="1"/>
          <p:nvPr/>
        </p:nvSpPr>
        <p:spPr>
          <a:xfrm>
            <a:off x="749808" y="2770632"/>
            <a:ext cx="18288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27425" spcFirstLastPara="1" rIns="27425" wrap="square" tIns="182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1" i="0" lang="en-US" sz="1000" u="none" cap="none" strike="noStrike">
                <a:solidFill>
                  <a:srgbClr val="F56736"/>
                </a:solidFill>
                <a:latin typeface="Arial"/>
                <a:ea typeface="Arial"/>
                <a:cs typeface="Arial"/>
                <a:sym typeface="Arial"/>
              </a:rPr>
              <a:t>PROJECT TEAM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8" name="Google Shape;88;p1"/>
          <p:cNvSpPr txBox="1"/>
          <p:nvPr/>
        </p:nvSpPr>
        <p:spPr>
          <a:xfrm>
            <a:off x="749808" y="3035808"/>
            <a:ext cx="1024128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27425" spcFirstLastPara="1" rIns="27425" wrap="square" tIns="182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1" i="0" lang="en-US" sz="1400" u="none" cap="none" strike="noStrike">
                <a:solidFill>
                  <a:srgbClr val="DDE4EF"/>
                </a:solidFill>
                <a:latin typeface="Arial"/>
                <a:ea typeface="Arial"/>
                <a:cs typeface="Arial"/>
                <a:sym typeface="Arial"/>
              </a:rPr>
              <a:t>Varahagiri Venkata Sri Swati   •   Aishwary Agrawal   •   Devesh Srivastava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9" name="Google Shape;89;p1"/>
          <p:cNvSpPr/>
          <p:nvPr/>
        </p:nvSpPr>
        <p:spPr>
          <a:xfrm>
            <a:off x="749808" y="4041648"/>
            <a:ext cx="2880360" cy="1115568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9525">
            <a:solidFill>
              <a:srgbClr val="DCE2EA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0" name="Google Shape;90;p1"/>
          <p:cNvSpPr/>
          <p:nvPr/>
        </p:nvSpPr>
        <p:spPr>
          <a:xfrm>
            <a:off x="749808" y="4041648"/>
            <a:ext cx="64008" cy="1115568"/>
          </a:xfrm>
          <a:prstGeom prst="rect">
            <a:avLst/>
          </a:prstGeom>
          <a:solidFill>
            <a:srgbClr val="F56736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1" name="Google Shape;91;p1"/>
          <p:cNvSpPr txBox="1"/>
          <p:nvPr/>
        </p:nvSpPr>
        <p:spPr>
          <a:xfrm>
            <a:off x="969264" y="4151376"/>
            <a:ext cx="2551176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27425" spcFirstLastPara="1" rIns="27425" wrap="square" tIns="182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300"/>
              <a:buFont typeface="Arial"/>
              <a:buNone/>
            </a:pPr>
            <a:r>
              <a:rPr b="1" i="0" lang="en-US" sz="2300" u="none" cap="none" strike="noStrike">
                <a:solidFill>
                  <a:srgbClr val="121E34"/>
                </a:solidFill>
                <a:latin typeface="Arial"/>
                <a:ea typeface="Arial"/>
                <a:cs typeface="Arial"/>
                <a:sym typeface="Arial"/>
              </a:rPr>
              <a:t>6,529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2" name="Google Shape;92;p1"/>
          <p:cNvSpPr txBox="1"/>
          <p:nvPr/>
        </p:nvSpPr>
        <p:spPr>
          <a:xfrm>
            <a:off x="969264" y="4553712"/>
            <a:ext cx="2551176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18275" lIns="27425" spcFirstLastPara="1" rIns="27425" wrap="square" tIns="182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0" i="0" lang="en-US" sz="1100" u="none" cap="none" strike="noStrike">
                <a:solidFill>
                  <a:srgbClr val="5C6778"/>
                </a:solidFill>
                <a:latin typeface="Arial"/>
                <a:ea typeface="Arial"/>
                <a:cs typeface="Arial"/>
                <a:sym typeface="Arial"/>
              </a:rPr>
              <a:t>videos in Celeb-DF v2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3" name="Google Shape;93;p1"/>
          <p:cNvSpPr/>
          <p:nvPr/>
        </p:nvSpPr>
        <p:spPr>
          <a:xfrm>
            <a:off x="4041648" y="4041648"/>
            <a:ext cx="2880360" cy="1115568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9525">
            <a:solidFill>
              <a:srgbClr val="DCE2EA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4" name="Google Shape;94;p1"/>
          <p:cNvSpPr/>
          <p:nvPr/>
        </p:nvSpPr>
        <p:spPr>
          <a:xfrm>
            <a:off x="4041648" y="4041648"/>
            <a:ext cx="64008" cy="1115568"/>
          </a:xfrm>
          <a:prstGeom prst="rect">
            <a:avLst/>
          </a:prstGeom>
          <a:solidFill>
            <a:srgbClr val="3769BE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5" name="Google Shape;95;p1"/>
          <p:cNvSpPr txBox="1"/>
          <p:nvPr/>
        </p:nvSpPr>
        <p:spPr>
          <a:xfrm>
            <a:off x="4261104" y="4151376"/>
            <a:ext cx="2551176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27425" spcFirstLastPara="1" rIns="27425" wrap="square" tIns="182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300"/>
              <a:buFont typeface="Arial"/>
              <a:buNone/>
            </a:pPr>
            <a:r>
              <a:rPr b="1" i="0" lang="en-US" sz="2300" u="none" cap="none" strike="noStrike">
                <a:solidFill>
                  <a:srgbClr val="121E34"/>
                </a:solidFill>
                <a:latin typeface="Arial"/>
                <a:ea typeface="Arial"/>
                <a:cs typeface="Arial"/>
                <a:sym typeface="Arial"/>
              </a:rPr>
              <a:t>73,429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6" name="Google Shape;96;p1"/>
          <p:cNvSpPr txBox="1"/>
          <p:nvPr/>
        </p:nvSpPr>
        <p:spPr>
          <a:xfrm>
            <a:off x="4261104" y="4553712"/>
            <a:ext cx="2551176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18275" lIns="27425" spcFirstLastPara="1" rIns="27425" wrap="square" tIns="182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0" i="0" lang="en-US" sz="1100" u="none" cap="none" strike="noStrike">
                <a:solidFill>
                  <a:srgbClr val="5C6778"/>
                </a:solidFill>
                <a:latin typeface="Arial"/>
                <a:ea typeface="Arial"/>
                <a:cs typeface="Arial"/>
                <a:sym typeface="Arial"/>
              </a:rPr>
              <a:t>face images prepared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7" name="Google Shape;97;p1"/>
          <p:cNvSpPr/>
          <p:nvPr/>
        </p:nvSpPr>
        <p:spPr>
          <a:xfrm>
            <a:off x="7333488" y="4041648"/>
            <a:ext cx="2880360" cy="1115568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9525">
            <a:solidFill>
              <a:srgbClr val="DCE2EA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8" name="Google Shape;98;p1"/>
          <p:cNvSpPr/>
          <p:nvPr/>
        </p:nvSpPr>
        <p:spPr>
          <a:xfrm>
            <a:off x="7333488" y="4041648"/>
            <a:ext cx="64008" cy="1115568"/>
          </a:xfrm>
          <a:prstGeom prst="rect">
            <a:avLst/>
          </a:prstGeom>
          <a:solidFill>
            <a:srgbClr val="1A9769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9" name="Google Shape;99;p1"/>
          <p:cNvSpPr txBox="1"/>
          <p:nvPr/>
        </p:nvSpPr>
        <p:spPr>
          <a:xfrm>
            <a:off x="7552944" y="4151376"/>
            <a:ext cx="2551176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27425" spcFirstLastPara="1" rIns="27425" wrap="square" tIns="182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300"/>
              <a:buFont typeface="Arial"/>
              <a:buNone/>
            </a:pPr>
            <a:r>
              <a:rPr b="1" i="0" lang="en-US" sz="2300" u="none" cap="none" strike="noStrike">
                <a:solidFill>
                  <a:srgbClr val="121E34"/>
                </a:solidFill>
                <a:latin typeface="Arial"/>
                <a:ea typeface="Arial"/>
                <a:cs typeface="Arial"/>
                <a:sym typeface="Arial"/>
              </a:rPr>
              <a:t>0.9999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0" name="Google Shape;100;p1"/>
          <p:cNvSpPr txBox="1"/>
          <p:nvPr/>
        </p:nvSpPr>
        <p:spPr>
          <a:xfrm>
            <a:off x="7552944" y="4553712"/>
            <a:ext cx="2551176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18275" lIns="27425" spcFirstLastPara="1" rIns="27425" wrap="square" tIns="182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0" i="0" lang="en-US" sz="1100" u="none" cap="none" strike="noStrike">
                <a:solidFill>
                  <a:srgbClr val="5C6778"/>
                </a:solidFill>
                <a:latin typeface="Arial"/>
                <a:ea typeface="Arial"/>
                <a:cs typeface="Arial"/>
                <a:sym typeface="Arial"/>
              </a:rPr>
              <a:t>best holdout video AUC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"/>
          <p:cNvSpPr txBox="1"/>
          <p:nvPr/>
        </p:nvSpPr>
        <p:spPr>
          <a:xfrm>
            <a:off x="658368" y="237744"/>
            <a:ext cx="36576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27425" spcFirstLastPara="1" rIns="27425" wrap="square" tIns="182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1" i="0" lang="en-US" sz="1100" u="none" cap="none" strike="noStrike">
                <a:solidFill>
                  <a:srgbClr val="F56736"/>
                </a:solidFill>
                <a:latin typeface="Arial"/>
                <a:ea typeface="Arial"/>
                <a:cs typeface="Arial"/>
                <a:sym typeface="Arial"/>
              </a:rPr>
              <a:t>PROJECT OVERVIEW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6" name="Google Shape;106;p2"/>
          <p:cNvSpPr txBox="1"/>
          <p:nvPr/>
        </p:nvSpPr>
        <p:spPr>
          <a:xfrm>
            <a:off x="658368" y="594360"/>
            <a:ext cx="1078992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27425" spcFirstLastPara="1" rIns="27425" wrap="square" tIns="182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600"/>
              <a:buFont typeface="Arial"/>
              <a:buNone/>
            </a:pPr>
            <a:r>
              <a:rPr b="1" i="0" lang="en-US" sz="2600" u="none" cap="none" strike="noStrike">
                <a:solidFill>
                  <a:srgbClr val="121E34"/>
                </a:solidFill>
                <a:latin typeface="Arial"/>
                <a:ea typeface="Arial"/>
                <a:cs typeface="Arial"/>
                <a:sym typeface="Arial"/>
              </a:rPr>
              <a:t>End-to-end pipeline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7" name="Google Shape;107;p2"/>
          <p:cNvSpPr txBox="1"/>
          <p:nvPr/>
        </p:nvSpPr>
        <p:spPr>
          <a:xfrm>
            <a:off x="658368" y="1060704"/>
            <a:ext cx="10789920" cy="310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27425" spcFirstLastPara="1" rIns="27425" wrap="square" tIns="182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0" i="0" lang="en-US" sz="1300" u="none" cap="none" strike="noStrike">
                <a:solidFill>
                  <a:srgbClr val="5C6778"/>
                </a:solidFill>
                <a:latin typeface="Arial"/>
                <a:ea typeface="Arial"/>
                <a:cs typeface="Arial"/>
                <a:sym typeface="Arial"/>
              </a:rPr>
              <a:t>The project converts each video into one final REAL / FAKE result.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8" name="Google Shape;108;p2"/>
          <p:cNvSpPr/>
          <p:nvPr/>
        </p:nvSpPr>
        <p:spPr>
          <a:xfrm>
            <a:off x="658368" y="1527048"/>
            <a:ext cx="10881360" cy="16459"/>
          </a:xfrm>
          <a:prstGeom prst="rect">
            <a:avLst/>
          </a:prstGeom>
          <a:solidFill>
            <a:srgbClr val="DCE2EA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9" name="Google Shape;109;p2"/>
          <p:cNvSpPr/>
          <p:nvPr/>
        </p:nvSpPr>
        <p:spPr>
          <a:xfrm>
            <a:off x="749808" y="2057400"/>
            <a:ext cx="2029967" cy="96012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9525">
            <a:solidFill>
              <a:srgbClr val="DCE2EA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0" name="Google Shape;110;p2"/>
          <p:cNvSpPr txBox="1"/>
          <p:nvPr/>
        </p:nvSpPr>
        <p:spPr>
          <a:xfrm>
            <a:off x="813815" y="2167128"/>
            <a:ext cx="1901951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27425" spcFirstLastPara="1" rIns="27425" wrap="square" tIns="1827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1" i="0" lang="en-US" sz="1400" u="none" cap="none" strike="noStrike">
                <a:solidFill>
                  <a:srgbClr val="121E34"/>
                </a:solidFill>
                <a:latin typeface="Arial"/>
                <a:ea typeface="Arial"/>
                <a:cs typeface="Arial"/>
                <a:sym typeface="Arial"/>
              </a:rPr>
              <a:t>Video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1" name="Google Shape;111;p2"/>
          <p:cNvSpPr txBox="1"/>
          <p:nvPr/>
        </p:nvSpPr>
        <p:spPr>
          <a:xfrm>
            <a:off x="813815" y="2514600"/>
            <a:ext cx="1901951" cy="237744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27425" spcFirstLastPara="1" rIns="27425" wrap="square" tIns="1827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0" i="0" lang="en-US" sz="900" u="none" cap="none" strike="noStrike">
                <a:solidFill>
                  <a:srgbClr val="5C6778"/>
                </a:solidFill>
                <a:latin typeface="Arial"/>
                <a:ea typeface="Arial"/>
                <a:cs typeface="Arial"/>
                <a:sym typeface="Arial"/>
              </a:rPr>
              <a:t>input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2" name="Google Shape;112;p2"/>
          <p:cNvSpPr txBox="1"/>
          <p:nvPr/>
        </p:nvSpPr>
        <p:spPr>
          <a:xfrm>
            <a:off x="2779775" y="2331720"/>
            <a:ext cx="13716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27425" spcFirstLastPara="1" rIns="27425" wrap="square" tIns="1827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700"/>
              <a:buFont typeface="Arial"/>
              <a:buNone/>
            </a:pPr>
            <a:r>
              <a:rPr b="1" i="0" lang="en-US" sz="1700" u="none" cap="none" strike="noStrike">
                <a:solidFill>
                  <a:srgbClr val="F56736"/>
                </a:solidFill>
                <a:latin typeface="Arial"/>
                <a:ea typeface="Arial"/>
                <a:cs typeface="Arial"/>
                <a:sym typeface="Arial"/>
              </a:rPr>
              <a:t>→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3" name="Google Shape;113;p2"/>
          <p:cNvSpPr/>
          <p:nvPr/>
        </p:nvSpPr>
        <p:spPr>
          <a:xfrm>
            <a:off x="2916935" y="2057400"/>
            <a:ext cx="2029967" cy="96012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9525">
            <a:solidFill>
              <a:srgbClr val="DCE2EA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4" name="Google Shape;114;p2"/>
          <p:cNvSpPr txBox="1"/>
          <p:nvPr/>
        </p:nvSpPr>
        <p:spPr>
          <a:xfrm>
            <a:off x="2980943" y="2167128"/>
            <a:ext cx="1901951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27425" spcFirstLastPara="1" rIns="27425" wrap="square" tIns="1827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1" i="0" lang="en-US" sz="1400" u="none" cap="none" strike="noStrike">
                <a:solidFill>
                  <a:srgbClr val="121E34"/>
                </a:solidFill>
                <a:latin typeface="Arial"/>
                <a:ea typeface="Arial"/>
                <a:cs typeface="Arial"/>
                <a:sym typeface="Arial"/>
              </a:rPr>
              <a:t>Take frames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5" name="Google Shape;115;p2"/>
          <p:cNvSpPr txBox="1"/>
          <p:nvPr/>
        </p:nvSpPr>
        <p:spPr>
          <a:xfrm>
            <a:off x="2980943" y="2514600"/>
            <a:ext cx="1901951" cy="237744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27425" spcFirstLastPara="1" rIns="27425" wrap="square" tIns="1827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0" i="0" lang="en-US" sz="900" u="none" cap="none" strike="noStrike">
                <a:solidFill>
                  <a:srgbClr val="5C6778"/>
                </a:solidFill>
                <a:latin typeface="Arial"/>
                <a:ea typeface="Arial"/>
                <a:cs typeface="Arial"/>
                <a:sym typeface="Arial"/>
              </a:rPr>
              <a:t>selected images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6" name="Google Shape;116;p2"/>
          <p:cNvSpPr txBox="1"/>
          <p:nvPr/>
        </p:nvSpPr>
        <p:spPr>
          <a:xfrm>
            <a:off x="4946903" y="2331720"/>
            <a:ext cx="13716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27425" spcFirstLastPara="1" rIns="27425" wrap="square" tIns="1827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700"/>
              <a:buFont typeface="Arial"/>
              <a:buNone/>
            </a:pPr>
            <a:r>
              <a:rPr b="1" i="0" lang="en-US" sz="1700" u="none" cap="none" strike="noStrike">
                <a:solidFill>
                  <a:srgbClr val="F56736"/>
                </a:solidFill>
                <a:latin typeface="Arial"/>
                <a:ea typeface="Arial"/>
                <a:cs typeface="Arial"/>
                <a:sym typeface="Arial"/>
              </a:rPr>
              <a:t>→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7" name="Google Shape;117;p2"/>
          <p:cNvSpPr/>
          <p:nvPr/>
        </p:nvSpPr>
        <p:spPr>
          <a:xfrm>
            <a:off x="5084064" y="2057400"/>
            <a:ext cx="2029967" cy="96012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9525">
            <a:solidFill>
              <a:srgbClr val="DCE2EA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8" name="Google Shape;118;p2"/>
          <p:cNvSpPr txBox="1"/>
          <p:nvPr/>
        </p:nvSpPr>
        <p:spPr>
          <a:xfrm>
            <a:off x="5148072" y="2167128"/>
            <a:ext cx="1901951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27425" spcFirstLastPara="1" rIns="27425" wrap="square" tIns="1827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1" i="0" lang="en-US" sz="1400" u="none" cap="none" strike="noStrike">
                <a:solidFill>
                  <a:srgbClr val="121E34"/>
                </a:solidFill>
                <a:latin typeface="Arial"/>
                <a:ea typeface="Arial"/>
                <a:cs typeface="Arial"/>
                <a:sym typeface="Arial"/>
              </a:rPr>
              <a:t>Detect face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9" name="Google Shape;119;p2"/>
          <p:cNvSpPr txBox="1"/>
          <p:nvPr/>
        </p:nvSpPr>
        <p:spPr>
          <a:xfrm>
            <a:off x="5148072" y="2514600"/>
            <a:ext cx="1901951" cy="237744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27425" spcFirstLastPara="1" rIns="27425" wrap="square" tIns="1827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0" i="0" lang="en-US" sz="900" u="none" cap="none" strike="noStrike">
                <a:solidFill>
                  <a:srgbClr val="5C6778"/>
                </a:solidFill>
                <a:latin typeface="Arial"/>
                <a:ea typeface="Arial"/>
                <a:cs typeface="Arial"/>
                <a:sym typeface="Arial"/>
              </a:rPr>
              <a:t>RetinaFace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0" name="Google Shape;120;p2"/>
          <p:cNvSpPr txBox="1"/>
          <p:nvPr/>
        </p:nvSpPr>
        <p:spPr>
          <a:xfrm>
            <a:off x="7114031" y="2331720"/>
            <a:ext cx="13716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27425" spcFirstLastPara="1" rIns="27425" wrap="square" tIns="1827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700"/>
              <a:buFont typeface="Arial"/>
              <a:buNone/>
            </a:pPr>
            <a:r>
              <a:rPr b="1" i="0" lang="en-US" sz="1700" u="none" cap="none" strike="noStrike">
                <a:solidFill>
                  <a:srgbClr val="F56736"/>
                </a:solidFill>
                <a:latin typeface="Arial"/>
                <a:ea typeface="Arial"/>
                <a:cs typeface="Arial"/>
                <a:sym typeface="Arial"/>
              </a:rPr>
              <a:t>→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1" name="Google Shape;121;p2"/>
          <p:cNvSpPr/>
          <p:nvPr/>
        </p:nvSpPr>
        <p:spPr>
          <a:xfrm>
            <a:off x="7251192" y="2057400"/>
            <a:ext cx="2029967" cy="96012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9525">
            <a:solidFill>
              <a:srgbClr val="DCE2EA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2" name="Google Shape;122;p2"/>
          <p:cNvSpPr txBox="1"/>
          <p:nvPr/>
        </p:nvSpPr>
        <p:spPr>
          <a:xfrm>
            <a:off x="7315200" y="2167128"/>
            <a:ext cx="1901951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27425" spcFirstLastPara="1" rIns="27425" wrap="square" tIns="1827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1" i="0" lang="en-US" sz="1400" u="none" cap="none" strike="noStrike">
                <a:solidFill>
                  <a:srgbClr val="121E34"/>
                </a:solidFill>
                <a:latin typeface="Arial"/>
                <a:ea typeface="Arial"/>
                <a:cs typeface="Arial"/>
                <a:sym typeface="Arial"/>
              </a:rPr>
              <a:t>Score faces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3" name="Google Shape;123;p2"/>
          <p:cNvSpPr txBox="1"/>
          <p:nvPr/>
        </p:nvSpPr>
        <p:spPr>
          <a:xfrm>
            <a:off x="7315200" y="2514600"/>
            <a:ext cx="1901951" cy="237744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27425" spcFirstLastPara="1" rIns="27425" wrap="square" tIns="1827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0" i="0" lang="en-US" sz="900" u="none" cap="none" strike="noStrike">
                <a:solidFill>
                  <a:srgbClr val="5C6778"/>
                </a:solidFill>
                <a:latin typeface="Arial"/>
                <a:ea typeface="Arial"/>
                <a:cs typeface="Arial"/>
                <a:sym typeface="Arial"/>
              </a:rPr>
              <a:t>ConvNeXt-Tiny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4" name="Google Shape;124;p2"/>
          <p:cNvSpPr txBox="1"/>
          <p:nvPr/>
        </p:nvSpPr>
        <p:spPr>
          <a:xfrm>
            <a:off x="9281159" y="2331720"/>
            <a:ext cx="13716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27425" spcFirstLastPara="1" rIns="27425" wrap="square" tIns="1827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700"/>
              <a:buFont typeface="Arial"/>
              <a:buNone/>
            </a:pPr>
            <a:r>
              <a:rPr b="1" i="0" lang="en-US" sz="1700" u="none" cap="none" strike="noStrike">
                <a:solidFill>
                  <a:srgbClr val="F56736"/>
                </a:solidFill>
                <a:latin typeface="Arial"/>
                <a:ea typeface="Arial"/>
                <a:cs typeface="Arial"/>
                <a:sym typeface="Arial"/>
              </a:rPr>
              <a:t>→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5" name="Google Shape;125;p2"/>
          <p:cNvSpPr/>
          <p:nvPr/>
        </p:nvSpPr>
        <p:spPr>
          <a:xfrm>
            <a:off x="9418319" y="2057400"/>
            <a:ext cx="2029967" cy="96012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9525">
            <a:solidFill>
              <a:srgbClr val="DCE2EA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6" name="Google Shape;126;p2"/>
          <p:cNvSpPr txBox="1"/>
          <p:nvPr/>
        </p:nvSpPr>
        <p:spPr>
          <a:xfrm>
            <a:off x="9482328" y="2167128"/>
            <a:ext cx="1901951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27425" spcFirstLastPara="1" rIns="27425" wrap="square" tIns="1827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1" i="0" lang="en-US" sz="1400" u="none" cap="none" strike="noStrike">
                <a:solidFill>
                  <a:srgbClr val="121E34"/>
                </a:solidFill>
                <a:latin typeface="Arial"/>
                <a:ea typeface="Arial"/>
                <a:cs typeface="Arial"/>
                <a:sym typeface="Arial"/>
              </a:rPr>
              <a:t>Video result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7" name="Google Shape;127;p2"/>
          <p:cNvSpPr txBox="1"/>
          <p:nvPr/>
        </p:nvSpPr>
        <p:spPr>
          <a:xfrm>
            <a:off x="9482328" y="2514600"/>
            <a:ext cx="1901951" cy="237744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27425" spcFirstLastPara="1" rIns="27425" wrap="square" tIns="1827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0" i="0" lang="en-US" sz="900" u="none" cap="none" strike="noStrike">
                <a:solidFill>
                  <a:srgbClr val="5C6778"/>
                </a:solidFill>
                <a:latin typeface="Arial"/>
                <a:ea typeface="Arial"/>
                <a:cs typeface="Arial"/>
                <a:sym typeface="Arial"/>
              </a:rPr>
              <a:t>REAL / FAKE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8" name="Google Shape;128;p2"/>
          <p:cNvSpPr/>
          <p:nvPr/>
        </p:nvSpPr>
        <p:spPr>
          <a:xfrm>
            <a:off x="749808" y="3794760"/>
            <a:ext cx="10698480" cy="1417320"/>
          </a:xfrm>
          <a:prstGeom prst="roundRect">
            <a:avLst>
              <a:gd fmla="val 16667" name="adj"/>
            </a:avLst>
          </a:prstGeom>
          <a:solidFill>
            <a:srgbClr val="F1F9F6"/>
          </a:solidFill>
          <a:ln cap="flat" cmpd="sng" w="9525">
            <a:solidFill>
              <a:srgbClr val="DCE2EA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9" name="Google Shape;129;p2"/>
          <p:cNvSpPr txBox="1"/>
          <p:nvPr/>
        </p:nvSpPr>
        <p:spPr>
          <a:xfrm>
            <a:off x="987552" y="4005072"/>
            <a:ext cx="210312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27425" spcFirstLastPara="1" rIns="27425" wrap="square" tIns="182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1" i="0" lang="en-US" sz="1100" u="none" cap="none" strike="noStrike">
                <a:solidFill>
                  <a:srgbClr val="1A9769"/>
                </a:solidFill>
                <a:latin typeface="Arial"/>
                <a:ea typeface="Arial"/>
                <a:cs typeface="Arial"/>
                <a:sym typeface="Arial"/>
              </a:rPr>
              <a:t>CURRENT RESULT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0" name="Google Shape;130;p2"/>
          <p:cNvSpPr txBox="1"/>
          <p:nvPr/>
        </p:nvSpPr>
        <p:spPr>
          <a:xfrm>
            <a:off x="987552" y="4325112"/>
            <a:ext cx="9784080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27425" spcFirstLastPara="1" rIns="27425" wrap="square" tIns="182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00"/>
              <a:buFont typeface="Arial"/>
              <a:buNone/>
            </a:pPr>
            <a:r>
              <a:rPr b="1" i="0" lang="en-US" sz="2200" u="none" cap="none" strike="noStrike">
                <a:solidFill>
                  <a:srgbClr val="121E34"/>
                </a:solidFill>
                <a:latin typeface="Arial"/>
                <a:ea typeface="Arial"/>
                <a:cs typeface="Arial"/>
                <a:sym typeface="Arial"/>
              </a:rPr>
              <a:t>794 of 809 holdout videos were classified correctly.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1" name="Google Shape;131;p2"/>
          <p:cNvSpPr txBox="1"/>
          <p:nvPr/>
        </p:nvSpPr>
        <p:spPr>
          <a:xfrm>
            <a:off x="987552" y="4846320"/>
            <a:ext cx="9875520" cy="310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27425" spcFirstLastPara="1" rIns="27425" wrap="square" tIns="182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0" i="0" lang="en-US" sz="1300" u="none" cap="none" strike="noStrike">
                <a:solidFill>
                  <a:srgbClr val="5C6778"/>
                </a:solidFill>
                <a:latin typeface="Arial"/>
                <a:ea typeface="Arial"/>
                <a:cs typeface="Arial"/>
                <a:sym typeface="Arial"/>
              </a:rPr>
              <a:t>ConvNeXt-Tiny was the best of seven models, trained and evaluated in three steps.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21E34"/>
        </a:solidFill>
      </p:bgPr>
    </p:bg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3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3769BE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7" name="Google Shape;137;p3"/>
          <p:cNvSpPr txBox="1"/>
          <p:nvPr/>
        </p:nvSpPr>
        <p:spPr>
          <a:xfrm>
            <a:off x="868680" y="1097280"/>
            <a:ext cx="27432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27425" spcFirstLastPara="1" rIns="27425" wrap="square" tIns="182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1" i="0" lang="en-US" sz="1400" u="none" cap="none" strike="noStrike">
                <a:solidFill>
                  <a:srgbClr val="3769BE"/>
                </a:solidFill>
                <a:latin typeface="Arial"/>
                <a:ea typeface="Arial"/>
                <a:cs typeface="Arial"/>
                <a:sym typeface="Arial"/>
              </a:rPr>
              <a:t>STEP 1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8" name="Google Shape;138;p3"/>
          <p:cNvSpPr txBox="1"/>
          <p:nvPr/>
        </p:nvSpPr>
        <p:spPr>
          <a:xfrm>
            <a:off x="868680" y="1874519"/>
            <a:ext cx="10058400" cy="621792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27425" spcFirstLastPara="1" rIns="27425" wrap="square" tIns="182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100"/>
              <a:buFont typeface="Arial"/>
              <a:buNone/>
            </a:pPr>
            <a:r>
              <a:rPr b="1" i="0" lang="en-US" sz="31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Data Preparation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9" name="Google Shape;139;p3"/>
          <p:cNvSpPr txBox="1"/>
          <p:nvPr/>
        </p:nvSpPr>
        <p:spPr>
          <a:xfrm>
            <a:off x="868680" y="2788920"/>
            <a:ext cx="9875520" cy="640080"/>
          </a:xfrm>
          <a:prstGeom prst="rect">
            <a:avLst/>
          </a:prstGeom>
          <a:noFill/>
          <a:ln>
            <a:noFill/>
          </a:ln>
        </p:spPr>
        <p:txBody>
          <a:bodyPr anchorCtr="0" anchor="t" bIns="18275" lIns="27425" spcFirstLastPara="1" rIns="27425" wrap="square" tIns="182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en-US" sz="1800" u="none" cap="none" strike="noStrike">
                <a:solidFill>
                  <a:srgbClr val="DEE5EF"/>
                </a:solidFill>
                <a:latin typeface="Arial"/>
                <a:ea typeface="Arial"/>
                <a:cs typeface="Arial"/>
                <a:sym typeface="Arial"/>
              </a:rPr>
              <a:t>Prepare consistent face images before model training.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0" name="Google Shape;140;p3"/>
          <p:cNvSpPr/>
          <p:nvPr/>
        </p:nvSpPr>
        <p:spPr>
          <a:xfrm>
            <a:off x="868680" y="3794760"/>
            <a:ext cx="1920240" cy="45720"/>
          </a:xfrm>
          <a:prstGeom prst="rect">
            <a:avLst/>
          </a:prstGeom>
          <a:solidFill>
            <a:srgbClr val="3769BE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4"/>
          <p:cNvSpPr txBox="1"/>
          <p:nvPr/>
        </p:nvSpPr>
        <p:spPr>
          <a:xfrm>
            <a:off x="658368" y="237744"/>
            <a:ext cx="36576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27425" spcFirstLastPara="1" rIns="27425" wrap="square" tIns="182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1" i="0" lang="en-US" sz="1100" u="none" cap="none" strike="noStrike">
                <a:solidFill>
                  <a:srgbClr val="F56736"/>
                </a:solidFill>
                <a:latin typeface="Arial"/>
                <a:ea typeface="Arial"/>
                <a:cs typeface="Arial"/>
                <a:sym typeface="Arial"/>
              </a:rPr>
              <a:t>STEP 1 — DATA PREPARATION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6" name="Google Shape;146;p4"/>
          <p:cNvSpPr txBox="1"/>
          <p:nvPr/>
        </p:nvSpPr>
        <p:spPr>
          <a:xfrm>
            <a:off x="658368" y="594360"/>
            <a:ext cx="1078992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27425" spcFirstLastPara="1" rIns="27425" wrap="square" tIns="182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600"/>
              <a:buFont typeface="Arial"/>
              <a:buNone/>
            </a:pPr>
            <a:r>
              <a:rPr b="1" i="0" lang="en-US" sz="2600" u="none" cap="none" strike="noStrike">
                <a:solidFill>
                  <a:srgbClr val="121E34"/>
                </a:solidFill>
                <a:latin typeface="Arial"/>
                <a:ea typeface="Arial"/>
                <a:cs typeface="Arial"/>
                <a:sym typeface="Arial"/>
              </a:rPr>
              <a:t>Dataset used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7" name="Google Shape;147;p4"/>
          <p:cNvSpPr txBox="1"/>
          <p:nvPr/>
        </p:nvSpPr>
        <p:spPr>
          <a:xfrm>
            <a:off x="658368" y="1060704"/>
            <a:ext cx="10789920" cy="310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27425" spcFirstLastPara="1" rIns="27425" wrap="square" tIns="182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0" i="0" lang="en-US" sz="1300" u="none" cap="none" strike="noStrike">
                <a:solidFill>
                  <a:srgbClr val="5C6778"/>
                </a:solidFill>
                <a:latin typeface="Arial"/>
                <a:ea typeface="Arial"/>
                <a:cs typeface="Arial"/>
                <a:sym typeface="Arial"/>
              </a:rPr>
              <a:t>Celeb-DF v2 was downloaded directly from Kaggle.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8" name="Google Shape;148;p4"/>
          <p:cNvSpPr/>
          <p:nvPr/>
        </p:nvSpPr>
        <p:spPr>
          <a:xfrm>
            <a:off x="658368" y="1527048"/>
            <a:ext cx="10881360" cy="16459"/>
          </a:xfrm>
          <a:prstGeom prst="rect">
            <a:avLst/>
          </a:prstGeom>
          <a:solidFill>
            <a:srgbClr val="DCE2EA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9" name="Google Shape;149;p4"/>
          <p:cNvSpPr/>
          <p:nvPr/>
        </p:nvSpPr>
        <p:spPr>
          <a:xfrm>
            <a:off x="749808" y="1901952"/>
            <a:ext cx="2423160" cy="105156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9525">
            <a:solidFill>
              <a:srgbClr val="DCE2EA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0" name="Google Shape;150;p4"/>
          <p:cNvSpPr/>
          <p:nvPr/>
        </p:nvSpPr>
        <p:spPr>
          <a:xfrm>
            <a:off x="749808" y="1901952"/>
            <a:ext cx="64008" cy="1051560"/>
          </a:xfrm>
          <a:prstGeom prst="rect">
            <a:avLst/>
          </a:prstGeom>
          <a:solidFill>
            <a:srgbClr val="1A9769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1" name="Google Shape;151;p4"/>
          <p:cNvSpPr txBox="1"/>
          <p:nvPr/>
        </p:nvSpPr>
        <p:spPr>
          <a:xfrm>
            <a:off x="969264" y="2011680"/>
            <a:ext cx="2093976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27425" spcFirstLastPara="1" rIns="27425" wrap="square" tIns="182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300"/>
              <a:buFont typeface="Arial"/>
              <a:buNone/>
            </a:pPr>
            <a:r>
              <a:rPr b="1" i="0" lang="en-US" sz="2300" u="none" cap="none" strike="noStrike">
                <a:solidFill>
                  <a:srgbClr val="121E34"/>
                </a:solidFill>
                <a:latin typeface="Arial"/>
                <a:ea typeface="Arial"/>
                <a:cs typeface="Arial"/>
                <a:sym typeface="Arial"/>
              </a:rPr>
              <a:t>590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2" name="Google Shape;152;p4"/>
          <p:cNvSpPr txBox="1"/>
          <p:nvPr/>
        </p:nvSpPr>
        <p:spPr>
          <a:xfrm>
            <a:off x="969264" y="2414016"/>
            <a:ext cx="2093976" cy="484631"/>
          </a:xfrm>
          <a:prstGeom prst="rect">
            <a:avLst/>
          </a:prstGeom>
          <a:noFill/>
          <a:ln>
            <a:noFill/>
          </a:ln>
        </p:spPr>
        <p:txBody>
          <a:bodyPr anchorCtr="0" anchor="t" bIns="18275" lIns="27425" spcFirstLastPara="1" rIns="27425" wrap="square" tIns="182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0" i="0" lang="en-US" sz="1100" u="none" cap="none" strike="noStrike">
                <a:solidFill>
                  <a:srgbClr val="5C6778"/>
                </a:solidFill>
                <a:latin typeface="Arial"/>
                <a:ea typeface="Arial"/>
                <a:cs typeface="Arial"/>
                <a:sym typeface="Arial"/>
              </a:rPr>
              <a:t>real celebrity videos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3" name="Google Shape;153;p4"/>
          <p:cNvSpPr/>
          <p:nvPr/>
        </p:nvSpPr>
        <p:spPr>
          <a:xfrm>
            <a:off x="3364992" y="1901952"/>
            <a:ext cx="2423160" cy="105156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9525">
            <a:solidFill>
              <a:srgbClr val="DCE2EA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4" name="Google Shape;154;p4"/>
          <p:cNvSpPr/>
          <p:nvPr/>
        </p:nvSpPr>
        <p:spPr>
          <a:xfrm>
            <a:off x="3364992" y="1901952"/>
            <a:ext cx="64008" cy="1051560"/>
          </a:xfrm>
          <a:prstGeom prst="rect">
            <a:avLst/>
          </a:prstGeom>
          <a:solidFill>
            <a:srgbClr val="2A96A0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5" name="Google Shape;155;p4"/>
          <p:cNvSpPr txBox="1"/>
          <p:nvPr/>
        </p:nvSpPr>
        <p:spPr>
          <a:xfrm>
            <a:off x="3584448" y="2011680"/>
            <a:ext cx="2093976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27425" spcFirstLastPara="1" rIns="27425" wrap="square" tIns="182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300"/>
              <a:buFont typeface="Arial"/>
              <a:buNone/>
            </a:pPr>
            <a:r>
              <a:rPr b="1" i="0" lang="en-US" sz="2300" u="none" cap="none" strike="noStrike">
                <a:solidFill>
                  <a:srgbClr val="121E34"/>
                </a:solidFill>
                <a:latin typeface="Arial"/>
                <a:ea typeface="Arial"/>
                <a:cs typeface="Arial"/>
                <a:sym typeface="Arial"/>
              </a:rPr>
              <a:t>300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6" name="Google Shape;156;p4"/>
          <p:cNvSpPr txBox="1"/>
          <p:nvPr/>
        </p:nvSpPr>
        <p:spPr>
          <a:xfrm>
            <a:off x="3584448" y="2414016"/>
            <a:ext cx="2093976" cy="484631"/>
          </a:xfrm>
          <a:prstGeom prst="rect">
            <a:avLst/>
          </a:prstGeom>
          <a:noFill/>
          <a:ln>
            <a:noFill/>
          </a:ln>
        </p:spPr>
        <p:txBody>
          <a:bodyPr anchorCtr="0" anchor="t" bIns="18275" lIns="27425" spcFirstLastPara="1" rIns="27425" wrap="square" tIns="182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0" i="0" lang="en-US" sz="1100" u="none" cap="none" strike="noStrike">
                <a:solidFill>
                  <a:srgbClr val="5C6778"/>
                </a:solidFill>
                <a:latin typeface="Arial"/>
                <a:ea typeface="Arial"/>
                <a:cs typeface="Arial"/>
                <a:sym typeface="Arial"/>
              </a:rPr>
              <a:t>real YouTube videos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7" name="Google Shape;157;p4"/>
          <p:cNvSpPr/>
          <p:nvPr/>
        </p:nvSpPr>
        <p:spPr>
          <a:xfrm>
            <a:off x="5980176" y="1901952"/>
            <a:ext cx="2423160" cy="105156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9525">
            <a:solidFill>
              <a:srgbClr val="DCE2EA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8" name="Google Shape;158;p4"/>
          <p:cNvSpPr/>
          <p:nvPr/>
        </p:nvSpPr>
        <p:spPr>
          <a:xfrm>
            <a:off x="5980176" y="1901952"/>
            <a:ext cx="64008" cy="1051560"/>
          </a:xfrm>
          <a:prstGeom prst="rect">
            <a:avLst/>
          </a:prstGeom>
          <a:solidFill>
            <a:srgbClr val="F56736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9" name="Google Shape;159;p4"/>
          <p:cNvSpPr txBox="1"/>
          <p:nvPr/>
        </p:nvSpPr>
        <p:spPr>
          <a:xfrm>
            <a:off x="6199632" y="2011680"/>
            <a:ext cx="2093976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27425" spcFirstLastPara="1" rIns="27425" wrap="square" tIns="182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300"/>
              <a:buFont typeface="Arial"/>
              <a:buNone/>
            </a:pPr>
            <a:r>
              <a:rPr b="1" i="0" lang="en-US" sz="2300" u="none" cap="none" strike="noStrike">
                <a:solidFill>
                  <a:srgbClr val="121E34"/>
                </a:solidFill>
                <a:latin typeface="Arial"/>
                <a:ea typeface="Arial"/>
                <a:cs typeface="Arial"/>
                <a:sym typeface="Arial"/>
              </a:rPr>
              <a:t>5,639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0" name="Google Shape;160;p4"/>
          <p:cNvSpPr txBox="1"/>
          <p:nvPr/>
        </p:nvSpPr>
        <p:spPr>
          <a:xfrm>
            <a:off x="6199632" y="2414016"/>
            <a:ext cx="2093976" cy="484631"/>
          </a:xfrm>
          <a:prstGeom prst="rect">
            <a:avLst/>
          </a:prstGeom>
          <a:noFill/>
          <a:ln>
            <a:noFill/>
          </a:ln>
        </p:spPr>
        <p:txBody>
          <a:bodyPr anchorCtr="0" anchor="t" bIns="18275" lIns="27425" spcFirstLastPara="1" rIns="27425" wrap="square" tIns="182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0" i="0" lang="en-US" sz="1100" u="none" cap="none" strike="noStrike">
                <a:solidFill>
                  <a:srgbClr val="5C6778"/>
                </a:solidFill>
                <a:latin typeface="Arial"/>
                <a:ea typeface="Arial"/>
                <a:cs typeface="Arial"/>
                <a:sym typeface="Arial"/>
              </a:rPr>
              <a:t>fake videos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1" name="Google Shape;161;p4"/>
          <p:cNvSpPr/>
          <p:nvPr/>
        </p:nvSpPr>
        <p:spPr>
          <a:xfrm>
            <a:off x="8595360" y="1901952"/>
            <a:ext cx="2423160" cy="105156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9525">
            <a:solidFill>
              <a:srgbClr val="DCE2EA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2" name="Google Shape;162;p4"/>
          <p:cNvSpPr/>
          <p:nvPr/>
        </p:nvSpPr>
        <p:spPr>
          <a:xfrm>
            <a:off x="8595360" y="1901952"/>
            <a:ext cx="64008" cy="1051560"/>
          </a:xfrm>
          <a:prstGeom prst="rect">
            <a:avLst/>
          </a:prstGeom>
          <a:solidFill>
            <a:srgbClr val="3769BE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3" name="Google Shape;163;p4"/>
          <p:cNvSpPr txBox="1"/>
          <p:nvPr/>
        </p:nvSpPr>
        <p:spPr>
          <a:xfrm>
            <a:off x="8814816" y="2011680"/>
            <a:ext cx="2093976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27425" spcFirstLastPara="1" rIns="27425" wrap="square" tIns="182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300"/>
              <a:buFont typeface="Arial"/>
              <a:buNone/>
            </a:pPr>
            <a:r>
              <a:rPr b="1" i="0" lang="en-US" sz="2300" u="none" cap="none" strike="noStrike">
                <a:solidFill>
                  <a:srgbClr val="121E34"/>
                </a:solidFill>
                <a:latin typeface="Arial"/>
                <a:ea typeface="Arial"/>
                <a:cs typeface="Arial"/>
                <a:sym typeface="Arial"/>
              </a:rPr>
              <a:t>6,529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4" name="Google Shape;164;p4"/>
          <p:cNvSpPr txBox="1"/>
          <p:nvPr/>
        </p:nvSpPr>
        <p:spPr>
          <a:xfrm>
            <a:off x="8814816" y="2414016"/>
            <a:ext cx="2093976" cy="484631"/>
          </a:xfrm>
          <a:prstGeom prst="rect">
            <a:avLst/>
          </a:prstGeom>
          <a:noFill/>
          <a:ln>
            <a:noFill/>
          </a:ln>
        </p:spPr>
        <p:txBody>
          <a:bodyPr anchorCtr="0" anchor="t" bIns="18275" lIns="27425" spcFirstLastPara="1" rIns="27425" wrap="square" tIns="182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0" i="0" lang="en-US" sz="1100" u="none" cap="none" strike="noStrike">
                <a:solidFill>
                  <a:srgbClr val="5C6778"/>
                </a:solidFill>
                <a:latin typeface="Arial"/>
                <a:ea typeface="Arial"/>
                <a:cs typeface="Arial"/>
                <a:sym typeface="Arial"/>
              </a:rPr>
              <a:t>total videos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5" name="Google Shape;165;p4"/>
          <p:cNvSpPr txBox="1"/>
          <p:nvPr/>
        </p:nvSpPr>
        <p:spPr>
          <a:xfrm>
            <a:off x="749808" y="3401568"/>
            <a:ext cx="27432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27425" spcFirstLastPara="1" rIns="27425" wrap="square" tIns="182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1" i="0" lang="en-US" sz="1100" u="none" cap="none" strike="noStrike">
                <a:solidFill>
                  <a:srgbClr val="F56736"/>
                </a:solidFill>
                <a:latin typeface="Arial"/>
                <a:ea typeface="Arial"/>
                <a:cs typeface="Arial"/>
                <a:sym typeface="Arial"/>
              </a:rPr>
              <a:t>DATA PREPARATION FLOW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6" name="Google Shape;166;p4"/>
          <p:cNvSpPr/>
          <p:nvPr/>
        </p:nvSpPr>
        <p:spPr>
          <a:xfrm>
            <a:off x="749808" y="3730752"/>
            <a:ext cx="2571750" cy="96012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9525">
            <a:solidFill>
              <a:srgbClr val="DCE2EA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7" name="Google Shape;167;p4"/>
          <p:cNvSpPr txBox="1"/>
          <p:nvPr/>
        </p:nvSpPr>
        <p:spPr>
          <a:xfrm>
            <a:off x="813815" y="3840480"/>
            <a:ext cx="2443734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27425" spcFirstLastPara="1" rIns="27425" wrap="square" tIns="1827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1" i="0" lang="en-US" sz="1400" u="none" cap="none" strike="noStrike">
                <a:solidFill>
                  <a:srgbClr val="121E34"/>
                </a:solidFill>
                <a:latin typeface="Arial"/>
                <a:ea typeface="Arial"/>
                <a:cs typeface="Arial"/>
                <a:sym typeface="Arial"/>
              </a:rPr>
              <a:t>Take frames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8" name="Google Shape;168;p4"/>
          <p:cNvSpPr txBox="1"/>
          <p:nvPr/>
        </p:nvSpPr>
        <p:spPr>
          <a:xfrm>
            <a:off x="813815" y="4187952"/>
            <a:ext cx="2443734" cy="237744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27425" spcFirstLastPara="1" rIns="27425" wrap="square" tIns="1827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0" i="0" lang="en-US" sz="900" u="none" cap="none" strike="noStrike">
                <a:solidFill>
                  <a:srgbClr val="5C6778"/>
                </a:solidFill>
                <a:latin typeface="Arial"/>
                <a:ea typeface="Arial"/>
                <a:cs typeface="Arial"/>
                <a:sym typeface="Arial"/>
              </a:rPr>
              <a:t>from each video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9" name="Google Shape;169;p4"/>
          <p:cNvSpPr txBox="1"/>
          <p:nvPr/>
        </p:nvSpPr>
        <p:spPr>
          <a:xfrm>
            <a:off x="3321558" y="4005072"/>
            <a:ext cx="13716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27425" spcFirstLastPara="1" rIns="27425" wrap="square" tIns="1827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700"/>
              <a:buFont typeface="Arial"/>
              <a:buNone/>
            </a:pPr>
            <a:r>
              <a:rPr b="1" i="0" lang="en-US" sz="1700" u="none" cap="none" strike="noStrike">
                <a:solidFill>
                  <a:srgbClr val="F56736"/>
                </a:solidFill>
                <a:latin typeface="Arial"/>
                <a:ea typeface="Arial"/>
                <a:cs typeface="Arial"/>
                <a:sym typeface="Arial"/>
              </a:rPr>
              <a:t>→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0" name="Google Shape;170;p4"/>
          <p:cNvSpPr/>
          <p:nvPr/>
        </p:nvSpPr>
        <p:spPr>
          <a:xfrm>
            <a:off x="3458718" y="3730752"/>
            <a:ext cx="2571750" cy="96012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9525">
            <a:solidFill>
              <a:srgbClr val="DCE2EA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1" name="Google Shape;171;p4"/>
          <p:cNvSpPr txBox="1"/>
          <p:nvPr/>
        </p:nvSpPr>
        <p:spPr>
          <a:xfrm>
            <a:off x="3522725" y="3840480"/>
            <a:ext cx="2443734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27425" spcFirstLastPara="1" rIns="27425" wrap="square" tIns="1827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1" i="0" lang="en-US" sz="1400" u="none" cap="none" strike="noStrike">
                <a:solidFill>
                  <a:srgbClr val="121E34"/>
                </a:solidFill>
                <a:latin typeface="Arial"/>
                <a:ea typeface="Arial"/>
                <a:cs typeface="Arial"/>
                <a:sym typeface="Arial"/>
              </a:rPr>
              <a:t>Detect face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2" name="Google Shape;172;p4"/>
          <p:cNvSpPr txBox="1"/>
          <p:nvPr/>
        </p:nvSpPr>
        <p:spPr>
          <a:xfrm>
            <a:off x="3522725" y="4187952"/>
            <a:ext cx="2443734" cy="237744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27425" spcFirstLastPara="1" rIns="27425" wrap="square" tIns="1827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0" i="0" lang="en-US" sz="900" u="none" cap="none" strike="noStrike">
                <a:solidFill>
                  <a:srgbClr val="5C6778"/>
                </a:solidFill>
                <a:latin typeface="Arial"/>
                <a:ea typeface="Arial"/>
                <a:cs typeface="Arial"/>
                <a:sym typeface="Arial"/>
              </a:rPr>
              <a:t>RetinaFace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3" name="Google Shape;173;p4"/>
          <p:cNvSpPr txBox="1"/>
          <p:nvPr/>
        </p:nvSpPr>
        <p:spPr>
          <a:xfrm>
            <a:off x="6030468" y="4005072"/>
            <a:ext cx="13716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27425" spcFirstLastPara="1" rIns="27425" wrap="square" tIns="1827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700"/>
              <a:buFont typeface="Arial"/>
              <a:buNone/>
            </a:pPr>
            <a:r>
              <a:rPr b="1" i="0" lang="en-US" sz="1700" u="none" cap="none" strike="noStrike">
                <a:solidFill>
                  <a:srgbClr val="F56736"/>
                </a:solidFill>
                <a:latin typeface="Arial"/>
                <a:ea typeface="Arial"/>
                <a:cs typeface="Arial"/>
                <a:sym typeface="Arial"/>
              </a:rPr>
              <a:t>→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4" name="Google Shape;174;p4"/>
          <p:cNvSpPr/>
          <p:nvPr/>
        </p:nvSpPr>
        <p:spPr>
          <a:xfrm>
            <a:off x="6167628" y="3730752"/>
            <a:ext cx="2571750" cy="96012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9525">
            <a:solidFill>
              <a:srgbClr val="DCE2EA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5" name="Google Shape;175;p4"/>
          <p:cNvSpPr txBox="1"/>
          <p:nvPr/>
        </p:nvSpPr>
        <p:spPr>
          <a:xfrm>
            <a:off x="6231636" y="3840480"/>
            <a:ext cx="2443734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27425" spcFirstLastPara="1" rIns="27425" wrap="square" tIns="1827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1" i="0" lang="en-US" sz="1400" u="none" cap="none" strike="noStrike">
                <a:solidFill>
                  <a:srgbClr val="121E34"/>
                </a:solidFill>
                <a:latin typeface="Arial"/>
                <a:ea typeface="Arial"/>
                <a:cs typeface="Arial"/>
                <a:sym typeface="Arial"/>
              </a:rPr>
              <a:t>Align face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6" name="Google Shape;176;p4"/>
          <p:cNvSpPr txBox="1"/>
          <p:nvPr/>
        </p:nvSpPr>
        <p:spPr>
          <a:xfrm>
            <a:off x="6231636" y="4187952"/>
            <a:ext cx="2443734" cy="237744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27425" spcFirstLastPara="1" rIns="27425" wrap="square" tIns="1827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0" i="0" lang="en-US" sz="900" u="none" cap="none" strike="noStrike">
                <a:solidFill>
                  <a:srgbClr val="5C6778"/>
                </a:solidFill>
                <a:latin typeface="Arial"/>
                <a:ea typeface="Arial"/>
                <a:cs typeface="Arial"/>
                <a:sym typeface="Arial"/>
              </a:rPr>
              <a:t>same position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7" name="Google Shape;177;p4"/>
          <p:cNvSpPr txBox="1"/>
          <p:nvPr/>
        </p:nvSpPr>
        <p:spPr>
          <a:xfrm>
            <a:off x="8739378" y="4005072"/>
            <a:ext cx="13716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27425" spcFirstLastPara="1" rIns="27425" wrap="square" tIns="1827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700"/>
              <a:buFont typeface="Arial"/>
              <a:buNone/>
            </a:pPr>
            <a:r>
              <a:rPr b="1" i="0" lang="en-US" sz="1700" u="none" cap="none" strike="noStrike">
                <a:solidFill>
                  <a:srgbClr val="F56736"/>
                </a:solidFill>
                <a:latin typeface="Arial"/>
                <a:ea typeface="Arial"/>
                <a:cs typeface="Arial"/>
                <a:sym typeface="Arial"/>
              </a:rPr>
              <a:t>→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4"/>
          <p:cNvSpPr/>
          <p:nvPr/>
        </p:nvSpPr>
        <p:spPr>
          <a:xfrm>
            <a:off x="8876538" y="3730752"/>
            <a:ext cx="2571750" cy="96012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9525">
            <a:solidFill>
              <a:srgbClr val="DCE2EA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9" name="Google Shape;179;p4"/>
          <p:cNvSpPr txBox="1"/>
          <p:nvPr/>
        </p:nvSpPr>
        <p:spPr>
          <a:xfrm>
            <a:off x="8940546" y="3840480"/>
            <a:ext cx="2443734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27425" spcFirstLastPara="1" rIns="27425" wrap="square" tIns="1827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1" i="0" lang="en-US" sz="1400" u="none" cap="none" strike="noStrike">
                <a:solidFill>
                  <a:srgbClr val="121E34"/>
                </a:solidFill>
                <a:latin typeface="Arial"/>
                <a:ea typeface="Arial"/>
                <a:cs typeface="Arial"/>
                <a:sym typeface="Arial"/>
              </a:rPr>
              <a:t>Resize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4"/>
          <p:cNvSpPr txBox="1"/>
          <p:nvPr/>
        </p:nvSpPr>
        <p:spPr>
          <a:xfrm>
            <a:off x="8940546" y="4187952"/>
            <a:ext cx="2443734" cy="237744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27425" spcFirstLastPara="1" rIns="27425" wrap="square" tIns="1827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0" i="0" lang="en-US" sz="900" u="none" cap="none" strike="noStrike">
                <a:solidFill>
                  <a:srgbClr val="5C6778"/>
                </a:solidFill>
                <a:latin typeface="Arial"/>
                <a:ea typeface="Arial"/>
                <a:cs typeface="Arial"/>
                <a:sym typeface="Arial"/>
              </a:rPr>
              <a:t>224 × 224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4"/>
          <p:cNvSpPr txBox="1"/>
          <p:nvPr/>
        </p:nvSpPr>
        <p:spPr>
          <a:xfrm>
            <a:off x="749808" y="5239512"/>
            <a:ext cx="1033272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27425" spcFirstLastPara="1" rIns="27425" wrap="square" tIns="182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700"/>
              <a:buFont typeface="Arial"/>
              <a:buNone/>
            </a:pPr>
            <a:r>
              <a:rPr b="1" i="0" lang="en-US" sz="1700" u="none" cap="none" strike="noStrike">
                <a:solidFill>
                  <a:srgbClr val="121E34"/>
                </a:solidFill>
                <a:latin typeface="Arial"/>
                <a:ea typeface="Arial"/>
                <a:cs typeface="Arial"/>
                <a:sym typeface="Arial"/>
              </a:rPr>
              <a:t>Output: consistent face images ready for training.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8"/>
          <p:cNvSpPr txBox="1"/>
          <p:nvPr/>
        </p:nvSpPr>
        <p:spPr>
          <a:xfrm>
            <a:off x="658368" y="237744"/>
            <a:ext cx="36576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27425" spcFirstLastPara="1" rIns="27425" wrap="square" tIns="182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1" i="0" lang="en-US" sz="1100" u="none" cap="none" strike="noStrike">
                <a:solidFill>
                  <a:srgbClr val="F56736"/>
                </a:solidFill>
                <a:latin typeface="Arial"/>
                <a:ea typeface="Arial"/>
                <a:cs typeface="Arial"/>
                <a:sym typeface="Arial"/>
              </a:rPr>
              <a:t>STEP 1 — DATA PREPARATION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9" name="Google Shape;249;p8"/>
          <p:cNvSpPr txBox="1"/>
          <p:nvPr/>
        </p:nvSpPr>
        <p:spPr>
          <a:xfrm>
            <a:off x="658368" y="594360"/>
            <a:ext cx="1078992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27425" spcFirstLastPara="1" rIns="27425" wrap="square" tIns="182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600"/>
              <a:buFont typeface="Arial"/>
              <a:buNone/>
            </a:pPr>
            <a:r>
              <a:rPr b="1" i="0" lang="en-US" sz="2600" u="none" cap="none" strike="noStrike">
                <a:solidFill>
                  <a:srgbClr val="121E34"/>
                </a:solidFill>
                <a:latin typeface="Arial"/>
                <a:ea typeface="Arial"/>
                <a:cs typeface="Arial"/>
                <a:sym typeface="Arial"/>
              </a:rPr>
              <a:t>Real and fake samples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0" name="Google Shape;250;p8"/>
          <p:cNvSpPr txBox="1"/>
          <p:nvPr/>
        </p:nvSpPr>
        <p:spPr>
          <a:xfrm>
            <a:off x="658368" y="1060704"/>
            <a:ext cx="10789920" cy="310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27425" spcFirstLastPara="1" rIns="27425" wrap="square" tIns="182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0" i="0" lang="en-US" sz="1300" u="none" cap="none" strike="noStrike">
                <a:solidFill>
                  <a:srgbClr val="5C6778"/>
                </a:solidFill>
                <a:latin typeface="Arial"/>
                <a:ea typeface="Arial"/>
                <a:cs typeface="Arial"/>
                <a:sym typeface="Arial"/>
              </a:rPr>
              <a:t>Each fake swaps another person's face into a real video: the scene stays the same and only the face changes.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1" name="Google Shape;251;p8"/>
          <p:cNvSpPr/>
          <p:nvPr/>
        </p:nvSpPr>
        <p:spPr>
          <a:xfrm>
            <a:off x="658368" y="1527048"/>
            <a:ext cx="10881360" cy="16459"/>
          </a:xfrm>
          <a:prstGeom prst="rect">
            <a:avLst/>
          </a:prstGeom>
          <a:solidFill>
            <a:srgbClr val="DCE2EA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8" name="Google Shape;268;p8"/>
          <p:cNvSpPr/>
          <p:nvPr/>
        </p:nvSpPr>
        <p:spPr>
          <a:xfrm>
            <a:off x="749808" y="5230368"/>
            <a:ext cx="10698480" cy="1143000"/>
          </a:xfrm>
          <a:prstGeom prst="roundRect">
            <a:avLst>
              <a:gd fmla="val 16667" name="adj"/>
            </a:avLst>
          </a:prstGeom>
          <a:solidFill>
            <a:srgbClr val="F1F9F6"/>
          </a:solidFill>
          <a:ln cap="flat" cmpd="sng" w="9525">
            <a:solidFill>
              <a:srgbClr val="DCE2EA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9" name="Google Shape;269;p8"/>
          <p:cNvSpPr txBox="1"/>
          <p:nvPr/>
        </p:nvSpPr>
        <p:spPr>
          <a:xfrm>
            <a:off x="987552" y="5413248"/>
            <a:ext cx="54864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27425" spcFirstLastPara="1" rIns="27425" wrap="square" tIns="182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1" i="0" lang="en-US" sz="1100" u="none" cap="none" strike="noStrike">
                <a:solidFill>
                  <a:srgbClr val="1A9769"/>
                </a:solidFill>
                <a:latin typeface="Arial"/>
                <a:ea typeface="Arial"/>
                <a:cs typeface="Arial"/>
                <a:sym typeface="Arial"/>
              </a:rPr>
              <a:t>WHAT THE MODEL HAS TO SPOT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0" name="Google Shape;270;p8"/>
          <p:cNvSpPr txBox="1"/>
          <p:nvPr/>
        </p:nvSpPr>
        <p:spPr>
          <a:xfrm>
            <a:off x="987552" y="5660136"/>
            <a:ext cx="1024128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27425" spcFirstLastPara="1" rIns="27425" wrap="square" tIns="182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100"/>
              <a:buFont typeface="Arial"/>
              <a:buNone/>
            </a:pPr>
            <a:r>
              <a:rPr b="1" i="0" lang="en-US" sz="1900" u="none" cap="none" strike="noStrike">
                <a:solidFill>
                  <a:srgbClr val="121E34"/>
                </a:solidFill>
                <a:latin typeface="Arial"/>
                <a:ea typeface="Arial"/>
                <a:cs typeface="Arial"/>
                <a:sym typeface="Arial"/>
              </a:rPr>
              <a:t>Background, pose, clothes and lighting match; only the face is swapped.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1" name="Google Shape;271;p8"/>
          <p:cNvSpPr txBox="1"/>
          <p:nvPr/>
        </p:nvSpPr>
        <p:spPr>
          <a:xfrm>
            <a:off x="987552" y="6016752"/>
            <a:ext cx="10241280" cy="310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27425" spcFirstLastPara="1" rIns="27425" wrap="square" tIns="182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0" i="0" lang="en-US" sz="1300" u="none" cap="none" strike="noStrike">
                <a:solidFill>
                  <a:srgbClr val="5C6778"/>
                </a:solidFill>
                <a:latin typeface="Arial"/>
                <a:ea typeface="Arial"/>
                <a:cs typeface="Arial"/>
                <a:sym typeface="Arial"/>
              </a:rPr>
              <a:t>So every frame is cropped to the face and aligned on the eyes before scoring. Both videos are from the holdout set, never seen in training.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2" name="TextBox 271"/>
          <p:cNvSpPr txBox="1"/>
          <p:nvPr/>
        </p:nvSpPr>
        <p:spPr>
          <a:xfrm>
            <a:off x="1938528" y="1700784"/>
            <a:ext cx="248716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5C6778"/>
                </a:solidFill>
                <a:latin typeface="Arial"/>
              </a:rPr>
              <a:t>Frame at 1.5 s</a:t>
            </a:r>
          </a:p>
        </p:txBody>
      </p:sp>
      <p:sp>
        <p:nvSpPr>
          <p:cNvPr id="273" name="TextBox 272"/>
          <p:cNvSpPr txBox="1"/>
          <p:nvPr/>
        </p:nvSpPr>
        <p:spPr>
          <a:xfrm>
            <a:off x="4553712" y="1700784"/>
            <a:ext cx="248716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5C6778"/>
                </a:solidFill>
                <a:latin typeface="Arial"/>
              </a:rPr>
              <a:t>Frame at 4.6 s</a:t>
            </a:r>
          </a:p>
        </p:txBody>
      </p:sp>
      <p:sp>
        <p:nvSpPr>
          <p:cNvPr id="274" name="TextBox 273"/>
          <p:cNvSpPr txBox="1"/>
          <p:nvPr/>
        </p:nvSpPr>
        <p:spPr>
          <a:xfrm>
            <a:off x="7168896" y="1700784"/>
            <a:ext cx="248716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5C6778"/>
                </a:solidFill>
                <a:latin typeface="Arial"/>
              </a:rPr>
              <a:t>Frame at 7.8 s</a:t>
            </a:r>
          </a:p>
        </p:txBody>
      </p:sp>
      <p:sp>
        <p:nvSpPr>
          <p:cNvPr id="275" name="TextBox 274"/>
          <p:cNvSpPr txBox="1"/>
          <p:nvPr/>
        </p:nvSpPr>
        <p:spPr>
          <a:xfrm>
            <a:off x="9930384" y="1700784"/>
            <a:ext cx="166420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5C6778"/>
                </a:solidFill>
                <a:latin typeface="Arial"/>
              </a:rPr>
              <a:t>Aligned face</a:t>
            </a:r>
          </a:p>
        </p:txBody>
      </p:sp>
      <p:sp>
        <p:nvSpPr>
          <p:cNvPr id="276" name="Rectangle 275"/>
          <p:cNvSpPr/>
          <p:nvPr/>
        </p:nvSpPr>
        <p:spPr>
          <a:xfrm>
            <a:off x="676656" y="2029968"/>
            <a:ext cx="146304" cy="146304"/>
          </a:xfrm>
          <a:prstGeom prst="rect">
            <a:avLst/>
          </a:prstGeom>
          <a:solidFill>
            <a:srgbClr val="3769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7" name="TextBox 276"/>
          <p:cNvSpPr txBox="1"/>
          <p:nvPr/>
        </p:nvSpPr>
        <p:spPr>
          <a:xfrm>
            <a:off x="896112" y="1975104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121E34"/>
                </a:solidFill>
                <a:latin typeface="Arial"/>
              </a:rPr>
              <a:t>REAL</a:t>
            </a:r>
          </a:p>
        </p:txBody>
      </p:sp>
      <p:sp>
        <p:nvSpPr>
          <p:cNvPr id="278" name="TextBox 277"/>
          <p:cNvSpPr txBox="1"/>
          <p:nvPr/>
        </p:nvSpPr>
        <p:spPr>
          <a:xfrm>
            <a:off x="676656" y="2322576"/>
            <a:ext cx="1243584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5C6778"/>
                </a:solidFill>
                <a:latin typeface="Arial"/>
              </a:rPr>
              <a:t>id49_0000.mp4</a:t>
            </a:r>
          </a:p>
          <a:p>
            <a:pPr algn="l"/>
            <a:r>
              <a:rPr sz="1000" b="0">
                <a:solidFill>
                  <a:srgbClr val="5C6778"/>
                </a:solidFill>
                <a:latin typeface="Arial"/>
              </a:rPr>
              <a:t>original video</a:t>
            </a:r>
          </a:p>
        </p:txBody>
      </p:sp>
      <p:pic>
        <p:nvPicPr>
          <p:cNvPr id="279" name="Picture 278" descr="id49_0000_f04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38528" y="1975104"/>
            <a:ext cx="2487168" cy="1388862"/>
          </a:xfrm>
          <a:prstGeom prst="rect">
            <a:avLst/>
          </a:prstGeom>
        </p:spPr>
      </p:pic>
      <p:pic>
        <p:nvPicPr>
          <p:cNvPr id="280" name="Picture 279" descr="id49_0000_f13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53712" y="1975104"/>
            <a:ext cx="2487168" cy="1388862"/>
          </a:xfrm>
          <a:prstGeom prst="rect">
            <a:avLst/>
          </a:prstGeom>
        </p:spPr>
      </p:pic>
      <p:pic>
        <p:nvPicPr>
          <p:cNvPr id="281" name="Picture 280" descr="id49_0000_f23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68896" y="1975104"/>
            <a:ext cx="2487168" cy="1388862"/>
          </a:xfrm>
          <a:prstGeom prst="rect">
            <a:avLst/>
          </a:prstGeom>
        </p:spPr>
      </p:pic>
      <p:pic>
        <p:nvPicPr>
          <p:cNvPr id="282" name="Picture 281" descr="id49_0000_f139_fac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930384" y="1975104"/>
            <a:ext cx="1389888" cy="1389888"/>
          </a:xfrm>
          <a:prstGeom prst="rect">
            <a:avLst/>
          </a:prstGeom>
        </p:spPr>
      </p:pic>
      <p:sp>
        <p:nvSpPr>
          <p:cNvPr id="283" name="Rectangle 282"/>
          <p:cNvSpPr/>
          <p:nvPr/>
        </p:nvSpPr>
        <p:spPr>
          <a:xfrm>
            <a:off x="676656" y="3619998"/>
            <a:ext cx="146304" cy="146304"/>
          </a:xfrm>
          <a:prstGeom prst="rect">
            <a:avLst/>
          </a:prstGeom>
          <a:solidFill>
            <a:srgbClr val="F567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4" name="TextBox 283"/>
          <p:cNvSpPr txBox="1"/>
          <p:nvPr/>
        </p:nvSpPr>
        <p:spPr>
          <a:xfrm>
            <a:off x="896112" y="3565134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121E34"/>
                </a:solidFill>
                <a:latin typeface="Arial"/>
              </a:rPr>
              <a:t>FAKE</a:t>
            </a:r>
          </a:p>
        </p:txBody>
      </p:sp>
      <p:sp>
        <p:nvSpPr>
          <p:cNvPr id="285" name="TextBox 284"/>
          <p:cNvSpPr txBox="1"/>
          <p:nvPr/>
        </p:nvSpPr>
        <p:spPr>
          <a:xfrm>
            <a:off x="676656" y="3912606"/>
            <a:ext cx="1243584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5C6778"/>
                </a:solidFill>
                <a:latin typeface="Arial"/>
              </a:rPr>
              <a:t>id49_id50_0000.mp4</a:t>
            </a:r>
          </a:p>
          <a:p>
            <a:pPr algn="l"/>
            <a:r>
              <a:rPr sz="1000" b="0">
                <a:solidFill>
                  <a:srgbClr val="5C6778"/>
                </a:solidFill>
                <a:latin typeface="Arial"/>
              </a:rPr>
              <a:t>face from id50</a:t>
            </a:r>
          </a:p>
        </p:txBody>
      </p:sp>
      <p:pic>
        <p:nvPicPr>
          <p:cNvPr id="286" name="Picture 285" descr="id49_id50_0000_f044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938528" y="3565134"/>
            <a:ext cx="2487168" cy="1388862"/>
          </a:xfrm>
          <a:prstGeom prst="rect">
            <a:avLst/>
          </a:prstGeom>
        </p:spPr>
      </p:pic>
      <p:pic>
        <p:nvPicPr>
          <p:cNvPr id="287" name="Picture 286" descr="id49_id50_0000_f139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553712" y="3565134"/>
            <a:ext cx="2487168" cy="1388862"/>
          </a:xfrm>
          <a:prstGeom prst="rect">
            <a:avLst/>
          </a:prstGeom>
        </p:spPr>
      </p:pic>
      <p:pic>
        <p:nvPicPr>
          <p:cNvPr id="288" name="Picture 287" descr="id49_id50_0000_f235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168896" y="3565134"/>
            <a:ext cx="2487168" cy="1388862"/>
          </a:xfrm>
          <a:prstGeom prst="rect">
            <a:avLst/>
          </a:prstGeom>
        </p:spPr>
      </p:pic>
      <p:pic>
        <p:nvPicPr>
          <p:cNvPr id="289" name="Picture 288" descr="id49_id50_0000_f139_fac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930384" y="3565134"/>
            <a:ext cx="1389888" cy="1389888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5"/>
          <p:cNvSpPr txBox="1"/>
          <p:nvPr/>
        </p:nvSpPr>
        <p:spPr>
          <a:xfrm>
            <a:off x="658368" y="237744"/>
            <a:ext cx="36576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27425" spcFirstLastPara="1" rIns="27425" wrap="square" tIns="182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1" i="0" lang="en-US" sz="1100" u="none" cap="none" strike="noStrike">
                <a:solidFill>
                  <a:srgbClr val="F56736"/>
                </a:solidFill>
                <a:latin typeface="Arial"/>
                <a:ea typeface="Arial"/>
                <a:cs typeface="Arial"/>
                <a:sym typeface="Arial"/>
              </a:rPr>
              <a:t>STEP 1 — DATA PREPARATION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7" name="Google Shape;187;p5"/>
          <p:cNvSpPr txBox="1"/>
          <p:nvPr/>
        </p:nvSpPr>
        <p:spPr>
          <a:xfrm>
            <a:off x="658368" y="594360"/>
            <a:ext cx="1078992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27425" spcFirstLastPara="1" rIns="27425" wrap="square" tIns="182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600"/>
              <a:buFont typeface="Arial"/>
              <a:buNone/>
            </a:pPr>
            <a:r>
              <a:rPr b="1" i="0" lang="en-US" sz="2600" u="none" cap="none" strike="noStrike">
                <a:solidFill>
                  <a:srgbClr val="121E34"/>
                </a:solidFill>
                <a:latin typeface="Arial"/>
                <a:ea typeface="Arial"/>
                <a:cs typeface="Arial"/>
                <a:sym typeface="Arial"/>
              </a:rPr>
              <a:t>Face detector selected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8" name="Google Shape;188;p5"/>
          <p:cNvSpPr txBox="1"/>
          <p:nvPr/>
        </p:nvSpPr>
        <p:spPr>
          <a:xfrm>
            <a:off x="658368" y="1060704"/>
            <a:ext cx="10789920" cy="310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27425" spcFirstLastPara="1" rIns="27425" wrap="square" tIns="182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0" i="0" lang="en-US" sz="1300" u="none" cap="none" strike="noStrike">
                <a:solidFill>
                  <a:srgbClr val="5C6778"/>
                </a:solidFill>
                <a:latin typeface="Arial"/>
                <a:ea typeface="Arial"/>
                <a:cs typeface="Arial"/>
                <a:sym typeface="Arial"/>
              </a:rPr>
              <a:t>OpenCV Haar, MTCNN, RetinaFace and YOLOv8 were compared on the same frames from 10 videos.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9" name="Google Shape;189;p5"/>
          <p:cNvSpPr/>
          <p:nvPr/>
        </p:nvSpPr>
        <p:spPr>
          <a:xfrm>
            <a:off x="658368" y="1527048"/>
            <a:ext cx="10881360" cy="16459"/>
          </a:xfrm>
          <a:prstGeom prst="rect">
            <a:avLst/>
          </a:prstGeom>
          <a:solidFill>
            <a:srgbClr val="DCE2EA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0" name="Google Shape;190;p5"/>
          <p:cNvSpPr/>
          <p:nvPr/>
        </p:nvSpPr>
        <p:spPr>
          <a:xfrm>
            <a:off x="804672" y="1920240"/>
            <a:ext cx="3063240" cy="114300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9525">
            <a:solidFill>
              <a:srgbClr val="DCE2EA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1" name="Google Shape;191;p5"/>
          <p:cNvSpPr/>
          <p:nvPr/>
        </p:nvSpPr>
        <p:spPr>
          <a:xfrm>
            <a:off x="804672" y="1920240"/>
            <a:ext cx="64008" cy="1143000"/>
          </a:xfrm>
          <a:prstGeom prst="rect">
            <a:avLst/>
          </a:prstGeom>
          <a:solidFill>
            <a:srgbClr val="1A9769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2" name="Google Shape;192;p5"/>
          <p:cNvSpPr txBox="1"/>
          <p:nvPr/>
        </p:nvSpPr>
        <p:spPr>
          <a:xfrm>
            <a:off x="1024128" y="2029968"/>
            <a:ext cx="2734056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27425" spcFirstLastPara="1" rIns="27425" wrap="square" tIns="182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300"/>
              <a:buFont typeface="Arial"/>
              <a:buNone/>
            </a:pPr>
            <a:r>
              <a:rPr b="1" i="0" lang="en-US" sz="2300" u="none" cap="none" strike="noStrike">
                <a:solidFill>
                  <a:srgbClr val="121E34"/>
                </a:solidFill>
                <a:latin typeface="Arial"/>
                <a:ea typeface="Arial"/>
                <a:cs typeface="Arial"/>
                <a:sym typeface="Arial"/>
              </a:rPr>
              <a:t>50.2 FPS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3" name="Google Shape;193;p5"/>
          <p:cNvSpPr txBox="1"/>
          <p:nvPr/>
        </p:nvSpPr>
        <p:spPr>
          <a:xfrm>
            <a:off x="1024128" y="2432304"/>
            <a:ext cx="2734200" cy="206100"/>
          </a:xfrm>
          <a:prstGeom prst="rect">
            <a:avLst/>
          </a:prstGeom>
          <a:noFill/>
          <a:ln>
            <a:noFill/>
          </a:ln>
        </p:spPr>
        <p:txBody>
          <a:bodyPr anchorCtr="0" anchor="t" bIns="18275" lIns="27425" spcFirstLastPara="1" rIns="27425" wrap="square" tIns="182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0" i="0" lang="en-US" sz="1100" u="none" cap="none" strike="noStrike">
                <a:solidFill>
                  <a:srgbClr val="5C6778"/>
                </a:solidFill>
                <a:latin typeface="Arial"/>
                <a:ea typeface="Arial"/>
                <a:cs typeface="Arial"/>
                <a:sym typeface="Arial"/>
              </a:rPr>
              <a:t>Retina Face speed, all faces found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5"/>
          <p:cNvSpPr/>
          <p:nvPr/>
        </p:nvSpPr>
        <p:spPr>
          <a:xfrm>
            <a:off x="4553712" y="1920240"/>
            <a:ext cx="3063240" cy="114300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9525">
            <a:solidFill>
              <a:srgbClr val="DCE2EA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5" name="Google Shape;195;p5"/>
          <p:cNvSpPr/>
          <p:nvPr/>
        </p:nvSpPr>
        <p:spPr>
          <a:xfrm>
            <a:off x="4553712" y="1920240"/>
            <a:ext cx="64008" cy="1143000"/>
          </a:xfrm>
          <a:prstGeom prst="rect">
            <a:avLst/>
          </a:prstGeom>
          <a:solidFill>
            <a:srgbClr val="F56736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6" name="Google Shape;196;p5"/>
          <p:cNvSpPr txBox="1"/>
          <p:nvPr/>
        </p:nvSpPr>
        <p:spPr>
          <a:xfrm>
            <a:off x="4773168" y="2029968"/>
            <a:ext cx="2734056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27425" spcFirstLastPara="1" rIns="27425" wrap="square" tIns="182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300"/>
              <a:buFont typeface="Arial"/>
              <a:buNone/>
            </a:pPr>
            <a:r>
              <a:rPr b="1" i="0" lang="en-US" sz="2300" u="none" cap="none" strike="noStrike">
                <a:solidFill>
                  <a:srgbClr val="121E34"/>
                </a:solidFill>
                <a:latin typeface="Arial"/>
                <a:ea typeface="Arial"/>
                <a:cs typeface="Arial"/>
                <a:sym typeface="Arial"/>
              </a:rPr>
              <a:t>15.4 FPS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7" name="Google Shape;197;p5"/>
          <p:cNvSpPr txBox="1"/>
          <p:nvPr/>
        </p:nvSpPr>
        <p:spPr>
          <a:xfrm>
            <a:off x="4773168" y="2432304"/>
            <a:ext cx="2734056" cy="576072"/>
          </a:xfrm>
          <a:prstGeom prst="rect">
            <a:avLst/>
          </a:prstGeom>
          <a:noFill/>
          <a:ln>
            <a:noFill/>
          </a:ln>
        </p:spPr>
        <p:txBody>
          <a:bodyPr anchorCtr="0" anchor="t" bIns="18275" lIns="27425" spcFirstLastPara="1" rIns="27425" wrap="square" tIns="182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0" i="0" lang="en-US" sz="1100" u="none" cap="none" strike="noStrike">
                <a:solidFill>
                  <a:srgbClr val="5C6778"/>
                </a:solidFill>
                <a:latin typeface="Arial"/>
                <a:ea typeface="Arial"/>
                <a:cs typeface="Arial"/>
                <a:sym typeface="Arial"/>
              </a:rPr>
              <a:t>MTCNN speed, all faces found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8" name="Google Shape;198;p5"/>
          <p:cNvSpPr/>
          <p:nvPr/>
        </p:nvSpPr>
        <p:spPr>
          <a:xfrm>
            <a:off x="8302752" y="1920240"/>
            <a:ext cx="2788920" cy="114300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9525">
            <a:solidFill>
              <a:srgbClr val="DCE2EA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9" name="Google Shape;199;p5"/>
          <p:cNvSpPr/>
          <p:nvPr/>
        </p:nvSpPr>
        <p:spPr>
          <a:xfrm>
            <a:off x="8302752" y="1920240"/>
            <a:ext cx="64008" cy="1143000"/>
          </a:xfrm>
          <a:prstGeom prst="rect">
            <a:avLst/>
          </a:prstGeom>
          <a:solidFill>
            <a:srgbClr val="3769BE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0" name="Google Shape;200;p5"/>
          <p:cNvSpPr txBox="1"/>
          <p:nvPr/>
        </p:nvSpPr>
        <p:spPr>
          <a:xfrm>
            <a:off x="8522208" y="2029968"/>
            <a:ext cx="2459736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27425" spcFirstLastPara="1" rIns="27425" wrap="square" tIns="182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300"/>
              <a:buFont typeface="Arial"/>
              <a:buNone/>
            </a:pPr>
            <a:r>
              <a:rPr b="1" i="0" lang="en-US" sz="2300" u="none" cap="none" strike="noStrike">
                <a:solidFill>
                  <a:srgbClr val="121E34"/>
                </a:solidFill>
                <a:latin typeface="Arial"/>
                <a:ea typeface="Arial"/>
                <a:cs typeface="Arial"/>
                <a:sym typeface="Arial"/>
              </a:rPr>
              <a:t>4.5 FPS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1" name="Google Shape;201;p5"/>
          <p:cNvSpPr txBox="1"/>
          <p:nvPr/>
        </p:nvSpPr>
        <p:spPr>
          <a:xfrm>
            <a:off x="8522208" y="2432304"/>
            <a:ext cx="2459736" cy="576072"/>
          </a:xfrm>
          <a:prstGeom prst="rect">
            <a:avLst/>
          </a:prstGeom>
          <a:noFill/>
          <a:ln>
            <a:noFill/>
          </a:ln>
        </p:spPr>
        <p:txBody>
          <a:bodyPr anchorCtr="0" anchor="t" bIns="18275" lIns="27425" spcFirstLastPara="1" rIns="27425" wrap="square" tIns="182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0" i="0" lang="en-US" sz="1100" u="none" cap="none" strike="noStrike">
                <a:solidFill>
                  <a:srgbClr val="5C6778"/>
                </a:solidFill>
                <a:latin typeface="Arial"/>
                <a:ea typeface="Arial"/>
                <a:cs typeface="Arial"/>
                <a:sym typeface="Arial"/>
              </a:rPr>
              <a:t>OpenCV Haar speed, 99.3% of faces found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2" name="Google Shape;202;p5"/>
          <p:cNvSpPr/>
          <p:nvPr/>
        </p:nvSpPr>
        <p:spPr>
          <a:xfrm>
            <a:off x="804672" y="3675887"/>
            <a:ext cx="10287000" cy="1417320"/>
          </a:xfrm>
          <a:prstGeom prst="roundRect">
            <a:avLst>
              <a:gd fmla="val 16667" name="adj"/>
            </a:avLst>
          </a:prstGeom>
          <a:solidFill>
            <a:srgbClr val="F1F9F6"/>
          </a:solidFill>
          <a:ln cap="flat" cmpd="sng" w="9525">
            <a:solidFill>
              <a:srgbClr val="DCE2EA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3" name="Google Shape;203;p5"/>
          <p:cNvSpPr txBox="1"/>
          <p:nvPr/>
        </p:nvSpPr>
        <p:spPr>
          <a:xfrm>
            <a:off x="1042415" y="3904487"/>
            <a:ext cx="219456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27425" spcFirstLastPara="1" rIns="27425" wrap="square" tIns="182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1" i="0" lang="en-US" sz="1100" u="none" cap="none" strike="noStrike">
                <a:solidFill>
                  <a:srgbClr val="1A9769"/>
                </a:solidFill>
                <a:latin typeface="Arial"/>
                <a:ea typeface="Arial"/>
                <a:cs typeface="Arial"/>
                <a:sym typeface="Arial"/>
              </a:rPr>
              <a:t>SELECTED METHOD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4" name="Google Shape;204;p5"/>
          <p:cNvSpPr txBox="1"/>
          <p:nvPr/>
        </p:nvSpPr>
        <p:spPr>
          <a:xfrm>
            <a:off x="1042415" y="4224528"/>
            <a:ext cx="2240280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27425" spcFirstLastPara="1" rIns="27425" wrap="square" tIns="182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US" sz="2400" u="none" cap="none" strike="noStrike">
                <a:solidFill>
                  <a:srgbClr val="121E34"/>
                </a:solidFill>
                <a:latin typeface="Arial"/>
                <a:ea typeface="Arial"/>
                <a:cs typeface="Arial"/>
                <a:sym typeface="Arial"/>
              </a:rPr>
              <a:t>RetinaFace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5" name="Google Shape;205;p5"/>
          <p:cNvSpPr txBox="1"/>
          <p:nvPr/>
        </p:nvSpPr>
        <p:spPr>
          <a:xfrm>
            <a:off x="3337560" y="4206240"/>
            <a:ext cx="7498200" cy="560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27425" spcFirstLastPara="1" rIns="27425" wrap="square" tIns="182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700"/>
              <a:buFont typeface="Arial"/>
              <a:buNone/>
            </a:pPr>
            <a:r>
              <a:rPr b="0" i="0" lang="en-US" sz="1700" u="none" cap="none" strike="noStrike">
                <a:solidFill>
                  <a:srgbClr val="1C222D"/>
                </a:solidFill>
                <a:latin typeface="Arial"/>
                <a:ea typeface="Arial"/>
                <a:cs typeface="Arial"/>
                <a:sym typeface="Arial"/>
              </a:rPr>
              <a:t>3× faster than MTCNN with the same face yield; it's 5 landmarks give eye-aligned face crops.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6" name="Google Shape;206;p5"/>
          <p:cNvSpPr txBox="1"/>
          <p:nvPr/>
        </p:nvSpPr>
        <p:spPr>
          <a:xfrm>
            <a:off x="1042415" y="4773168"/>
            <a:ext cx="9875520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27425" spcFirstLastPara="1" rIns="27425" wrap="square" tIns="182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0" i="0" lang="en-US" sz="1200" u="none" cap="none" strike="noStrike">
                <a:solidFill>
                  <a:srgbClr val="5C6778"/>
                </a:solidFill>
                <a:latin typeface="Arial"/>
                <a:ea typeface="Arial"/>
                <a:cs typeface="Arial"/>
                <a:sym typeface="Arial"/>
              </a:rPr>
              <a:t>YOLOv8 was faster (76.3 FPS) but gives unaligned boxes. This comparison checks face detection only.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6"/>
          <p:cNvSpPr txBox="1"/>
          <p:nvPr/>
        </p:nvSpPr>
        <p:spPr>
          <a:xfrm>
            <a:off x="658368" y="237744"/>
            <a:ext cx="36576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27425" spcFirstLastPara="1" rIns="27425" wrap="square" tIns="182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1" i="0" lang="en-US" sz="1100" u="none" cap="none" strike="noStrike">
                <a:solidFill>
                  <a:srgbClr val="F56736"/>
                </a:solidFill>
                <a:latin typeface="Arial"/>
                <a:ea typeface="Arial"/>
                <a:cs typeface="Arial"/>
                <a:sym typeface="Arial"/>
              </a:rPr>
              <a:t>STEP 1 — DATA PREPARATION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2" name="Google Shape;212;p6"/>
          <p:cNvSpPr txBox="1"/>
          <p:nvPr/>
        </p:nvSpPr>
        <p:spPr>
          <a:xfrm>
            <a:off x="658368" y="594360"/>
            <a:ext cx="1078992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27425" spcFirstLastPara="1" rIns="27425" wrap="square" tIns="182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600"/>
              <a:buFont typeface="Arial"/>
              <a:buNone/>
            </a:pPr>
            <a:r>
              <a:rPr b="1" i="0" lang="en-US" sz="2600" u="none" cap="none" strike="noStrike">
                <a:solidFill>
                  <a:srgbClr val="121E34"/>
                </a:solidFill>
                <a:latin typeface="Arial"/>
                <a:ea typeface="Arial"/>
                <a:cs typeface="Arial"/>
                <a:sym typeface="Arial"/>
              </a:rPr>
              <a:t>Prepared data output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3" name="Google Shape;213;p6"/>
          <p:cNvSpPr txBox="1"/>
          <p:nvPr/>
        </p:nvSpPr>
        <p:spPr>
          <a:xfrm>
            <a:off x="658368" y="1060704"/>
            <a:ext cx="10789920" cy="310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27425" spcFirstLastPara="1" rIns="27425" wrap="square" tIns="182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0" i="0" lang="en-US" sz="1300" u="none" cap="none" strike="noStrike">
                <a:solidFill>
                  <a:srgbClr val="5C6778"/>
                </a:solidFill>
                <a:latin typeface="Arial"/>
                <a:ea typeface="Arial"/>
                <a:cs typeface="Arial"/>
                <a:sym typeface="Arial"/>
              </a:rPr>
              <a:t>The final preprocessing run completed for all 6,529 videos.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4" name="Google Shape;214;p6"/>
          <p:cNvSpPr/>
          <p:nvPr/>
        </p:nvSpPr>
        <p:spPr>
          <a:xfrm>
            <a:off x="658368" y="1527048"/>
            <a:ext cx="10881360" cy="16459"/>
          </a:xfrm>
          <a:prstGeom prst="rect">
            <a:avLst/>
          </a:prstGeom>
          <a:solidFill>
            <a:srgbClr val="DCE2EA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5" name="Google Shape;215;p6"/>
          <p:cNvSpPr/>
          <p:nvPr/>
        </p:nvSpPr>
        <p:spPr>
          <a:xfrm>
            <a:off x="749808" y="1920240"/>
            <a:ext cx="2423160" cy="1078992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9525">
            <a:solidFill>
              <a:srgbClr val="DCE2EA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6" name="Google Shape;216;p6"/>
          <p:cNvSpPr/>
          <p:nvPr/>
        </p:nvSpPr>
        <p:spPr>
          <a:xfrm>
            <a:off x="749808" y="1920240"/>
            <a:ext cx="64008" cy="1078992"/>
          </a:xfrm>
          <a:prstGeom prst="rect">
            <a:avLst/>
          </a:prstGeom>
          <a:solidFill>
            <a:srgbClr val="3769BE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7" name="Google Shape;217;p6"/>
          <p:cNvSpPr txBox="1"/>
          <p:nvPr/>
        </p:nvSpPr>
        <p:spPr>
          <a:xfrm>
            <a:off x="969264" y="2029968"/>
            <a:ext cx="2093976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27425" spcFirstLastPara="1" rIns="27425" wrap="square" tIns="182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300"/>
              <a:buFont typeface="Arial"/>
              <a:buNone/>
            </a:pPr>
            <a:r>
              <a:rPr b="1" i="0" lang="en-US" sz="2300" u="none" cap="none" strike="noStrike">
                <a:solidFill>
                  <a:srgbClr val="121E34"/>
                </a:solidFill>
                <a:latin typeface="Arial"/>
                <a:ea typeface="Arial"/>
                <a:cs typeface="Arial"/>
                <a:sym typeface="Arial"/>
              </a:rPr>
              <a:t>73,429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8" name="Google Shape;218;p6"/>
          <p:cNvSpPr txBox="1"/>
          <p:nvPr/>
        </p:nvSpPr>
        <p:spPr>
          <a:xfrm>
            <a:off x="969264" y="2432304"/>
            <a:ext cx="2093976" cy="512063"/>
          </a:xfrm>
          <a:prstGeom prst="rect">
            <a:avLst/>
          </a:prstGeom>
          <a:noFill/>
          <a:ln>
            <a:noFill/>
          </a:ln>
        </p:spPr>
        <p:txBody>
          <a:bodyPr anchorCtr="0" anchor="t" bIns="18275" lIns="27425" spcFirstLastPara="1" rIns="27425" wrap="square" tIns="182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0" i="0" lang="en-US" sz="1100" u="none" cap="none" strike="noStrike">
                <a:solidFill>
                  <a:srgbClr val="5C6778"/>
                </a:solidFill>
                <a:latin typeface="Arial"/>
                <a:ea typeface="Arial"/>
                <a:cs typeface="Arial"/>
                <a:sym typeface="Arial"/>
              </a:rPr>
              <a:t>face images prepared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9" name="Google Shape;219;p6"/>
          <p:cNvSpPr/>
          <p:nvPr/>
        </p:nvSpPr>
        <p:spPr>
          <a:xfrm>
            <a:off x="3364992" y="1920240"/>
            <a:ext cx="2423160" cy="1078992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9525">
            <a:solidFill>
              <a:srgbClr val="DCE2EA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0" name="Google Shape;220;p6"/>
          <p:cNvSpPr/>
          <p:nvPr/>
        </p:nvSpPr>
        <p:spPr>
          <a:xfrm>
            <a:off x="3364992" y="1920240"/>
            <a:ext cx="64008" cy="1078992"/>
          </a:xfrm>
          <a:prstGeom prst="rect">
            <a:avLst/>
          </a:prstGeom>
          <a:solidFill>
            <a:srgbClr val="1A9769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1" name="Google Shape;221;p6"/>
          <p:cNvSpPr txBox="1"/>
          <p:nvPr/>
        </p:nvSpPr>
        <p:spPr>
          <a:xfrm>
            <a:off x="3584448" y="2029968"/>
            <a:ext cx="2093976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27425" spcFirstLastPara="1" rIns="27425" wrap="square" tIns="182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300"/>
              <a:buFont typeface="Arial"/>
              <a:buNone/>
            </a:pPr>
            <a:r>
              <a:rPr b="1" i="0" lang="en-US" sz="2300" u="none" cap="none" strike="noStrike">
                <a:solidFill>
                  <a:srgbClr val="121E34"/>
                </a:solidFill>
                <a:latin typeface="Arial"/>
                <a:ea typeface="Arial"/>
                <a:cs typeface="Arial"/>
                <a:sym typeface="Arial"/>
              </a:rPr>
              <a:t>99.95%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2" name="Google Shape;222;p6"/>
          <p:cNvSpPr txBox="1"/>
          <p:nvPr/>
        </p:nvSpPr>
        <p:spPr>
          <a:xfrm>
            <a:off x="3584448" y="2432304"/>
            <a:ext cx="2093976" cy="512063"/>
          </a:xfrm>
          <a:prstGeom prst="rect">
            <a:avLst/>
          </a:prstGeom>
          <a:noFill/>
          <a:ln>
            <a:noFill/>
          </a:ln>
        </p:spPr>
        <p:txBody>
          <a:bodyPr anchorCtr="0" anchor="t" bIns="18275" lIns="27425" spcFirstLastPara="1" rIns="27425" wrap="square" tIns="182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0" i="0" lang="en-US" sz="1100" u="none" cap="none" strike="noStrike">
                <a:solidFill>
                  <a:srgbClr val="5C6778"/>
                </a:solidFill>
                <a:latin typeface="Arial"/>
                <a:ea typeface="Arial"/>
                <a:cs typeface="Arial"/>
                <a:sym typeface="Arial"/>
              </a:rPr>
              <a:t>face preparation yield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3" name="Google Shape;223;p6"/>
          <p:cNvSpPr/>
          <p:nvPr/>
        </p:nvSpPr>
        <p:spPr>
          <a:xfrm>
            <a:off x="5980176" y="1920240"/>
            <a:ext cx="2423160" cy="1078992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9525">
            <a:solidFill>
              <a:srgbClr val="DCE2EA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4" name="Google Shape;224;p6"/>
          <p:cNvSpPr/>
          <p:nvPr/>
        </p:nvSpPr>
        <p:spPr>
          <a:xfrm>
            <a:off x="5980176" y="1920240"/>
            <a:ext cx="64008" cy="1078992"/>
          </a:xfrm>
          <a:prstGeom prst="rect">
            <a:avLst/>
          </a:prstGeom>
          <a:solidFill>
            <a:srgbClr val="F56736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5" name="Google Shape;225;p6"/>
          <p:cNvSpPr txBox="1"/>
          <p:nvPr/>
        </p:nvSpPr>
        <p:spPr>
          <a:xfrm>
            <a:off x="6199632" y="2029968"/>
            <a:ext cx="2093976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27425" spcFirstLastPara="1" rIns="27425" wrap="square" tIns="182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300"/>
              <a:buFont typeface="Arial"/>
              <a:buNone/>
            </a:pPr>
            <a:r>
              <a:rPr b="1" i="0" lang="en-US" sz="2300" u="none" cap="none" strike="noStrike">
                <a:solidFill>
                  <a:srgbClr val="121E34"/>
                </a:solidFill>
                <a:latin typeface="Arial"/>
                <a:ea typeface="Arial"/>
                <a:cs typeface="Arial"/>
                <a:sym typeface="Arial"/>
              </a:rPr>
              <a:t>0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6" name="Google Shape;226;p6"/>
          <p:cNvSpPr txBox="1"/>
          <p:nvPr/>
        </p:nvSpPr>
        <p:spPr>
          <a:xfrm>
            <a:off x="6199632" y="2432304"/>
            <a:ext cx="2093976" cy="512063"/>
          </a:xfrm>
          <a:prstGeom prst="rect">
            <a:avLst/>
          </a:prstGeom>
          <a:noFill/>
          <a:ln>
            <a:noFill/>
          </a:ln>
        </p:spPr>
        <p:txBody>
          <a:bodyPr anchorCtr="0" anchor="t" bIns="18275" lIns="27425" spcFirstLastPara="1" rIns="27425" wrap="square" tIns="182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0" i="0" lang="en-US" sz="1100" u="none" cap="none" strike="noStrike">
                <a:solidFill>
                  <a:srgbClr val="5C6778"/>
                </a:solidFill>
                <a:latin typeface="Arial"/>
                <a:ea typeface="Arial"/>
                <a:cs typeface="Arial"/>
                <a:sym typeface="Arial"/>
              </a:rPr>
              <a:t>videos without a face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7" name="Google Shape;227;p6"/>
          <p:cNvSpPr/>
          <p:nvPr/>
        </p:nvSpPr>
        <p:spPr>
          <a:xfrm>
            <a:off x="8595360" y="1920240"/>
            <a:ext cx="2423160" cy="1078992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9525">
            <a:solidFill>
              <a:srgbClr val="DCE2EA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8" name="Google Shape;228;p6"/>
          <p:cNvSpPr/>
          <p:nvPr/>
        </p:nvSpPr>
        <p:spPr>
          <a:xfrm>
            <a:off x="8595360" y="1920240"/>
            <a:ext cx="64008" cy="1078992"/>
          </a:xfrm>
          <a:prstGeom prst="rect">
            <a:avLst/>
          </a:prstGeom>
          <a:solidFill>
            <a:srgbClr val="2A96A0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9" name="Google Shape;229;p6"/>
          <p:cNvSpPr txBox="1"/>
          <p:nvPr/>
        </p:nvSpPr>
        <p:spPr>
          <a:xfrm>
            <a:off x="8814816" y="2029968"/>
            <a:ext cx="2093976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27425" spcFirstLastPara="1" rIns="27425" wrap="square" tIns="182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300"/>
              <a:buFont typeface="Arial"/>
              <a:buNone/>
            </a:pPr>
            <a:r>
              <a:rPr b="1" i="0" lang="en-US" sz="2300" u="none" cap="none" strike="noStrike">
                <a:solidFill>
                  <a:srgbClr val="121E34"/>
                </a:solidFill>
                <a:latin typeface="Arial"/>
                <a:ea typeface="Arial"/>
                <a:cs typeface="Arial"/>
                <a:sym typeface="Arial"/>
              </a:rPr>
              <a:t>12 parts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0" name="Google Shape;230;p6"/>
          <p:cNvSpPr txBox="1"/>
          <p:nvPr/>
        </p:nvSpPr>
        <p:spPr>
          <a:xfrm>
            <a:off x="8814816" y="2432304"/>
            <a:ext cx="2093976" cy="512063"/>
          </a:xfrm>
          <a:prstGeom prst="rect">
            <a:avLst/>
          </a:prstGeom>
          <a:noFill/>
          <a:ln>
            <a:noFill/>
          </a:ln>
        </p:spPr>
        <p:txBody>
          <a:bodyPr anchorCtr="0" anchor="t" bIns="18275" lIns="27425" spcFirstLastPara="1" rIns="27425" wrap="square" tIns="182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0" i="0" lang="en-US" sz="1100" u="none" cap="none" strike="noStrike">
                <a:solidFill>
                  <a:srgbClr val="5C6778"/>
                </a:solidFill>
                <a:latin typeface="Arial"/>
                <a:ea typeface="Arial"/>
                <a:cs typeface="Arial"/>
                <a:sym typeface="Arial"/>
              </a:rPr>
              <a:t>face-image cache saved to Drive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1" name="Google Shape;231;p6"/>
          <p:cNvSpPr/>
          <p:nvPr/>
        </p:nvSpPr>
        <p:spPr>
          <a:xfrm>
            <a:off x="749808" y="3730752"/>
            <a:ext cx="10698480" cy="1417320"/>
          </a:xfrm>
          <a:prstGeom prst="roundRect">
            <a:avLst>
              <a:gd fmla="val 16667" name="adj"/>
            </a:avLst>
          </a:prstGeom>
          <a:solidFill>
            <a:srgbClr val="F7F9FC"/>
          </a:solidFill>
          <a:ln cap="flat" cmpd="sng" w="9525">
            <a:solidFill>
              <a:srgbClr val="DCE2EA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2" name="Google Shape;232;p6"/>
          <p:cNvSpPr txBox="1"/>
          <p:nvPr/>
        </p:nvSpPr>
        <p:spPr>
          <a:xfrm>
            <a:off x="987552" y="3950208"/>
            <a:ext cx="29260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27425" spcFirstLastPara="1" rIns="27425" wrap="square" tIns="182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1" i="0" lang="en-US" sz="1100" u="none" cap="none" strike="noStrike">
                <a:solidFill>
                  <a:srgbClr val="F56736"/>
                </a:solidFill>
                <a:latin typeface="Arial"/>
                <a:ea typeface="Arial"/>
                <a:cs typeface="Arial"/>
                <a:sym typeface="Arial"/>
              </a:rPr>
              <a:t>OUTPUT FOR MODEL TRAINING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3" name="Google Shape;233;p6"/>
          <p:cNvSpPr txBox="1"/>
          <p:nvPr/>
        </p:nvSpPr>
        <p:spPr>
          <a:xfrm>
            <a:off x="987552" y="4288536"/>
            <a:ext cx="9601200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27425" spcFirstLastPara="1" rIns="27425" wrap="square" tIns="182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100"/>
              <a:buFont typeface="Arial"/>
              <a:buNone/>
            </a:pPr>
            <a:r>
              <a:rPr b="1" i="0" lang="en-US" sz="2100" u="none" cap="none" strike="noStrike">
                <a:solidFill>
                  <a:srgbClr val="121E34"/>
                </a:solidFill>
                <a:latin typeface="Arial"/>
                <a:ea typeface="Arial"/>
                <a:cs typeface="Arial"/>
                <a:sym typeface="Arial"/>
              </a:rPr>
              <a:t>73,429 prepared face images are passed to Step 2.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4" name="Google Shape;234;p6"/>
          <p:cNvSpPr txBox="1"/>
          <p:nvPr/>
        </p:nvSpPr>
        <p:spPr>
          <a:xfrm>
            <a:off x="987552" y="4800600"/>
            <a:ext cx="9875520" cy="310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27425" spcFirstLastPara="1" rIns="27425" wrap="square" tIns="182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0" i="0" lang="en-US" sz="1300" u="none" cap="none" strike="noStrike">
                <a:solidFill>
                  <a:srgbClr val="5C6778"/>
                </a:solidFill>
                <a:latin typeface="Arial"/>
                <a:ea typeface="Arial"/>
                <a:cs typeface="Arial"/>
                <a:sym typeface="Arial"/>
              </a:rPr>
              <a:t>All seven models train on these saved face images instead of repeatedly processing the videos.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21E34"/>
        </a:solidFill>
      </p:bgPr>
    </p:bg>
    <p:spTree>
      <p:nvGrpSpPr>
        <p:cNvPr id="238" name="Shape 2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9" name="Google Shape;239;p7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F56736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0" name="Google Shape;240;p7"/>
          <p:cNvSpPr txBox="1"/>
          <p:nvPr/>
        </p:nvSpPr>
        <p:spPr>
          <a:xfrm>
            <a:off x="868680" y="1097280"/>
            <a:ext cx="27432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27425" spcFirstLastPara="1" rIns="27425" wrap="square" tIns="182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1" i="0" lang="en-US" sz="1400" u="none" cap="none" strike="noStrike">
                <a:solidFill>
                  <a:srgbClr val="F56736"/>
                </a:solidFill>
                <a:latin typeface="Arial"/>
                <a:ea typeface="Arial"/>
                <a:cs typeface="Arial"/>
                <a:sym typeface="Arial"/>
              </a:rPr>
              <a:t>STEP 2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1" name="Google Shape;241;p7"/>
          <p:cNvSpPr txBox="1"/>
          <p:nvPr/>
        </p:nvSpPr>
        <p:spPr>
          <a:xfrm>
            <a:off x="868680" y="1874519"/>
            <a:ext cx="10058400" cy="621792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27425" spcFirstLastPara="1" rIns="27425" wrap="square" tIns="182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100"/>
              <a:buFont typeface="Arial"/>
              <a:buNone/>
            </a:pPr>
            <a:r>
              <a:rPr b="1" i="0" lang="en-US" sz="31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Model Training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2" name="Google Shape;242;p7"/>
          <p:cNvSpPr txBox="1"/>
          <p:nvPr/>
        </p:nvSpPr>
        <p:spPr>
          <a:xfrm>
            <a:off x="868680" y="2788920"/>
            <a:ext cx="9875520" cy="640080"/>
          </a:xfrm>
          <a:prstGeom prst="rect">
            <a:avLst/>
          </a:prstGeom>
          <a:noFill/>
          <a:ln>
            <a:noFill/>
          </a:ln>
        </p:spPr>
        <p:txBody>
          <a:bodyPr anchorCtr="0" anchor="t" bIns="18275" lIns="27425" spcFirstLastPara="1" rIns="27425" wrap="square" tIns="182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en-US" sz="1800" u="none" cap="none" strike="noStrike">
                <a:solidFill>
                  <a:srgbClr val="DEE5EF"/>
                </a:solidFill>
                <a:latin typeface="Arial"/>
                <a:ea typeface="Arial"/>
                <a:cs typeface="Arial"/>
                <a:sym typeface="Arial"/>
              </a:rPr>
              <a:t>Train seven pretrained models on the same face images and compare them.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3" name="Google Shape;243;p7"/>
          <p:cNvSpPr/>
          <p:nvPr/>
        </p:nvSpPr>
        <p:spPr>
          <a:xfrm>
            <a:off x="868680" y="3794760"/>
            <a:ext cx="1920240" cy="45720"/>
          </a:xfrm>
          <a:prstGeom prst="rect">
            <a:avLst/>
          </a:prstGeom>
          <a:solidFill>
            <a:srgbClr val="F56736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8"/>
          <p:cNvSpPr txBox="1"/>
          <p:nvPr/>
        </p:nvSpPr>
        <p:spPr>
          <a:xfrm>
            <a:off x="658368" y="237744"/>
            <a:ext cx="36576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27425" spcFirstLastPara="1" rIns="27425" wrap="square" tIns="182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1" i="0" lang="en-US" sz="1100" u="none" cap="none" strike="noStrike">
                <a:solidFill>
                  <a:srgbClr val="F56736"/>
                </a:solidFill>
                <a:latin typeface="Arial"/>
                <a:ea typeface="Arial"/>
                <a:cs typeface="Arial"/>
                <a:sym typeface="Arial"/>
              </a:rPr>
              <a:t>STEP 2 — MODEL TRAINING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9" name="Google Shape;249;p8"/>
          <p:cNvSpPr txBox="1"/>
          <p:nvPr/>
        </p:nvSpPr>
        <p:spPr>
          <a:xfrm>
            <a:off x="658368" y="594360"/>
            <a:ext cx="1078992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27425" spcFirstLastPara="1" rIns="27425" wrap="square" tIns="182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600"/>
              <a:buFont typeface="Arial"/>
              <a:buNone/>
            </a:pPr>
            <a:r>
              <a:rPr b="1" i="0" lang="en-US" sz="2600" u="none" cap="none" strike="noStrike">
                <a:solidFill>
                  <a:srgbClr val="121E34"/>
                </a:solidFill>
                <a:latin typeface="Arial"/>
                <a:ea typeface="Arial"/>
                <a:cs typeface="Arial"/>
                <a:sym typeface="Arial"/>
              </a:rPr>
              <a:t>Data split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0" name="Google Shape;250;p8"/>
          <p:cNvSpPr txBox="1"/>
          <p:nvPr/>
        </p:nvSpPr>
        <p:spPr>
          <a:xfrm>
            <a:off x="658368" y="1060704"/>
            <a:ext cx="10789920" cy="310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27425" spcFirstLastPara="1" rIns="27425" wrap="square" tIns="182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0" i="0" lang="en-US" sz="1300" u="none" cap="none" strike="noStrike">
                <a:solidFill>
                  <a:srgbClr val="5C6778"/>
                </a:solidFill>
                <a:latin typeface="Arial"/>
                <a:ea typeface="Arial"/>
                <a:cs typeface="Arial"/>
                <a:sym typeface="Arial"/>
              </a:rPr>
              <a:t>Different video groups are used for training, model selection and final testing.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1" name="Google Shape;251;p8"/>
          <p:cNvSpPr/>
          <p:nvPr/>
        </p:nvSpPr>
        <p:spPr>
          <a:xfrm>
            <a:off x="658368" y="1527048"/>
            <a:ext cx="10881360" cy="16459"/>
          </a:xfrm>
          <a:prstGeom prst="rect">
            <a:avLst/>
          </a:prstGeom>
          <a:solidFill>
            <a:srgbClr val="DCE2EA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2" name="Google Shape;252;p8"/>
          <p:cNvSpPr/>
          <p:nvPr/>
        </p:nvSpPr>
        <p:spPr>
          <a:xfrm>
            <a:off x="749808" y="1901952"/>
            <a:ext cx="2423160" cy="1078992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9525">
            <a:solidFill>
              <a:srgbClr val="DCE2EA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3" name="Google Shape;253;p8"/>
          <p:cNvSpPr/>
          <p:nvPr/>
        </p:nvSpPr>
        <p:spPr>
          <a:xfrm>
            <a:off x="749808" y="1901952"/>
            <a:ext cx="64008" cy="1078992"/>
          </a:xfrm>
          <a:prstGeom prst="rect">
            <a:avLst/>
          </a:prstGeom>
          <a:solidFill>
            <a:srgbClr val="3769BE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4" name="Google Shape;254;p8"/>
          <p:cNvSpPr txBox="1"/>
          <p:nvPr/>
        </p:nvSpPr>
        <p:spPr>
          <a:xfrm>
            <a:off x="969264" y="2011680"/>
            <a:ext cx="2093976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27425" spcFirstLastPara="1" rIns="27425" wrap="square" tIns="182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300"/>
              <a:buFont typeface="Arial"/>
              <a:buNone/>
            </a:pPr>
            <a:r>
              <a:rPr b="1" i="0" lang="en-US" sz="2300" u="none" cap="none" strike="noStrike">
                <a:solidFill>
                  <a:srgbClr val="121E34"/>
                </a:solidFill>
                <a:latin typeface="Arial"/>
                <a:ea typeface="Arial"/>
                <a:cs typeface="Arial"/>
                <a:sym typeface="Arial"/>
              </a:rPr>
              <a:t>4,385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5" name="Google Shape;255;p8"/>
          <p:cNvSpPr txBox="1"/>
          <p:nvPr/>
        </p:nvSpPr>
        <p:spPr>
          <a:xfrm>
            <a:off x="969264" y="2414016"/>
            <a:ext cx="2093976" cy="512063"/>
          </a:xfrm>
          <a:prstGeom prst="rect">
            <a:avLst/>
          </a:prstGeom>
          <a:noFill/>
          <a:ln>
            <a:noFill/>
          </a:ln>
        </p:spPr>
        <p:txBody>
          <a:bodyPr anchorCtr="0" anchor="t" bIns="18275" lIns="27425" spcFirstLastPara="1" rIns="27425" wrap="square" tIns="182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0" i="0" lang="en-US" sz="1100" u="none" cap="none" strike="noStrike">
                <a:solidFill>
                  <a:srgbClr val="5C6778"/>
                </a:solidFill>
                <a:latin typeface="Arial"/>
                <a:ea typeface="Arial"/>
                <a:cs typeface="Arial"/>
                <a:sym typeface="Arial"/>
              </a:rPr>
              <a:t>training videos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6" name="Google Shape;256;p8"/>
          <p:cNvSpPr/>
          <p:nvPr/>
        </p:nvSpPr>
        <p:spPr>
          <a:xfrm>
            <a:off x="3364992" y="1901952"/>
            <a:ext cx="2423160" cy="1078992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9525">
            <a:solidFill>
              <a:srgbClr val="DCE2EA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7" name="Google Shape;257;p8"/>
          <p:cNvSpPr/>
          <p:nvPr/>
        </p:nvSpPr>
        <p:spPr>
          <a:xfrm>
            <a:off x="3364992" y="1901952"/>
            <a:ext cx="64008" cy="1078992"/>
          </a:xfrm>
          <a:prstGeom prst="rect">
            <a:avLst/>
          </a:prstGeom>
          <a:solidFill>
            <a:srgbClr val="2A96A0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8" name="Google Shape;258;p8"/>
          <p:cNvSpPr txBox="1"/>
          <p:nvPr/>
        </p:nvSpPr>
        <p:spPr>
          <a:xfrm>
            <a:off x="3584448" y="2011680"/>
            <a:ext cx="2093976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27425" spcFirstLastPara="1" rIns="27425" wrap="square" tIns="182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300"/>
              <a:buFont typeface="Arial"/>
              <a:buNone/>
            </a:pPr>
            <a:r>
              <a:rPr b="1" i="0" lang="en-US" sz="2300" u="none" cap="none" strike="noStrike">
                <a:solidFill>
                  <a:srgbClr val="121E34"/>
                </a:solidFill>
                <a:latin typeface="Arial"/>
                <a:ea typeface="Arial"/>
                <a:cs typeface="Arial"/>
                <a:sym typeface="Arial"/>
              </a:rPr>
              <a:t>817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9" name="Google Shape;259;p8"/>
          <p:cNvSpPr txBox="1"/>
          <p:nvPr/>
        </p:nvSpPr>
        <p:spPr>
          <a:xfrm>
            <a:off x="3584448" y="2414016"/>
            <a:ext cx="2093976" cy="512063"/>
          </a:xfrm>
          <a:prstGeom prst="rect">
            <a:avLst/>
          </a:prstGeom>
          <a:noFill/>
          <a:ln>
            <a:noFill/>
          </a:ln>
        </p:spPr>
        <p:txBody>
          <a:bodyPr anchorCtr="0" anchor="t" bIns="18275" lIns="27425" spcFirstLastPara="1" rIns="27425" wrap="square" tIns="182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0" i="0" lang="en-US" sz="1100" u="none" cap="none" strike="noStrike">
                <a:solidFill>
                  <a:srgbClr val="5C6778"/>
                </a:solidFill>
                <a:latin typeface="Arial"/>
                <a:ea typeface="Arial"/>
                <a:cs typeface="Arial"/>
                <a:sym typeface="Arial"/>
              </a:rPr>
              <a:t>validation videos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0" name="Google Shape;260;p8"/>
          <p:cNvSpPr/>
          <p:nvPr/>
        </p:nvSpPr>
        <p:spPr>
          <a:xfrm>
            <a:off x="5980176" y="1901952"/>
            <a:ext cx="2423160" cy="1078992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9525">
            <a:solidFill>
              <a:srgbClr val="DCE2EA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1" name="Google Shape;261;p8"/>
          <p:cNvSpPr/>
          <p:nvPr/>
        </p:nvSpPr>
        <p:spPr>
          <a:xfrm>
            <a:off x="5980176" y="1901952"/>
            <a:ext cx="64008" cy="1078992"/>
          </a:xfrm>
          <a:prstGeom prst="rect">
            <a:avLst/>
          </a:prstGeom>
          <a:solidFill>
            <a:srgbClr val="1A9769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2" name="Google Shape;262;p8"/>
          <p:cNvSpPr txBox="1"/>
          <p:nvPr/>
        </p:nvSpPr>
        <p:spPr>
          <a:xfrm>
            <a:off x="6199632" y="2011680"/>
            <a:ext cx="2093976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27425" spcFirstLastPara="1" rIns="27425" wrap="square" tIns="182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300"/>
              <a:buFont typeface="Arial"/>
              <a:buNone/>
            </a:pPr>
            <a:r>
              <a:rPr b="1" i="0" lang="en-US" sz="2300" u="none" cap="none" strike="noStrike">
                <a:solidFill>
                  <a:srgbClr val="121E34"/>
                </a:solidFill>
                <a:latin typeface="Arial"/>
                <a:ea typeface="Arial"/>
                <a:cs typeface="Arial"/>
                <a:sym typeface="Arial"/>
              </a:rPr>
              <a:t>809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3" name="Google Shape;263;p8"/>
          <p:cNvSpPr txBox="1"/>
          <p:nvPr/>
        </p:nvSpPr>
        <p:spPr>
          <a:xfrm>
            <a:off x="6199632" y="2414016"/>
            <a:ext cx="2093976" cy="512063"/>
          </a:xfrm>
          <a:prstGeom prst="rect">
            <a:avLst/>
          </a:prstGeom>
          <a:noFill/>
          <a:ln>
            <a:noFill/>
          </a:ln>
        </p:spPr>
        <p:txBody>
          <a:bodyPr anchorCtr="0" anchor="t" bIns="18275" lIns="27425" spcFirstLastPara="1" rIns="27425" wrap="square" tIns="182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0" i="0" lang="en-US" sz="1100" u="none" cap="none" strike="noStrike">
                <a:solidFill>
                  <a:srgbClr val="5C6778"/>
                </a:solidFill>
                <a:latin typeface="Arial"/>
                <a:ea typeface="Arial"/>
                <a:cs typeface="Arial"/>
                <a:sym typeface="Arial"/>
              </a:rPr>
              <a:t>holdout videos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4" name="Google Shape;264;p8"/>
          <p:cNvSpPr/>
          <p:nvPr/>
        </p:nvSpPr>
        <p:spPr>
          <a:xfrm>
            <a:off x="8595360" y="1901952"/>
            <a:ext cx="2423160" cy="1078992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9525">
            <a:solidFill>
              <a:srgbClr val="DCE2EA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5" name="Google Shape;265;p8"/>
          <p:cNvSpPr/>
          <p:nvPr/>
        </p:nvSpPr>
        <p:spPr>
          <a:xfrm>
            <a:off x="8595360" y="1901952"/>
            <a:ext cx="64008" cy="1078992"/>
          </a:xfrm>
          <a:prstGeom prst="rect">
            <a:avLst/>
          </a:prstGeom>
          <a:solidFill>
            <a:srgbClr val="F56736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6" name="Google Shape;266;p8"/>
          <p:cNvSpPr txBox="1"/>
          <p:nvPr/>
        </p:nvSpPr>
        <p:spPr>
          <a:xfrm>
            <a:off x="8814816" y="2011680"/>
            <a:ext cx="2093976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27425" spcFirstLastPara="1" rIns="27425" wrap="square" tIns="182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300"/>
              <a:buFont typeface="Arial"/>
              <a:buNone/>
            </a:pPr>
            <a:r>
              <a:rPr b="1" i="0" lang="en-US" sz="2300" u="none" cap="none" strike="noStrike">
                <a:solidFill>
                  <a:srgbClr val="121E34"/>
                </a:solidFill>
                <a:latin typeface="Arial"/>
                <a:ea typeface="Arial"/>
                <a:cs typeface="Arial"/>
                <a:sym typeface="Arial"/>
              </a:rPr>
              <a:t>518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7" name="Google Shape;267;p8"/>
          <p:cNvSpPr txBox="1"/>
          <p:nvPr/>
        </p:nvSpPr>
        <p:spPr>
          <a:xfrm>
            <a:off x="8814816" y="2414016"/>
            <a:ext cx="2093976" cy="512063"/>
          </a:xfrm>
          <a:prstGeom prst="rect">
            <a:avLst/>
          </a:prstGeom>
          <a:noFill/>
          <a:ln>
            <a:noFill/>
          </a:ln>
        </p:spPr>
        <p:txBody>
          <a:bodyPr anchorCtr="0" anchor="t" bIns="18275" lIns="27425" spcFirstLastPara="1" rIns="27425" wrap="square" tIns="182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0" i="0" lang="en-US" sz="1100" u="none" cap="none" strike="noStrike">
                <a:solidFill>
                  <a:srgbClr val="5C6778"/>
                </a:solidFill>
                <a:latin typeface="Arial"/>
                <a:ea typeface="Arial"/>
                <a:cs typeface="Arial"/>
                <a:sym typeface="Arial"/>
              </a:rPr>
              <a:t>official test videos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8" name="Google Shape;268;p8"/>
          <p:cNvSpPr/>
          <p:nvPr/>
        </p:nvSpPr>
        <p:spPr>
          <a:xfrm>
            <a:off x="749808" y="3675887"/>
            <a:ext cx="10698480" cy="1554480"/>
          </a:xfrm>
          <a:prstGeom prst="roundRect">
            <a:avLst>
              <a:gd fmla="val 16667" name="adj"/>
            </a:avLst>
          </a:prstGeom>
          <a:solidFill>
            <a:srgbClr val="F1F9F6"/>
          </a:solidFill>
          <a:ln cap="flat" cmpd="sng" w="9525">
            <a:solidFill>
              <a:srgbClr val="DCE2EA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9" name="Google Shape;269;p8"/>
          <p:cNvSpPr txBox="1"/>
          <p:nvPr/>
        </p:nvSpPr>
        <p:spPr>
          <a:xfrm>
            <a:off x="987552" y="3913632"/>
            <a:ext cx="237744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27425" spcFirstLastPara="1" rIns="27425" wrap="square" tIns="182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1" i="0" lang="en-US" sz="1100" u="none" cap="none" strike="noStrike">
                <a:solidFill>
                  <a:srgbClr val="1A9769"/>
                </a:solidFill>
                <a:latin typeface="Arial"/>
                <a:ea typeface="Arial"/>
                <a:cs typeface="Arial"/>
                <a:sym typeface="Arial"/>
              </a:rPr>
              <a:t>DATA SEPARATION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0" name="Google Shape;270;p8"/>
          <p:cNvSpPr txBox="1"/>
          <p:nvPr/>
        </p:nvSpPr>
        <p:spPr>
          <a:xfrm>
            <a:off x="987552" y="4242816"/>
            <a:ext cx="9692640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27425" spcFirstLastPara="1" rIns="27425" wrap="square" tIns="182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100"/>
              <a:buFont typeface="Arial"/>
              <a:buNone/>
            </a:pPr>
            <a:r>
              <a:rPr b="1" i="0" lang="en-US" sz="2100" u="none" cap="none" strike="noStrike">
                <a:solidFill>
                  <a:srgbClr val="121E34"/>
                </a:solidFill>
                <a:latin typeface="Arial"/>
                <a:ea typeface="Arial"/>
                <a:cs typeface="Arial"/>
                <a:sym typeface="Arial"/>
              </a:rPr>
              <a:t>The 809 holdout videos were kept outside training.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1" name="Google Shape;271;p8"/>
          <p:cNvSpPr txBox="1"/>
          <p:nvPr/>
        </p:nvSpPr>
        <p:spPr>
          <a:xfrm>
            <a:off x="987552" y="4736592"/>
            <a:ext cx="9875520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27425" spcFirstLastPara="1" rIns="27425" wrap="square" tIns="182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0" i="0" lang="en-US" sz="1300" u="none" cap="none" strike="noStrike">
                <a:solidFill>
                  <a:srgbClr val="5C6778"/>
                </a:solidFill>
                <a:latin typeface="Arial"/>
                <a:ea typeface="Arial"/>
                <a:cs typeface="Arial"/>
                <a:sym typeface="Arial"/>
              </a:rPr>
              <a:t>Train, validation and holdout identities were checked to avoid overlap. The 518-video official list is reported separately.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8"/>
          <p:cNvSpPr txBox="1"/>
          <p:nvPr/>
        </p:nvSpPr>
        <p:spPr>
          <a:xfrm>
            <a:off x="658368" y="237744"/>
            <a:ext cx="36576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27425" spcFirstLastPara="1" rIns="27425" wrap="square" tIns="182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1" i="0" lang="en-US" sz="1100" u="none" cap="none" strike="noStrike">
                <a:solidFill>
                  <a:srgbClr val="F56736"/>
                </a:solidFill>
                <a:latin typeface="Arial"/>
                <a:ea typeface="Arial"/>
                <a:cs typeface="Arial"/>
                <a:sym typeface="Arial"/>
              </a:rPr>
              <a:t>STEP 2 — MODEL TRAINING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9" name="Google Shape;249;p8"/>
          <p:cNvSpPr txBox="1"/>
          <p:nvPr/>
        </p:nvSpPr>
        <p:spPr>
          <a:xfrm>
            <a:off x="658368" y="594360"/>
            <a:ext cx="1078992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27425" spcFirstLastPara="1" rIns="27425" wrap="square" tIns="182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600"/>
              <a:buFont typeface="Arial"/>
              <a:buNone/>
            </a:pPr>
            <a:r>
              <a:rPr b="1" i="0" lang="en-US" sz="2600" u="none" cap="none" strike="noStrike">
                <a:solidFill>
                  <a:srgbClr val="121E34"/>
                </a:solidFill>
                <a:latin typeface="Arial"/>
                <a:ea typeface="Arial"/>
                <a:cs typeface="Arial"/>
                <a:sym typeface="Arial"/>
              </a:rPr>
              <a:t>Data distribution: videos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0" name="Google Shape;250;p8"/>
          <p:cNvSpPr txBox="1"/>
          <p:nvPr/>
        </p:nvSpPr>
        <p:spPr>
          <a:xfrm>
            <a:off x="658368" y="1060704"/>
            <a:ext cx="10789920" cy="310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27425" spcFirstLastPara="1" rIns="27425" wrap="square" tIns="182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0" i="0" lang="en-US" sz="1300" u="none" cap="none" strike="noStrike">
                <a:solidFill>
                  <a:srgbClr val="5C6778"/>
                </a:solidFill>
                <a:latin typeface="Arial"/>
                <a:ea typeface="Arial"/>
                <a:cs typeface="Arial"/>
                <a:sym typeface="Arial"/>
              </a:rPr>
              <a:t>Real and fake videos in each split. Real = 590 celebrity + 300 YouTube videos; fake = 5,639 face swaps.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1" name="Google Shape;251;p8"/>
          <p:cNvSpPr/>
          <p:nvPr/>
        </p:nvSpPr>
        <p:spPr>
          <a:xfrm>
            <a:off x="658368" y="1527048"/>
            <a:ext cx="10881360" cy="16459"/>
          </a:xfrm>
          <a:prstGeom prst="rect">
            <a:avLst/>
          </a:prstGeom>
          <a:solidFill>
            <a:srgbClr val="DCE2EA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2" name="Google Shape;252;p8"/>
          <p:cNvSpPr/>
          <p:nvPr/>
        </p:nvSpPr>
        <p:spPr>
          <a:xfrm>
            <a:off x="7882127" y="1828800"/>
            <a:ext cx="3566160" cy="91440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9525">
            <a:solidFill>
              <a:srgbClr val="DCE2EA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3" name="Google Shape;253;p8"/>
          <p:cNvSpPr/>
          <p:nvPr/>
        </p:nvSpPr>
        <p:spPr>
          <a:xfrm>
            <a:off x="7882127" y="1828800"/>
            <a:ext cx="64008" cy="914400"/>
          </a:xfrm>
          <a:prstGeom prst="rect">
            <a:avLst/>
          </a:prstGeom>
          <a:solidFill>
            <a:srgbClr val="F56736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4" name="Google Shape;254;p8"/>
          <p:cNvSpPr txBox="1"/>
          <p:nvPr/>
        </p:nvSpPr>
        <p:spPr>
          <a:xfrm>
            <a:off x="8101583" y="1920240"/>
            <a:ext cx="3236976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27425" spcFirstLastPara="1" rIns="27425" wrap="square" tIns="182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300"/>
              <a:buFont typeface="Arial"/>
              <a:buNone/>
            </a:pPr>
            <a:r>
              <a:rPr b="1" i="0" lang="en-US" sz="2300" u="none" cap="none" strike="noStrike">
                <a:solidFill>
                  <a:srgbClr val="121E34"/>
                </a:solidFill>
                <a:latin typeface="Arial"/>
                <a:ea typeface="Arial"/>
                <a:cs typeface="Arial"/>
                <a:sym typeface="Arial"/>
              </a:rPr>
              <a:t>6.3 : 1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5" name="Google Shape;255;p8"/>
          <p:cNvSpPr txBox="1"/>
          <p:nvPr/>
        </p:nvSpPr>
        <p:spPr>
          <a:xfrm>
            <a:off x="8101583" y="2286000"/>
            <a:ext cx="3236976" cy="402335"/>
          </a:xfrm>
          <a:prstGeom prst="rect">
            <a:avLst/>
          </a:prstGeom>
          <a:noFill/>
          <a:ln>
            <a:noFill/>
          </a:ln>
        </p:spPr>
        <p:txBody>
          <a:bodyPr anchorCtr="0" anchor="t" bIns="18275" lIns="27425" spcFirstLastPara="1" rIns="27425" wrap="square" tIns="182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0" i="0" lang="en-US" sz="1100" u="none" cap="none" strike="noStrike">
                <a:solidFill>
                  <a:srgbClr val="5C6778"/>
                </a:solidFill>
                <a:latin typeface="Arial"/>
                <a:ea typeface="Arial"/>
                <a:cs typeface="Arial"/>
                <a:sym typeface="Arial"/>
              </a:rPr>
              <a:t>fake to real videos overall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6" name="Google Shape;256;p8"/>
          <p:cNvSpPr/>
          <p:nvPr/>
        </p:nvSpPr>
        <p:spPr>
          <a:xfrm>
            <a:off x="7882127" y="2944368"/>
            <a:ext cx="3566160" cy="91440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9525">
            <a:solidFill>
              <a:srgbClr val="DCE2EA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7" name="Google Shape;257;p8"/>
          <p:cNvSpPr/>
          <p:nvPr/>
        </p:nvSpPr>
        <p:spPr>
          <a:xfrm>
            <a:off x="7882127" y="2944368"/>
            <a:ext cx="64008" cy="914400"/>
          </a:xfrm>
          <a:prstGeom prst="rect">
            <a:avLst/>
          </a:prstGeom>
          <a:solidFill>
            <a:srgbClr val="F56736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8" name="Google Shape;258;p8"/>
          <p:cNvSpPr txBox="1"/>
          <p:nvPr/>
        </p:nvSpPr>
        <p:spPr>
          <a:xfrm>
            <a:off x="8101583" y="3035808"/>
            <a:ext cx="3236976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27425" spcFirstLastPara="1" rIns="27425" wrap="square" tIns="182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300"/>
              <a:buFont typeface="Arial"/>
              <a:buNone/>
            </a:pPr>
            <a:r>
              <a:rPr b="1" i="0" lang="en-US" sz="2300" u="none" cap="none" strike="noStrike">
                <a:solidFill>
                  <a:srgbClr val="121E34"/>
                </a:solidFill>
                <a:latin typeface="Arial"/>
                <a:ea typeface="Arial"/>
                <a:cs typeface="Arial"/>
                <a:sym typeface="Arial"/>
              </a:rPr>
              <a:t>7.9 : 1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9" name="Google Shape;259;p8"/>
          <p:cNvSpPr txBox="1"/>
          <p:nvPr/>
        </p:nvSpPr>
        <p:spPr>
          <a:xfrm>
            <a:off x="8101583" y="3401568"/>
            <a:ext cx="3236976" cy="402335"/>
          </a:xfrm>
          <a:prstGeom prst="rect">
            <a:avLst/>
          </a:prstGeom>
          <a:noFill/>
          <a:ln>
            <a:noFill/>
          </a:ln>
        </p:spPr>
        <p:txBody>
          <a:bodyPr anchorCtr="0" anchor="t" bIns="18275" lIns="27425" spcFirstLastPara="1" rIns="27425" wrap="square" tIns="182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0" i="0" lang="en-US" sz="1100" u="none" cap="none" strike="noStrike">
                <a:solidFill>
                  <a:srgbClr val="5C6778"/>
                </a:solidFill>
                <a:latin typeface="Arial"/>
                <a:ea typeface="Arial"/>
                <a:cs typeface="Arial"/>
                <a:sym typeface="Arial"/>
              </a:rPr>
              <a:t>fake to real in the training split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0" name="Google Shape;260;p8"/>
          <p:cNvSpPr/>
          <p:nvPr/>
        </p:nvSpPr>
        <p:spPr>
          <a:xfrm>
            <a:off x="7882127" y="4059936"/>
            <a:ext cx="3566160" cy="91440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9525">
            <a:solidFill>
              <a:srgbClr val="DCE2EA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1" name="Google Shape;261;p8"/>
          <p:cNvSpPr/>
          <p:nvPr/>
        </p:nvSpPr>
        <p:spPr>
          <a:xfrm>
            <a:off x="7882127" y="4059936"/>
            <a:ext cx="64008" cy="914400"/>
          </a:xfrm>
          <a:prstGeom prst="rect">
            <a:avLst/>
          </a:prstGeom>
          <a:solidFill>
            <a:srgbClr val="3769BE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2" name="Google Shape;262;p8"/>
          <p:cNvSpPr txBox="1"/>
          <p:nvPr/>
        </p:nvSpPr>
        <p:spPr>
          <a:xfrm>
            <a:off x="8101583" y="4151376"/>
            <a:ext cx="3236976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27425" spcFirstLastPara="1" rIns="27425" wrap="square" tIns="182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300"/>
              <a:buFont typeface="Arial"/>
              <a:buNone/>
            </a:pPr>
            <a:r>
              <a:rPr b="1" i="0" lang="en-US" sz="2300" u="none" cap="none" strike="noStrike">
                <a:solidFill>
                  <a:srgbClr val="121E34"/>
                </a:solidFill>
                <a:latin typeface="Arial"/>
                <a:ea typeface="Arial"/>
                <a:cs typeface="Arial"/>
                <a:sym typeface="Arial"/>
              </a:rPr>
              <a:t>1.9 : 1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3" name="Google Shape;263;p8"/>
          <p:cNvSpPr txBox="1"/>
          <p:nvPr/>
        </p:nvSpPr>
        <p:spPr>
          <a:xfrm>
            <a:off x="8101583" y="4517136"/>
            <a:ext cx="3236976" cy="402335"/>
          </a:xfrm>
          <a:prstGeom prst="rect">
            <a:avLst/>
          </a:prstGeom>
          <a:noFill/>
          <a:ln>
            <a:noFill/>
          </a:ln>
        </p:spPr>
        <p:txBody>
          <a:bodyPr anchorCtr="0" anchor="t" bIns="18275" lIns="27425" spcFirstLastPara="1" rIns="27425" wrap="square" tIns="182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0" i="0" lang="en-US" sz="1100" u="none" cap="none" strike="noStrike">
                <a:solidFill>
                  <a:srgbClr val="5C6778"/>
                </a:solidFill>
                <a:latin typeface="Arial"/>
                <a:ea typeface="Arial"/>
                <a:cs typeface="Arial"/>
                <a:sym typeface="Arial"/>
              </a:rPr>
              <a:t>fake to real in the official test list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8" name="Google Shape;268;p8"/>
          <p:cNvSpPr/>
          <p:nvPr/>
        </p:nvSpPr>
        <p:spPr>
          <a:xfrm>
            <a:off x="749808" y="5230368"/>
            <a:ext cx="10698480" cy="1143000"/>
          </a:xfrm>
          <a:prstGeom prst="roundRect">
            <a:avLst>
              <a:gd fmla="val 16667" name="adj"/>
            </a:avLst>
          </a:prstGeom>
          <a:solidFill>
            <a:srgbClr val="F1F9F6"/>
          </a:solidFill>
          <a:ln cap="flat" cmpd="sng" w="9525">
            <a:solidFill>
              <a:srgbClr val="DCE2EA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9" name="Google Shape;269;p8"/>
          <p:cNvSpPr txBox="1"/>
          <p:nvPr/>
        </p:nvSpPr>
        <p:spPr>
          <a:xfrm>
            <a:off x="987552" y="5413248"/>
            <a:ext cx="54864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27425" spcFirstLastPara="1" rIns="27425" wrap="square" tIns="182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1" i="0" lang="en-US" sz="1100" u="none" cap="none" strike="noStrike">
                <a:solidFill>
                  <a:srgbClr val="1A9769"/>
                </a:solidFill>
                <a:latin typeface="Arial"/>
                <a:ea typeface="Arial"/>
                <a:cs typeface="Arial"/>
                <a:sym typeface="Arial"/>
              </a:rPr>
              <a:t>WHY IT MATTERS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0" name="Google Shape;270;p8"/>
          <p:cNvSpPr txBox="1"/>
          <p:nvPr/>
        </p:nvSpPr>
        <p:spPr>
          <a:xfrm>
            <a:off x="987552" y="5660136"/>
            <a:ext cx="1024128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27425" spcFirstLastPara="1" rIns="27425" wrap="square" tIns="182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100"/>
              <a:buFont typeface="Arial"/>
              <a:buNone/>
            </a:pPr>
            <a:r>
              <a:rPr b="1" i="0" lang="en-US" sz="1900" u="none" cap="none" strike="noStrike">
                <a:solidFill>
                  <a:srgbClr val="121E34"/>
                </a:solidFill>
                <a:latin typeface="Arial"/>
                <a:ea typeface="Arial"/>
                <a:cs typeface="Arial"/>
                <a:sym typeface="Arial"/>
              </a:rPr>
              <a:t>Answering FAKE every time would already be 87% accurate on the holdout videos.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1" name="Google Shape;271;p8"/>
          <p:cNvSpPr txBox="1"/>
          <p:nvPr/>
        </p:nvSpPr>
        <p:spPr>
          <a:xfrm>
            <a:off x="987552" y="6016752"/>
            <a:ext cx="10241280" cy="310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27425" spcFirstLastPara="1" rIns="27425" wrap="square" tIns="182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0" i="0" lang="en-US" sz="1300" u="none" cap="none" strike="noStrike">
                <a:solidFill>
                  <a:srgbClr val="5C6778"/>
                </a:solidFill>
                <a:latin typeface="Arial"/>
                <a:ea typeface="Arial"/>
                <a:cs typeface="Arial"/>
                <a:sym typeface="Arial"/>
              </a:rPr>
              <a:t>So models are compared with AUC and with errors counted separately for real and fake videos.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aphicFrame>
        <p:nvGraphicFramePr>
          <p:cNvPr id="272" name="Chart 271"/>
          <p:cNvGraphicFramePr>
            <a:graphicFrameLocks noGrp="1"/>
          </p:cNvGraphicFramePr>
          <p:nvPr/>
        </p:nvGraphicFramePr>
        <p:xfrm>
          <a:off x="658368" y="1755648"/>
          <a:ext cx="6949440" cy="3291840"/>
        </p:xfrm>
        <a:graphic>
          <a:graphicData uri="http://schemas.openxmlformats.org/drawingml/2006/chart">
            <c:chart r:id="rId2"/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8"/>
          <p:cNvSpPr txBox="1"/>
          <p:nvPr/>
        </p:nvSpPr>
        <p:spPr>
          <a:xfrm>
            <a:off x="658368" y="237744"/>
            <a:ext cx="36576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27425" spcFirstLastPara="1" rIns="27425" wrap="square" tIns="182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1" i="0" lang="en-US" sz="1100" u="none" cap="none" strike="noStrike">
                <a:solidFill>
                  <a:srgbClr val="F56736"/>
                </a:solidFill>
                <a:latin typeface="Arial"/>
                <a:ea typeface="Arial"/>
                <a:cs typeface="Arial"/>
                <a:sym typeface="Arial"/>
              </a:rPr>
              <a:t>STEP 2 — MODEL TRAINING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9" name="Google Shape;249;p8"/>
          <p:cNvSpPr txBox="1"/>
          <p:nvPr/>
        </p:nvSpPr>
        <p:spPr>
          <a:xfrm>
            <a:off x="658368" y="594360"/>
            <a:ext cx="1078992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27425" spcFirstLastPara="1" rIns="27425" wrap="square" tIns="182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600"/>
              <a:buFont typeface="Arial"/>
              <a:buNone/>
            </a:pPr>
            <a:r>
              <a:rPr b="1" i="0" lang="en-US" sz="2600" u="none" cap="none" strike="noStrike">
                <a:solidFill>
                  <a:srgbClr val="121E34"/>
                </a:solidFill>
                <a:latin typeface="Arial"/>
                <a:ea typeface="Arial"/>
                <a:cs typeface="Arial"/>
                <a:sym typeface="Arial"/>
              </a:rPr>
              <a:t>Data distribution: face images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0" name="Google Shape;250;p8"/>
          <p:cNvSpPr txBox="1"/>
          <p:nvPr/>
        </p:nvSpPr>
        <p:spPr>
          <a:xfrm>
            <a:off x="658368" y="1060704"/>
            <a:ext cx="10789920" cy="310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27425" spcFirstLastPara="1" rIns="27425" wrap="square" tIns="182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0" i="0" lang="en-US" sz="1300" u="none" cap="none" strike="noStrike">
                <a:solidFill>
                  <a:srgbClr val="5C6778"/>
                </a:solidFill>
                <a:latin typeface="Arial"/>
                <a:ea typeface="Arial"/>
                <a:cs typeface="Arial"/>
                <a:sym typeface="Arial"/>
              </a:rPr>
              <a:t>Face images (one per sampled frame) in each split: 73,429 in total.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1" name="Google Shape;251;p8"/>
          <p:cNvSpPr/>
          <p:nvPr/>
        </p:nvSpPr>
        <p:spPr>
          <a:xfrm>
            <a:off x="658368" y="1527048"/>
            <a:ext cx="10881360" cy="16459"/>
          </a:xfrm>
          <a:prstGeom prst="rect">
            <a:avLst/>
          </a:prstGeom>
          <a:solidFill>
            <a:srgbClr val="DCE2EA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2" name="Google Shape;252;p8"/>
          <p:cNvSpPr/>
          <p:nvPr/>
        </p:nvSpPr>
        <p:spPr>
          <a:xfrm>
            <a:off x="7882127" y="1828800"/>
            <a:ext cx="3566160" cy="91440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9525">
            <a:solidFill>
              <a:srgbClr val="DCE2EA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3" name="Google Shape;253;p8"/>
          <p:cNvSpPr/>
          <p:nvPr/>
        </p:nvSpPr>
        <p:spPr>
          <a:xfrm>
            <a:off x="7882127" y="1828800"/>
            <a:ext cx="64008" cy="914400"/>
          </a:xfrm>
          <a:prstGeom prst="rect">
            <a:avLst/>
          </a:prstGeom>
          <a:solidFill>
            <a:srgbClr val="1A9769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4" name="Google Shape;254;p8"/>
          <p:cNvSpPr txBox="1"/>
          <p:nvPr/>
        </p:nvSpPr>
        <p:spPr>
          <a:xfrm>
            <a:off x="8101583" y="1920240"/>
            <a:ext cx="3236976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27425" spcFirstLastPara="1" rIns="27425" wrap="square" tIns="182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300"/>
              <a:buFont typeface="Arial"/>
              <a:buNone/>
            </a:pPr>
            <a:r>
              <a:rPr b="1" i="0" lang="en-US" sz="2300" u="none" cap="none" strike="noStrike">
                <a:solidFill>
                  <a:srgbClr val="121E34"/>
                </a:solidFill>
                <a:latin typeface="Arial"/>
                <a:ea typeface="Arial"/>
                <a:cs typeface="Arial"/>
                <a:sym typeface="Arial"/>
              </a:rPr>
              <a:t>2.0 : 1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5" name="Google Shape;255;p8"/>
          <p:cNvSpPr txBox="1"/>
          <p:nvPr/>
        </p:nvSpPr>
        <p:spPr>
          <a:xfrm>
            <a:off x="8101583" y="2286000"/>
            <a:ext cx="3236976" cy="402335"/>
          </a:xfrm>
          <a:prstGeom prst="rect">
            <a:avLst/>
          </a:prstGeom>
          <a:noFill/>
          <a:ln>
            <a:noFill/>
          </a:ln>
        </p:spPr>
        <p:txBody>
          <a:bodyPr anchorCtr="0" anchor="t" bIns="18275" lIns="27425" spcFirstLastPara="1" rIns="27425" wrap="square" tIns="182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0" i="0" lang="en-US" sz="1100" u="none" cap="none" strike="noStrike">
                <a:solidFill>
                  <a:srgbClr val="5C6778"/>
                </a:solidFill>
                <a:latin typeface="Arial"/>
                <a:ea typeface="Arial"/>
                <a:cs typeface="Arial"/>
                <a:sym typeface="Arial"/>
              </a:rPr>
              <a:t>fake to real faces in training (7.9 : 1 for videos)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6" name="Google Shape;256;p8"/>
          <p:cNvSpPr/>
          <p:nvPr/>
        </p:nvSpPr>
        <p:spPr>
          <a:xfrm>
            <a:off x="7882127" y="2944368"/>
            <a:ext cx="3566160" cy="91440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9525">
            <a:solidFill>
              <a:srgbClr val="DCE2EA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7" name="Google Shape;257;p8"/>
          <p:cNvSpPr/>
          <p:nvPr/>
        </p:nvSpPr>
        <p:spPr>
          <a:xfrm>
            <a:off x="7882127" y="2944368"/>
            <a:ext cx="64008" cy="914400"/>
          </a:xfrm>
          <a:prstGeom prst="rect">
            <a:avLst/>
          </a:prstGeom>
          <a:solidFill>
            <a:srgbClr val="3769BE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8" name="Google Shape;258;p8"/>
          <p:cNvSpPr txBox="1"/>
          <p:nvPr/>
        </p:nvSpPr>
        <p:spPr>
          <a:xfrm>
            <a:off x="8101583" y="3035808"/>
            <a:ext cx="3236976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27425" spcFirstLastPara="1" rIns="27425" wrap="square" tIns="182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300"/>
              <a:buFont typeface="Arial"/>
              <a:buNone/>
            </a:pPr>
            <a:r>
              <a:rPr b="1" i="0" lang="en-US" sz="2300" u="none" cap="none" strike="noStrike">
                <a:solidFill>
                  <a:srgbClr val="121E34"/>
                </a:solidFill>
                <a:latin typeface="Arial"/>
                <a:ea typeface="Arial"/>
                <a:cs typeface="Arial"/>
                <a:sym typeface="Arial"/>
              </a:rPr>
              <a:t>32 · 8 · 16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9" name="Google Shape;259;p8"/>
          <p:cNvSpPr txBox="1"/>
          <p:nvPr/>
        </p:nvSpPr>
        <p:spPr>
          <a:xfrm>
            <a:off x="8101583" y="3401568"/>
            <a:ext cx="3236976" cy="402335"/>
          </a:xfrm>
          <a:prstGeom prst="rect">
            <a:avLst/>
          </a:prstGeom>
          <a:noFill/>
          <a:ln>
            <a:noFill/>
          </a:ln>
        </p:spPr>
        <p:txBody>
          <a:bodyPr anchorCtr="0" anchor="t" bIns="18275" lIns="27425" spcFirstLastPara="1" rIns="27425" wrap="square" tIns="182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0" i="0" lang="en-US" sz="1100" u="none" cap="none" strike="noStrike">
                <a:solidFill>
                  <a:srgbClr val="5C6778"/>
                </a:solidFill>
                <a:latin typeface="Arial"/>
                <a:ea typeface="Arial"/>
                <a:cs typeface="Arial"/>
                <a:sym typeface="Arial"/>
              </a:rPr>
              <a:t>frames taken per real · fake · official-test video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0" name="Google Shape;260;p8"/>
          <p:cNvSpPr/>
          <p:nvPr/>
        </p:nvSpPr>
        <p:spPr>
          <a:xfrm>
            <a:off x="7882127" y="4059936"/>
            <a:ext cx="3566160" cy="91440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9525">
            <a:solidFill>
              <a:srgbClr val="DCE2EA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1" name="Google Shape;261;p8"/>
          <p:cNvSpPr/>
          <p:nvPr/>
        </p:nvSpPr>
        <p:spPr>
          <a:xfrm>
            <a:off x="7882127" y="4059936"/>
            <a:ext cx="64008" cy="914400"/>
          </a:xfrm>
          <a:prstGeom prst="rect">
            <a:avLst/>
          </a:prstGeom>
          <a:solidFill>
            <a:srgbClr val="F56736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2" name="Google Shape;262;p8"/>
          <p:cNvSpPr txBox="1"/>
          <p:nvPr/>
        </p:nvSpPr>
        <p:spPr>
          <a:xfrm>
            <a:off x="8101583" y="4151376"/>
            <a:ext cx="3236976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27425" spcFirstLastPara="1" rIns="27425" wrap="square" tIns="182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300"/>
              <a:buFont typeface="Arial"/>
              <a:buNone/>
            </a:pPr>
            <a:r>
              <a:rPr b="1" i="0" lang="en-US" sz="2300" u="none" cap="none" strike="noStrike">
                <a:solidFill>
                  <a:srgbClr val="121E34"/>
                </a:solidFill>
                <a:latin typeface="Arial"/>
                <a:ea typeface="Arial"/>
                <a:cs typeface="Arial"/>
                <a:sym typeface="Arial"/>
              </a:rPr>
              <a:t>0.51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3" name="Google Shape;263;p8"/>
          <p:cNvSpPr txBox="1"/>
          <p:nvPr/>
        </p:nvSpPr>
        <p:spPr>
          <a:xfrm>
            <a:off x="8101583" y="4517136"/>
            <a:ext cx="3236976" cy="402335"/>
          </a:xfrm>
          <a:prstGeom prst="rect">
            <a:avLst/>
          </a:prstGeom>
          <a:noFill/>
          <a:ln>
            <a:noFill/>
          </a:ln>
        </p:spPr>
        <p:txBody>
          <a:bodyPr anchorCtr="0" anchor="t" bIns="18275" lIns="27425" spcFirstLastPara="1" rIns="27425" wrap="square" tIns="182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0" i="0" lang="en-US" sz="1100" u="none" cap="none" strike="noStrike">
                <a:solidFill>
                  <a:srgbClr val="5C6778"/>
                </a:solidFill>
                <a:latin typeface="Arial"/>
                <a:ea typeface="Arial"/>
                <a:cs typeface="Arial"/>
                <a:sym typeface="Arial"/>
              </a:rPr>
              <a:t>loss weight on fake faces, to even out the rest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8" name="Google Shape;268;p8"/>
          <p:cNvSpPr/>
          <p:nvPr/>
        </p:nvSpPr>
        <p:spPr>
          <a:xfrm>
            <a:off x="749808" y="5230368"/>
            <a:ext cx="10698480" cy="1143000"/>
          </a:xfrm>
          <a:prstGeom prst="roundRect">
            <a:avLst>
              <a:gd fmla="val 16667" name="adj"/>
            </a:avLst>
          </a:prstGeom>
          <a:solidFill>
            <a:srgbClr val="F1F9F6"/>
          </a:solidFill>
          <a:ln cap="flat" cmpd="sng" w="9525">
            <a:solidFill>
              <a:srgbClr val="DCE2EA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9" name="Google Shape;269;p8"/>
          <p:cNvSpPr txBox="1"/>
          <p:nvPr/>
        </p:nvSpPr>
        <p:spPr>
          <a:xfrm>
            <a:off x="987552" y="5413248"/>
            <a:ext cx="54864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27425" spcFirstLastPara="1" rIns="27425" wrap="square" tIns="182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1" i="0" lang="en-US" sz="1100" u="none" cap="none" strike="noStrike">
                <a:solidFill>
                  <a:srgbClr val="1A9769"/>
                </a:solidFill>
                <a:latin typeface="Arial"/>
                <a:ea typeface="Arial"/>
                <a:cs typeface="Arial"/>
                <a:sym typeface="Arial"/>
              </a:rPr>
              <a:t>BALANCING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0" name="Google Shape;270;p8"/>
          <p:cNvSpPr txBox="1"/>
          <p:nvPr/>
        </p:nvSpPr>
        <p:spPr>
          <a:xfrm>
            <a:off x="987552" y="5660136"/>
            <a:ext cx="1024128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27425" spcFirstLastPara="1" rIns="27425" wrap="square" tIns="182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100"/>
              <a:buFont typeface="Arial"/>
              <a:buNone/>
            </a:pPr>
            <a:r>
              <a:rPr b="1" i="0" lang="en-US" sz="1900" u="none" cap="none" strike="noStrike">
                <a:solidFill>
                  <a:srgbClr val="121E34"/>
                </a:solidFill>
                <a:latin typeface="Arial"/>
                <a:ea typeface="Arial"/>
                <a:cs typeface="Arial"/>
                <a:sym typeface="Arial"/>
              </a:rPr>
              <a:t>Taking 4× more frames from real videos cuts the imbalance from 7.9 : 1 to 2.0 : 1.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1" name="Google Shape;271;p8"/>
          <p:cNvSpPr txBox="1"/>
          <p:nvPr/>
        </p:nvSpPr>
        <p:spPr>
          <a:xfrm>
            <a:off x="987552" y="6016752"/>
            <a:ext cx="10241280" cy="310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27425" spcFirstLastPara="1" rIns="27425" wrap="square" tIns="182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0" i="0" lang="en-US" sz="1300" u="none" cap="none" strike="noStrike">
                <a:solidFill>
                  <a:srgbClr val="5C6778"/>
                </a:solidFill>
                <a:latin typeface="Arial"/>
                <a:ea typeface="Arial"/>
                <a:cs typeface="Arial"/>
                <a:sym typeface="Arial"/>
              </a:rPr>
              <a:t>Evaluation still gives each video one score, the average of its faces, so videos with more frames do not count more.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aphicFrame>
        <p:nvGraphicFramePr>
          <p:cNvPr id="272" name="Chart 271"/>
          <p:cNvGraphicFramePr>
            <a:graphicFrameLocks noGrp="1"/>
          </p:cNvGraphicFramePr>
          <p:nvPr/>
        </p:nvGraphicFramePr>
        <p:xfrm>
          <a:off x="658368" y="1755648"/>
          <a:ext cx="6949440" cy="3291840"/>
        </p:xfrm>
        <a:graphic>
          <a:graphicData uri="http://schemas.openxmlformats.org/drawingml/2006/chart">
            <c:chart r:id="rId2"/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9"/>
          <p:cNvSpPr txBox="1"/>
          <p:nvPr/>
        </p:nvSpPr>
        <p:spPr>
          <a:xfrm>
            <a:off x="658368" y="237744"/>
            <a:ext cx="36576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27425" spcFirstLastPara="1" rIns="27425" wrap="square" tIns="182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1" i="0" lang="en-US" sz="1100" u="none" cap="none" strike="noStrike">
                <a:solidFill>
                  <a:srgbClr val="F56736"/>
                </a:solidFill>
                <a:latin typeface="Arial"/>
                <a:ea typeface="Arial"/>
                <a:cs typeface="Arial"/>
                <a:sym typeface="Arial"/>
              </a:rPr>
              <a:t>STEP 2 — MODEL TRAINING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7" name="Google Shape;277;p9"/>
          <p:cNvSpPr txBox="1"/>
          <p:nvPr/>
        </p:nvSpPr>
        <p:spPr>
          <a:xfrm>
            <a:off x="658368" y="594360"/>
            <a:ext cx="1078992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27425" spcFirstLastPara="1" rIns="27425" wrap="square" tIns="182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600"/>
              <a:buFont typeface="Arial"/>
              <a:buNone/>
            </a:pPr>
            <a:r>
              <a:rPr b="1" i="0" lang="en-US" sz="2600" u="none" cap="none" strike="noStrike">
                <a:solidFill>
                  <a:srgbClr val="121E34"/>
                </a:solidFill>
                <a:latin typeface="Arial"/>
                <a:ea typeface="Arial"/>
                <a:cs typeface="Arial"/>
                <a:sym typeface="Arial"/>
              </a:rPr>
              <a:t>Face scoring flow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8" name="Google Shape;278;p9"/>
          <p:cNvSpPr txBox="1"/>
          <p:nvPr/>
        </p:nvSpPr>
        <p:spPr>
          <a:xfrm>
            <a:off x="658368" y="1060704"/>
            <a:ext cx="10789920" cy="310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27425" spcFirstLastPara="1" rIns="27425" wrap="square" tIns="182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0" i="0" lang="en-US" sz="1300" u="none" cap="none" strike="noStrike">
                <a:solidFill>
                  <a:srgbClr val="5C6778"/>
                </a:solidFill>
                <a:latin typeface="Arial"/>
                <a:ea typeface="Arial"/>
                <a:cs typeface="Arial"/>
                <a:sym typeface="Arial"/>
              </a:rPr>
              <a:t>Each trained model gives a fake score to each prepared face image.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9" name="Google Shape;279;p9"/>
          <p:cNvSpPr/>
          <p:nvPr/>
        </p:nvSpPr>
        <p:spPr>
          <a:xfrm>
            <a:off x="658368" y="1527048"/>
            <a:ext cx="10881360" cy="16459"/>
          </a:xfrm>
          <a:prstGeom prst="rect">
            <a:avLst/>
          </a:prstGeom>
          <a:solidFill>
            <a:srgbClr val="DCE2EA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0" name="Google Shape;280;p9"/>
          <p:cNvSpPr/>
          <p:nvPr/>
        </p:nvSpPr>
        <p:spPr>
          <a:xfrm>
            <a:off x="749808" y="1993392"/>
            <a:ext cx="2029967" cy="96012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9525">
            <a:solidFill>
              <a:srgbClr val="DCE2EA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1" name="Google Shape;281;p9"/>
          <p:cNvSpPr txBox="1"/>
          <p:nvPr/>
        </p:nvSpPr>
        <p:spPr>
          <a:xfrm>
            <a:off x="813815" y="2103120"/>
            <a:ext cx="1901951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27425" spcFirstLastPara="1" rIns="27425" wrap="square" tIns="1827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1" i="0" lang="en-US" sz="1400" u="none" cap="none" strike="noStrike">
                <a:solidFill>
                  <a:srgbClr val="121E34"/>
                </a:solidFill>
                <a:latin typeface="Arial"/>
                <a:ea typeface="Arial"/>
                <a:cs typeface="Arial"/>
                <a:sym typeface="Arial"/>
              </a:rPr>
              <a:t>Face image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82" name="Google Shape;282;p9"/>
          <p:cNvSpPr txBox="1"/>
          <p:nvPr/>
        </p:nvSpPr>
        <p:spPr>
          <a:xfrm>
            <a:off x="813815" y="2450592"/>
            <a:ext cx="1901951" cy="237744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27425" spcFirstLastPara="1" rIns="27425" wrap="square" tIns="1827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0" i="0" lang="en-US" sz="900" u="none" cap="none" strike="noStrike">
                <a:solidFill>
                  <a:srgbClr val="5C6778"/>
                </a:solidFill>
                <a:latin typeface="Arial"/>
                <a:ea typeface="Arial"/>
                <a:cs typeface="Arial"/>
                <a:sym typeface="Arial"/>
              </a:rPr>
              <a:t>input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83" name="Google Shape;283;p9"/>
          <p:cNvSpPr txBox="1"/>
          <p:nvPr/>
        </p:nvSpPr>
        <p:spPr>
          <a:xfrm>
            <a:off x="2779775" y="2267712"/>
            <a:ext cx="13716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27425" spcFirstLastPara="1" rIns="27425" wrap="square" tIns="1827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700"/>
              <a:buFont typeface="Arial"/>
              <a:buNone/>
            </a:pPr>
            <a:r>
              <a:rPr b="1" i="0" lang="en-US" sz="1700" u="none" cap="none" strike="noStrike">
                <a:solidFill>
                  <a:srgbClr val="F56736"/>
                </a:solidFill>
                <a:latin typeface="Arial"/>
                <a:ea typeface="Arial"/>
                <a:cs typeface="Arial"/>
                <a:sym typeface="Arial"/>
              </a:rPr>
              <a:t>→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84" name="Google Shape;284;p9"/>
          <p:cNvSpPr/>
          <p:nvPr/>
        </p:nvSpPr>
        <p:spPr>
          <a:xfrm>
            <a:off x="2916935" y="1993392"/>
            <a:ext cx="2029967" cy="96012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9525">
            <a:solidFill>
              <a:srgbClr val="DCE2EA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5" name="Google Shape;285;p9"/>
          <p:cNvSpPr txBox="1"/>
          <p:nvPr/>
        </p:nvSpPr>
        <p:spPr>
          <a:xfrm>
            <a:off x="2980943" y="2103120"/>
            <a:ext cx="1901951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27425" spcFirstLastPara="1" rIns="27425" wrap="square" tIns="1827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1" i="0" lang="en-US" sz="1400" u="none" cap="none" strike="noStrike">
                <a:solidFill>
                  <a:srgbClr val="121E34"/>
                </a:solidFill>
                <a:latin typeface="Arial"/>
                <a:ea typeface="Arial"/>
                <a:cs typeface="Arial"/>
                <a:sym typeface="Arial"/>
              </a:rPr>
              <a:t>ConvNeXt-Tiny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86" name="Google Shape;286;p9"/>
          <p:cNvSpPr txBox="1"/>
          <p:nvPr/>
        </p:nvSpPr>
        <p:spPr>
          <a:xfrm>
            <a:off x="2980943" y="2450592"/>
            <a:ext cx="1901951" cy="237744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27425" spcFirstLastPara="1" rIns="27425" wrap="square" tIns="1827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0" i="0" lang="en-US" sz="900" u="none" cap="none" strike="noStrike">
                <a:solidFill>
                  <a:srgbClr val="5C6778"/>
                </a:solidFill>
                <a:latin typeface="Arial"/>
                <a:ea typeface="Arial"/>
                <a:cs typeface="Arial"/>
                <a:sym typeface="Arial"/>
              </a:rPr>
              <a:t>best of 7 models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87" name="Google Shape;287;p9"/>
          <p:cNvSpPr txBox="1"/>
          <p:nvPr/>
        </p:nvSpPr>
        <p:spPr>
          <a:xfrm>
            <a:off x="4946903" y="2267712"/>
            <a:ext cx="13716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27425" spcFirstLastPara="1" rIns="27425" wrap="square" tIns="1827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700"/>
              <a:buFont typeface="Arial"/>
              <a:buNone/>
            </a:pPr>
            <a:r>
              <a:rPr b="1" i="0" lang="en-US" sz="1700" u="none" cap="none" strike="noStrike">
                <a:solidFill>
                  <a:srgbClr val="F56736"/>
                </a:solidFill>
                <a:latin typeface="Arial"/>
                <a:ea typeface="Arial"/>
                <a:cs typeface="Arial"/>
                <a:sym typeface="Arial"/>
              </a:rPr>
              <a:t>→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88" name="Google Shape;288;p9"/>
          <p:cNvSpPr/>
          <p:nvPr/>
        </p:nvSpPr>
        <p:spPr>
          <a:xfrm>
            <a:off x="5084064" y="1993392"/>
            <a:ext cx="2029967" cy="96012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9525">
            <a:solidFill>
              <a:srgbClr val="DCE2EA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9" name="Google Shape;289;p9"/>
          <p:cNvSpPr txBox="1"/>
          <p:nvPr/>
        </p:nvSpPr>
        <p:spPr>
          <a:xfrm>
            <a:off x="5148072" y="2103120"/>
            <a:ext cx="1901951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27425" spcFirstLastPara="1" rIns="27425" wrap="square" tIns="1827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1" i="0" lang="en-US" sz="1400" u="none" cap="none" strike="noStrike">
                <a:solidFill>
                  <a:srgbClr val="121E34"/>
                </a:solidFill>
                <a:latin typeface="Arial"/>
                <a:ea typeface="Arial"/>
                <a:cs typeface="Arial"/>
                <a:sym typeface="Arial"/>
              </a:rPr>
              <a:t>Face score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0" name="Google Shape;290;p9"/>
          <p:cNvSpPr txBox="1"/>
          <p:nvPr/>
        </p:nvSpPr>
        <p:spPr>
          <a:xfrm>
            <a:off x="5148072" y="2450592"/>
            <a:ext cx="1901951" cy="237744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27425" spcFirstLastPara="1" rIns="27425" wrap="square" tIns="1827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0" i="0" lang="en-US" sz="900" u="none" cap="none" strike="noStrike">
                <a:solidFill>
                  <a:srgbClr val="5C6778"/>
                </a:solidFill>
                <a:latin typeface="Arial"/>
                <a:ea typeface="Arial"/>
                <a:cs typeface="Arial"/>
                <a:sym typeface="Arial"/>
              </a:rPr>
              <a:t>fake score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1" name="Google Shape;291;p9"/>
          <p:cNvSpPr txBox="1"/>
          <p:nvPr/>
        </p:nvSpPr>
        <p:spPr>
          <a:xfrm>
            <a:off x="7114031" y="2267712"/>
            <a:ext cx="13716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27425" spcFirstLastPara="1" rIns="27425" wrap="square" tIns="1827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700"/>
              <a:buFont typeface="Arial"/>
              <a:buNone/>
            </a:pPr>
            <a:r>
              <a:rPr b="1" i="0" lang="en-US" sz="1700" u="none" cap="none" strike="noStrike">
                <a:solidFill>
                  <a:srgbClr val="F56736"/>
                </a:solidFill>
                <a:latin typeface="Arial"/>
                <a:ea typeface="Arial"/>
                <a:cs typeface="Arial"/>
                <a:sym typeface="Arial"/>
              </a:rPr>
              <a:t>→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2" name="Google Shape;292;p9"/>
          <p:cNvSpPr/>
          <p:nvPr/>
        </p:nvSpPr>
        <p:spPr>
          <a:xfrm>
            <a:off x="7251192" y="1993392"/>
            <a:ext cx="2029967" cy="96012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9525">
            <a:solidFill>
              <a:srgbClr val="DCE2EA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3" name="Google Shape;293;p9"/>
          <p:cNvSpPr txBox="1"/>
          <p:nvPr/>
        </p:nvSpPr>
        <p:spPr>
          <a:xfrm>
            <a:off x="7315200" y="2103120"/>
            <a:ext cx="1901951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27425" spcFirstLastPara="1" rIns="27425" wrap="square" tIns="1827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1" i="0" lang="en-US" sz="1400" u="none" cap="none" strike="noStrike">
                <a:solidFill>
                  <a:srgbClr val="121E34"/>
                </a:solidFill>
                <a:latin typeface="Arial"/>
                <a:ea typeface="Arial"/>
                <a:cs typeface="Arial"/>
                <a:sym typeface="Arial"/>
              </a:rPr>
              <a:t>Average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4" name="Google Shape;294;p9"/>
          <p:cNvSpPr txBox="1"/>
          <p:nvPr/>
        </p:nvSpPr>
        <p:spPr>
          <a:xfrm>
            <a:off x="7315200" y="2450592"/>
            <a:ext cx="1901951" cy="237744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27425" spcFirstLastPara="1" rIns="27425" wrap="square" tIns="1827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0" i="0" lang="en-US" sz="900" u="none" cap="none" strike="noStrike">
                <a:solidFill>
                  <a:srgbClr val="5C6778"/>
                </a:solidFill>
                <a:latin typeface="Arial"/>
                <a:ea typeface="Arial"/>
                <a:cs typeface="Arial"/>
                <a:sym typeface="Arial"/>
              </a:rPr>
              <a:t>all face scores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5" name="Google Shape;295;p9"/>
          <p:cNvSpPr txBox="1"/>
          <p:nvPr/>
        </p:nvSpPr>
        <p:spPr>
          <a:xfrm>
            <a:off x="9281159" y="2267712"/>
            <a:ext cx="13716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27425" spcFirstLastPara="1" rIns="27425" wrap="square" tIns="1827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700"/>
              <a:buFont typeface="Arial"/>
              <a:buNone/>
            </a:pPr>
            <a:r>
              <a:rPr b="1" i="0" lang="en-US" sz="1700" u="none" cap="none" strike="noStrike">
                <a:solidFill>
                  <a:srgbClr val="F56736"/>
                </a:solidFill>
                <a:latin typeface="Arial"/>
                <a:ea typeface="Arial"/>
                <a:cs typeface="Arial"/>
                <a:sym typeface="Arial"/>
              </a:rPr>
              <a:t>→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6" name="Google Shape;296;p9"/>
          <p:cNvSpPr/>
          <p:nvPr/>
        </p:nvSpPr>
        <p:spPr>
          <a:xfrm>
            <a:off x="9418319" y="1993392"/>
            <a:ext cx="2029967" cy="96012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9525">
            <a:solidFill>
              <a:srgbClr val="DCE2EA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7" name="Google Shape;297;p9"/>
          <p:cNvSpPr txBox="1"/>
          <p:nvPr/>
        </p:nvSpPr>
        <p:spPr>
          <a:xfrm>
            <a:off x="9482328" y="2103120"/>
            <a:ext cx="1901951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27425" spcFirstLastPara="1" rIns="27425" wrap="square" tIns="1827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1" i="0" lang="en-US" sz="1400" u="none" cap="none" strike="noStrike">
                <a:solidFill>
                  <a:srgbClr val="121E34"/>
                </a:solidFill>
                <a:latin typeface="Arial"/>
                <a:ea typeface="Arial"/>
                <a:cs typeface="Arial"/>
                <a:sym typeface="Arial"/>
              </a:rPr>
              <a:t>Decision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8" name="Google Shape;298;p9"/>
          <p:cNvSpPr txBox="1"/>
          <p:nvPr/>
        </p:nvSpPr>
        <p:spPr>
          <a:xfrm>
            <a:off x="9482328" y="2450592"/>
            <a:ext cx="1901951" cy="237744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27425" spcFirstLastPara="1" rIns="27425" wrap="square" tIns="1827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0" i="0" lang="en-US" sz="900" u="none" cap="none" strike="noStrike">
                <a:solidFill>
                  <a:srgbClr val="5C6778"/>
                </a:solidFill>
                <a:latin typeface="Arial"/>
                <a:ea typeface="Arial"/>
                <a:cs typeface="Arial"/>
                <a:sym typeface="Arial"/>
              </a:rPr>
              <a:t>REAL / FAKE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9" name="Google Shape;299;p9"/>
          <p:cNvSpPr/>
          <p:nvPr/>
        </p:nvSpPr>
        <p:spPr>
          <a:xfrm>
            <a:off x="749808" y="3675887"/>
            <a:ext cx="5074920" cy="1508760"/>
          </a:xfrm>
          <a:prstGeom prst="roundRect">
            <a:avLst>
              <a:gd fmla="val 16667" name="adj"/>
            </a:avLst>
          </a:prstGeom>
          <a:solidFill>
            <a:srgbClr val="FDF7F3"/>
          </a:solidFill>
          <a:ln cap="flat" cmpd="sng" w="9525">
            <a:solidFill>
              <a:srgbClr val="DCE2EA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0" name="Google Shape;300;p9"/>
          <p:cNvSpPr txBox="1"/>
          <p:nvPr/>
        </p:nvSpPr>
        <p:spPr>
          <a:xfrm>
            <a:off x="987552" y="3913632"/>
            <a:ext cx="20116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27425" spcFirstLastPara="1" rIns="27425" wrap="square" tIns="182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1" i="0" lang="en-US" sz="1100" u="none" cap="none" strike="noStrike">
                <a:solidFill>
                  <a:srgbClr val="F56736"/>
                </a:solidFill>
                <a:latin typeface="Arial"/>
                <a:ea typeface="Arial"/>
                <a:cs typeface="Arial"/>
                <a:sym typeface="Arial"/>
              </a:rPr>
              <a:t>DECISION POINT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1" name="Google Shape;301;p9"/>
          <p:cNvSpPr txBox="1"/>
          <p:nvPr/>
        </p:nvSpPr>
        <p:spPr>
          <a:xfrm>
            <a:off x="987552" y="4270248"/>
            <a:ext cx="4297680" cy="310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27425" spcFirstLastPara="1" rIns="27425" wrap="square" tIns="182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700"/>
              <a:buFont typeface="Arial"/>
              <a:buNone/>
            </a:pPr>
            <a:r>
              <a:rPr b="1" i="0" lang="en-US" sz="1700" u="none" cap="none" strike="noStrike">
                <a:solidFill>
                  <a:srgbClr val="1A9769"/>
                </a:solidFill>
                <a:latin typeface="Arial"/>
                <a:ea typeface="Arial"/>
                <a:cs typeface="Arial"/>
                <a:sym typeface="Arial"/>
              </a:rPr>
              <a:t>Average &lt; 0.0233  →  REAL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2" name="Google Shape;302;p9"/>
          <p:cNvSpPr txBox="1"/>
          <p:nvPr/>
        </p:nvSpPr>
        <p:spPr>
          <a:xfrm>
            <a:off x="987552" y="4645152"/>
            <a:ext cx="4297680" cy="310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27425" spcFirstLastPara="1" rIns="27425" wrap="square" tIns="182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700"/>
              <a:buFont typeface="Arial"/>
              <a:buNone/>
            </a:pPr>
            <a:r>
              <a:rPr b="1" i="0" lang="en-US" sz="1700" u="none" cap="none" strike="noStrike">
                <a:solidFill>
                  <a:srgbClr val="F56736"/>
                </a:solidFill>
                <a:latin typeface="Arial"/>
                <a:ea typeface="Arial"/>
                <a:cs typeface="Arial"/>
                <a:sym typeface="Arial"/>
              </a:rPr>
              <a:t>Average ≥ 0.0233  →  FAKE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3" name="Google Shape;303;p9"/>
          <p:cNvSpPr/>
          <p:nvPr/>
        </p:nvSpPr>
        <p:spPr>
          <a:xfrm>
            <a:off x="6126480" y="3675887"/>
            <a:ext cx="5321808" cy="1508760"/>
          </a:xfrm>
          <a:prstGeom prst="roundRect">
            <a:avLst>
              <a:gd fmla="val 16667" name="adj"/>
            </a:avLst>
          </a:prstGeom>
          <a:solidFill>
            <a:srgbClr val="F7F9FC"/>
          </a:solidFill>
          <a:ln cap="flat" cmpd="sng" w="9525">
            <a:solidFill>
              <a:srgbClr val="DCE2EA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4" name="Google Shape;304;p9"/>
          <p:cNvSpPr txBox="1"/>
          <p:nvPr/>
        </p:nvSpPr>
        <p:spPr>
          <a:xfrm>
            <a:off x="6364224" y="3913632"/>
            <a:ext cx="219456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27425" spcFirstLastPara="1" rIns="27425" wrap="square" tIns="182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1" i="0" lang="en-US" sz="1100" u="none" cap="none" strike="noStrike">
                <a:solidFill>
                  <a:srgbClr val="3769BE"/>
                </a:solidFill>
                <a:latin typeface="Arial"/>
                <a:ea typeface="Arial"/>
                <a:cs typeface="Arial"/>
                <a:sym typeface="Arial"/>
              </a:rPr>
              <a:t>MODEL SELECTION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5" name="Google Shape;305;p9"/>
          <p:cNvSpPr txBox="1"/>
          <p:nvPr/>
        </p:nvSpPr>
        <p:spPr>
          <a:xfrm>
            <a:off x="6364224" y="4224528"/>
            <a:ext cx="2926200" cy="320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27425" spcFirstLastPara="1" rIns="27425" wrap="square" tIns="182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</a:pPr>
            <a:r>
              <a:rPr b="1" i="0" lang="en-US" sz="1900" u="none" cap="none" strike="noStrike">
                <a:solidFill>
                  <a:srgbClr val="121E34"/>
                </a:solidFill>
                <a:latin typeface="Arial"/>
                <a:ea typeface="Arial"/>
                <a:cs typeface="Arial"/>
                <a:sym typeface="Arial"/>
              </a:rPr>
              <a:t>ConvNeXt-Tiny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6" name="Google Shape;306;p9"/>
          <p:cNvSpPr txBox="1"/>
          <p:nvPr/>
        </p:nvSpPr>
        <p:spPr>
          <a:xfrm>
            <a:off x="6364224" y="4617720"/>
            <a:ext cx="4572000" cy="420624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27425" spcFirstLastPara="1" rIns="27425" wrap="square" tIns="182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0" i="0" lang="en-US" sz="1300" u="none" cap="none" strike="noStrike">
                <a:solidFill>
                  <a:srgbClr val="5C6778"/>
                </a:solidFill>
                <a:latin typeface="Arial"/>
                <a:ea typeface="Arial"/>
                <a:cs typeface="Arial"/>
                <a:sym typeface="Arial"/>
              </a:rPr>
              <a:t>Highest holdout AUC of the seven models; a modern CNN pretrained on ImageNet-22k.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10"/>
          <p:cNvSpPr txBox="1"/>
          <p:nvPr/>
        </p:nvSpPr>
        <p:spPr>
          <a:xfrm>
            <a:off x="658368" y="237744"/>
            <a:ext cx="36576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27425" spcFirstLastPara="1" rIns="27425" wrap="square" tIns="182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1" i="0" lang="en-US" sz="1100" u="none" cap="none" strike="noStrike">
                <a:solidFill>
                  <a:srgbClr val="F56736"/>
                </a:solidFill>
                <a:latin typeface="Arial"/>
                <a:ea typeface="Arial"/>
                <a:cs typeface="Arial"/>
                <a:sym typeface="Arial"/>
              </a:rPr>
              <a:t>STEP 2 — MODEL TRAINING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12" name="Google Shape;312;p10"/>
          <p:cNvSpPr txBox="1"/>
          <p:nvPr/>
        </p:nvSpPr>
        <p:spPr>
          <a:xfrm>
            <a:off x="658368" y="594360"/>
            <a:ext cx="1078992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27425" spcFirstLastPara="1" rIns="27425" wrap="square" tIns="182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600"/>
              <a:buFont typeface="Arial"/>
              <a:buNone/>
            </a:pPr>
            <a:r>
              <a:rPr b="1" i="0" lang="en-US" sz="2600" u="none" cap="none" strike="noStrike">
                <a:solidFill>
                  <a:srgbClr val="121E34"/>
                </a:solidFill>
                <a:latin typeface="Arial"/>
                <a:ea typeface="Arial"/>
                <a:cs typeface="Arial"/>
                <a:sym typeface="Arial"/>
              </a:rPr>
              <a:t>Seven models compared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13" name="Google Shape;313;p10"/>
          <p:cNvSpPr txBox="1"/>
          <p:nvPr/>
        </p:nvSpPr>
        <p:spPr>
          <a:xfrm>
            <a:off x="658368" y="1060704"/>
            <a:ext cx="10789920" cy="310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27425" spcFirstLastPara="1" rIns="27425" wrap="square" tIns="182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0" i="0" lang="en-US" sz="1300" u="none" cap="none" strike="noStrike">
                <a:solidFill>
                  <a:srgbClr val="5C6778"/>
                </a:solidFill>
                <a:latin typeface="Arial"/>
                <a:ea typeface="Arial"/>
                <a:cs typeface="Arial"/>
                <a:sym typeface="Arial"/>
              </a:rPr>
              <a:t>Every model used the same face images, split, augmentation, 224 × 224 input and 8 training rounds.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14" name="Google Shape;314;p10"/>
          <p:cNvSpPr/>
          <p:nvPr/>
        </p:nvSpPr>
        <p:spPr>
          <a:xfrm>
            <a:off x="658368" y="1527048"/>
            <a:ext cx="10881360" cy="16459"/>
          </a:xfrm>
          <a:prstGeom prst="rect">
            <a:avLst/>
          </a:prstGeom>
          <a:solidFill>
            <a:srgbClr val="DCE2EA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5" name="Google Shape;315;p10"/>
          <p:cNvSpPr/>
          <p:nvPr/>
        </p:nvSpPr>
        <p:spPr>
          <a:xfrm>
            <a:off x="749808" y="5074920"/>
            <a:ext cx="10698480" cy="1234440"/>
          </a:xfrm>
          <a:prstGeom prst="roundRect">
            <a:avLst>
              <a:gd fmla="val 16667" name="adj"/>
            </a:avLst>
          </a:prstGeom>
          <a:solidFill>
            <a:srgbClr val="F1F9F6"/>
          </a:solidFill>
          <a:ln cap="flat" cmpd="sng" w="9525">
            <a:solidFill>
              <a:srgbClr val="DCE2EA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6" name="Google Shape;316;p10"/>
          <p:cNvSpPr txBox="1"/>
          <p:nvPr/>
        </p:nvSpPr>
        <p:spPr>
          <a:xfrm>
            <a:off x="987552" y="5230368"/>
            <a:ext cx="237744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27425" spcFirstLastPara="1" rIns="27425" wrap="square" tIns="182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1" i="0" lang="en-US" sz="1100" u="none" cap="none" strike="noStrike">
                <a:solidFill>
                  <a:srgbClr val="1A9769"/>
                </a:solidFill>
                <a:latin typeface="Arial"/>
                <a:ea typeface="Arial"/>
                <a:cs typeface="Arial"/>
                <a:sym typeface="Arial"/>
              </a:rPr>
              <a:t>TRAINING SETUP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17" name="Google Shape;317;p10"/>
          <p:cNvSpPr txBox="1"/>
          <p:nvPr/>
        </p:nvSpPr>
        <p:spPr>
          <a:xfrm>
            <a:off x="987552" y="5486400"/>
            <a:ext cx="9692640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27425" spcFirstLastPara="1" rIns="27425" wrap="square" tIns="182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100"/>
              <a:buFont typeface="Arial"/>
              <a:buNone/>
            </a:pPr>
            <a:r>
              <a:rPr b="1" i="0" lang="en-US" sz="2100" u="none" cap="none" strike="noStrike">
                <a:solidFill>
                  <a:srgbClr val="121E34"/>
                </a:solidFill>
                <a:latin typeface="Arial"/>
                <a:ea typeface="Arial"/>
                <a:cs typeface="Arial"/>
                <a:sym typeface="Arial"/>
              </a:rPr>
              <a:t>Each model trained in 45–53 minutes on a Colab T4 GPU.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18" name="Google Shape;318;p10"/>
          <p:cNvSpPr txBox="1"/>
          <p:nvPr/>
        </p:nvSpPr>
        <p:spPr>
          <a:xfrm>
            <a:off x="987552" y="5870448"/>
            <a:ext cx="9875520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27425" spcFirstLastPara="1" rIns="27425" wrap="square" tIns="182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0" i="0" lang="en-US" sz="1300" u="none" cap="none" strike="noStrike">
                <a:solidFill>
                  <a:srgbClr val="5C6778"/>
                </a:solidFill>
                <a:latin typeface="Arial"/>
                <a:ea typeface="Arial"/>
                <a:cs typeface="Arial"/>
                <a:sym typeface="Arial"/>
              </a:rPr>
              <a:t>Progress was saved after every round, so a run could resume after a Colab disconnect.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aphicFrame>
        <p:nvGraphicFramePr>
          <p:cNvPr id="319" name="Google Shape;319;p10"/>
          <p:cNvGraphicFramePr/>
          <p:nvPr/>
        </p:nvGraphicFramePr>
        <p:xfrm>
          <a:off x="749808" y="1810512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{7818308C-96FD-40AC-9B7E-A86C079216B4}</a:tableStyleId>
              </a:tblPr>
              <a:tblGrid>
                <a:gridCol w="2377450"/>
                <a:gridCol w="4937750"/>
                <a:gridCol w="1691650"/>
                <a:gridCol w="1691650"/>
              </a:tblGrid>
              <a:tr h="3657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b="1" lang="en-US" sz="1200" u="none" cap="none" strike="noStrik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Model</a:t>
                      </a:r>
                      <a:endParaRPr sz="1400" u="none" cap="none" strike="noStrike"/>
                    </a:p>
                  </a:txBody>
                  <a:tcPr marT="27425" marB="27425" marR="91450" marL="9145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CE2E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CE2E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21E34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b="1" lang="en-US" sz="1200" u="none" cap="none" strike="noStrik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Type</a:t>
                      </a:r>
                      <a:endParaRPr sz="1400" u="none" cap="none" strike="noStrike"/>
                    </a:p>
                  </a:txBody>
                  <a:tcPr marT="27425" marB="27425" marR="91450" marL="9145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CE2E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CE2E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21E34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b="1" lang="en-US" sz="1200" u="none" cap="none" strike="noStrik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Parameters</a:t>
                      </a:r>
                      <a:endParaRPr sz="1400" u="none" cap="none" strike="noStrike"/>
                    </a:p>
                  </a:txBody>
                  <a:tcPr marT="27425" marB="27425" marR="91450" marL="9145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CE2E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CE2E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21E34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b="1" lang="en-US" sz="1200" u="none" cap="none" strike="noStrik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Training time</a:t>
                      </a:r>
                      <a:endParaRPr sz="1400" u="none" cap="none" strike="noStrike"/>
                    </a:p>
                  </a:txBody>
                  <a:tcPr marT="27425" marB="27425" marR="91450" marL="9145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CE2E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CE2E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21E34"/>
                    </a:solidFill>
                  </a:tcPr>
                </a:tc>
              </a:tr>
              <a:tr h="3657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300"/>
                        <a:buFont typeface="Arial"/>
                        <a:buNone/>
                      </a:pPr>
                      <a:r>
                        <a:rPr b="1" lang="en-US" sz="1300" u="none" cap="none" strike="noStrike">
                          <a:solidFill>
                            <a:srgbClr val="121E34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EfficientNet-B0</a:t>
                      </a:r>
                      <a:endParaRPr sz="1400" u="none" cap="none" strike="noStrike"/>
                    </a:p>
                  </a:txBody>
                  <a:tcPr marT="27425" marB="27425" marR="91450" marL="9145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CE2E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CE2E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300"/>
                        <a:buFont typeface="Arial"/>
                        <a:buNone/>
                      </a:pPr>
                      <a:r>
                        <a:rPr b="0" lang="en-US" sz="1300" u="none" cap="none" strike="noStrike">
                          <a:solidFill>
                            <a:srgbClr val="121E34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Mid-term baseline, lightweight CNN</a:t>
                      </a:r>
                      <a:endParaRPr sz="1400" u="none" cap="none" strike="noStrike"/>
                    </a:p>
                  </a:txBody>
                  <a:tcPr marT="27425" marB="27425" marR="91450" marL="9145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CE2E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CE2E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300"/>
                        <a:buFont typeface="Arial"/>
                        <a:buNone/>
                      </a:pPr>
                      <a:r>
                        <a:rPr b="0" lang="en-US" sz="1300" u="none" cap="none" strike="noStrike">
                          <a:solidFill>
                            <a:srgbClr val="121E34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4.0 M</a:t>
                      </a:r>
                      <a:endParaRPr sz="1400" u="none" cap="none" strike="noStrike"/>
                    </a:p>
                  </a:txBody>
                  <a:tcPr marT="27425" marB="27425" marR="91450" marL="9145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CE2E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CE2E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300"/>
                        <a:buFont typeface="Arial"/>
                        <a:buNone/>
                      </a:pPr>
                      <a:r>
                        <a:rPr b="0" lang="en-US" sz="1300" u="none" cap="none" strike="noStrike">
                          <a:solidFill>
                            <a:srgbClr val="121E34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45 min</a:t>
                      </a:r>
                      <a:endParaRPr sz="1400" u="none" cap="none" strike="noStrike"/>
                    </a:p>
                  </a:txBody>
                  <a:tcPr marT="27425" marB="27425" marR="91450" marL="9145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CE2E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CE2E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</a:tr>
              <a:tr h="3657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300"/>
                        <a:buFont typeface="Arial"/>
                        <a:buNone/>
                      </a:pPr>
                      <a:r>
                        <a:rPr b="1" lang="en-US" sz="1300" u="none" cap="none" strike="noStrike">
                          <a:solidFill>
                            <a:srgbClr val="121E34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ResNet-50</a:t>
                      </a:r>
                      <a:endParaRPr sz="1400" u="none" cap="none" strike="noStrike"/>
                    </a:p>
                  </a:txBody>
                  <a:tcPr marT="27425" marB="27425" marR="91450" marL="9145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CE2E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CE2E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300"/>
                        <a:buFont typeface="Arial"/>
                        <a:buNone/>
                      </a:pPr>
                      <a:r>
                        <a:rPr b="0" lang="en-US" sz="1300" u="none" cap="none" strike="noStrike">
                          <a:solidFill>
                            <a:srgbClr val="121E34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Classic CNN reference</a:t>
                      </a:r>
                      <a:endParaRPr sz="1400" u="none" cap="none" strike="noStrike"/>
                    </a:p>
                  </a:txBody>
                  <a:tcPr marT="27425" marB="27425" marR="91450" marL="9145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CE2E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CE2E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300"/>
                        <a:buFont typeface="Arial"/>
                        <a:buNone/>
                      </a:pPr>
                      <a:r>
                        <a:rPr b="0" lang="en-US" sz="1300" u="none" cap="none" strike="noStrike">
                          <a:solidFill>
                            <a:srgbClr val="121E34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23.5 M</a:t>
                      </a:r>
                      <a:endParaRPr sz="1400" u="none" cap="none" strike="noStrike"/>
                    </a:p>
                  </a:txBody>
                  <a:tcPr marT="27425" marB="27425" marR="91450" marL="9145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CE2E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CE2E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300"/>
                        <a:buFont typeface="Arial"/>
                        <a:buNone/>
                      </a:pPr>
                      <a:r>
                        <a:rPr b="0" lang="en-US" sz="1300" u="none" cap="none" strike="noStrike">
                          <a:solidFill>
                            <a:srgbClr val="121E34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47 min</a:t>
                      </a:r>
                      <a:endParaRPr sz="1400" u="none" cap="none" strike="noStrike"/>
                    </a:p>
                  </a:txBody>
                  <a:tcPr marT="27425" marB="27425" marR="91450" marL="9145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CE2E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CE2E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</a:tr>
              <a:tr h="3657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300"/>
                        <a:buFont typeface="Arial"/>
                        <a:buNone/>
                      </a:pPr>
                      <a:r>
                        <a:rPr b="1" lang="en-US" sz="1300" u="none" cap="none" strike="noStrike">
                          <a:solidFill>
                            <a:srgbClr val="121E34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Xception</a:t>
                      </a:r>
                      <a:endParaRPr sz="1400" u="none" cap="none" strike="noStrike"/>
                    </a:p>
                  </a:txBody>
                  <a:tcPr marT="27425" marB="27425" marR="91450" marL="9145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CE2E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CE2E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300"/>
                        <a:buFont typeface="Arial"/>
                        <a:buNone/>
                      </a:pPr>
                      <a:r>
                        <a:rPr b="0" lang="en-US" sz="1300" u="none" cap="none" strike="noStrike">
                          <a:solidFill>
                            <a:srgbClr val="121E34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Standard deepfake-detection baseline (FaceForensics++)</a:t>
                      </a:r>
                      <a:endParaRPr sz="1400" u="none" cap="none" strike="noStrike"/>
                    </a:p>
                  </a:txBody>
                  <a:tcPr marT="27425" marB="27425" marR="91450" marL="9145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CE2E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CE2E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300"/>
                        <a:buFont typeface="Arial"/>
                        <a:buNone/>
                      </a:pPr>
                      <a:r>
                        <a:rPr b="0" lang="en-US" sz="1300" u="none" cap="none" strike="noStrike">
                          <a:solidFill>
                            <a:srgbClr val="121E34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20.8 M</a:t>
                      </a:r>
                      <a:endParaRPr sz="1400" u="none" cap="none" strike="noStrike"/>
                    </a:p>
                  </a:txBody>
                  <a:tcPr marT="27425" marB="27425" marR="91450" marL="9145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CE2E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CE2E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300"/>
                        <a:buFont typeface="Arial"/>
                        <a:buNone/>
                      </a:pPr>
                      <a:r>
                        <a:rPr b="0" lang="en-US" sz="1300" u="none" cap="none" strike="noStrike">
                          <a:solidFill>
                            <a:srgbClr val="121E34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51 min</a:t>
                      </a:r>
                      <a:endParaRPr sz="1400" u="none" cap="none" strike="noStrike"/>
                    </a:p>
                  </a:txBody>
                  <a:tcPr marT="27425" marB="27425" marR="91450" marL="9145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CE2E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CE2E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</a:tr>
              <a:tr h="3657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300"/>
                        <a:buFont typeface="Arial"/>
                        <a:buNone/>
                      </a:pPr>
                      <a:r>
                        <a:rPr b="1" lang="en-US" sz="1300" u="none" cap="none" strike="noStrike">
                          <a:solidFill>
                            <a:srgbClr val="121E34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ConvNeXt-Tiny</a:t>
                      </a:r>
                      <a:endParaRPr sz="1400" u="none" cap="none" strike="noStrike"/>
                    </a:p>
                  </a:txBody>
                  <a:tcPr marT="27425" marB="27425" marR="91450" marL="9145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CE2E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CE2E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1F9F6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300"/>
                        <a:buFont typeface="Arial"/>
                        <a:buNone/>
                      </a:pPr>
                      <a:r>
                        <a:rPr b="1" lang="en-US" sz="1300" u="none" cap="none" strike="noStrike">
                          <a:solidFill>
                            <a:srgbClr val="121E34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Modern CNN </a:t>
                      </a:r>
                      <a:r>
                        <a:rPr b="1" lang="en-US" sz="1300">
                          <a:solidFill>
                            <a:srgbClr val="121E34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 trained</a:t>
                      </a:r>
                      <a:r>
                        <a:rPr b="1" lang="en-US" sz="1300" u="none" cap="none" strike="noStrike">
                          <a:solidFill>
                            <a:srgbClr val="121E34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 on ImageNet-22k</a:t>
                      </a:r>
                      <a:endParaRPr sz="1400" u="none" cap="none" strike="noStrike"/>
                    </a:p>
                  </a:txBody>
                  <a:tcPr marT="27425" marB="27425" marR="91450" marL="9145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CE2E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CE2E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1F9F6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300"/>
                        <a:buFont typeface="Arial"/>
                        <a:buNone/>
                      </a:pPr>
                      <a:r>
                        <a:rPr b="1" lang="en-US" sz="1300" u="none" cap="none" strike="noStrike">
                          <a:solidFill>
                            <a:srgbClr val="121E34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27.8 M</a:t>
                      </a:r>
                      <a:endParaRPr sz="1400" u="none" cap="none" strike="noStrike"/>
                    </a:p>
                  </a:txBody>
                  <a:tcPr marT="27425" marB="27425" marR="91450" marL="9145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CE2E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CE2E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1F9F6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300"/>
                        <a:buFont typeface="Arial"/>
                        <a:buNone/>
                      </a:pPr>
                      <a:r>
                        <a:rPr b="1" lang="en-US" sz="1300" u="none" cap="none" strike="noStrike">
                          <a:solidFill>
                            <a:srgbClr val="121E34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49 min</a:t>
                      </a:r>
                      <a:endParaRPr sz="1400" u="none" cap="none" strike="noStrike"/>
                    </a:p>
                  </a:txBody>
                  <a:tcPr marT="27425" marB="27425" marR="91450" marL="9145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CE2E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CE2E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1F9F6"/>
                    </a:solidFill>
                  </a:tcPr>
                </a:tc>
              </a:tr>
              <a:tr h="3657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300"/>
                        <a:buFont typeface="Arial"/>
                        <a:buNone/>
                      </a:pPr>
                      <a:r>
                        <a:rPr b="1" lang="en-US" sz="1300" u="none" cap="none" strike="noStrike">
                          <a:solidFill>
                            <a:srgbClr val="121E34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Swin-Tiny</a:t>
                      </a:r>
                      <a:endParaRPr sz="1400" u="none" cap="none" strike="noStrike"/>
                    </a:p>
                  </a:txBody>
                  <a:tcPr marT="27425" marB="27425" marR="91450" marL="9145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CE2E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CE2E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300"/>
                        <a:buFont typeface="Arial"/>
                        <a:buNone/>
                      </a:pPr>
                      <a:r>
                        <a:rPr b="0" lang="en-US" sz="1300" u="none" cap="none" strike="noStrike">
                          <a:solidFill>
                            <a:srgbClr val="121E34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Vision transformer with local attention windows</a:t>
                      </a:r>
                      <a:endParaRPr sz="1400" u="none" cap="none" strike="noStrike"/>
                    </a:p>
                  </a:txBody>
                  <a:tcPr marT="27425" marB="27425" marR="91450" marL="9145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CE2E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CE2E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300"/>
                        <a:buFont typeface="Arial"/>
                        <a:buNone/>
                      </a:pPr>
                      <a:r>
                        <a:rPr b="0" lang="en-US" sz="1300" u="none" cap="none" strike="noStrike">
                          <a:solidFill>
                            <a:srgbClr val="121E34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27.5 M</a:t>
                      </a:r>
                      <a:endParaRPr sz="1400" u="none" cap="none" strike="noStrike"/>
                    </a:p>
                  </a:txBody>
                  <a:tcPr marT="27425" marB="27425" marR="91450" marL="9145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CE2E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CE2E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300"/>
                        <a:buFont typeface="Arial"/>
                        <a:buNone/>
                      </a:pPr>
                      <a:r>
                        <a:rPr b="0" lang="en-US" sz="1300" u="none" cap="none" strike="noStrike">
                          <a:solidFill>
                            <a:srgbClr val="121E34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50 min</a:t>
                      </a:r>
                      <a:endParaRPr sz="1400" u="none" cap="none" strike="noStrike"/>
                    </a:p>
                  </a:txBody>
                  <a:tcPr marT="27425" marB="27425" marR="91450" marL="9145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CE2E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CE2E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</a:tr>
              <a:tr h="3657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300"/>
                        <a:buFont typeface="Arial"/>
                        <a:buNone/>
                      </a:pPr>
                      <a:r>
                        <a:rPr b="1" lang="en-US" sz="1300" u="none" cap="none" strike="noStrike">
                          <a:solidFill>
                            <a:srgbClr val="121E34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EfficientNet-B4</a:t>
                      </a:r>
                      <a:endParaRPr sz="1400" u="none" cap="none" strike="noStrike"/>
                    </a:p>
                  </a:txBody>
                  <a:tcPr marT="27425" marB="27425" marR="91450" marL="9145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CE2E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CE2E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300"/>
                        <a:buFont typeface="Arial"/>
                        <a:buNone/>
                      </a:pPr>
                      <a:r>
                        <a:rPr b="0" lang="en-US" sz="1300" u="none" cap="none" strike="noStrike">
                          <a:solidFill>
                            <a:srgbClr val="121E34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Larger version of EfficientNet-B0</a:t>
                      </a:r>
                      <a:endParaRPr sz="1400" u="none" cap="none" strike="noStrike"/>
                    </a:p>
                  </a:txBody>
                  <a:tcPr marT="27425" marB="27425" marR="91450" marL="9145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CE2E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CE2E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300"/>
                        <a:buFont typeface="Arial"/>
                        <a:buNone/>
                      </a:pPr>
                      <a:r>
                        <a:rPr b="0" lang="en-US" sz="1300" u="none" cap="none" strike="noStrike">
                          <a:solidFill>
                            <a:srgbClr val="121E34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17.6 M</a:t>
                      </a:r>
                      <a:endParaRPr sz="1400" u="none" cap="none" strike="noStrike"/>
                    </a:p>
                  </a:txBody>
                  <a:tcPr marT="27425" marB="27425" marR="91450" marL="9145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CE2E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CE2E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300"/>
                        <a:buFont typeface="Arial"/>
                        <a:buNone/>
                      </a:pPr>
                      <a:r>
                        <a:rPr b="0" lang="en-US" sz="1300" u="none" cap="none" strike="noStrike">
                          <a:solidFill>
                            <a:srgbClr val="121E34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53 min</a:t>
                      </a:r>
                      <a:endParaRPr sz="1400" u="none" cap="none" strike="noStrike"/>
                    </a:p>
                  </a:txBody>
                  <a:tcPr marT="27425" marB="27425" marR="91450" marL="9145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CE2E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CE2E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</a:tr>
              <a:tr h="3657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300"/>
                        <a:buFont typeface="Arial"/>
                        <a:buNone/>
                      </a:pPr>
                      <a:r>
                        <a:rPr b="1" lang="en-US" sz="1300" u="none" cap="none" strike="noStrike">
                          <a:solidFill>
                            <a:srgbClr val="121E34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CLIP ViT-B/16</a:t>
                      </a:r>
                      <a:endParaRPr sz="1400" u="none" cap="none" strike="noStrike"/>
                    </a:p>
                  </a:txBody>
                  <a:tcPr marT="27425" marB="27425" marR="91450" marL="9145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CE2E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CE2E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300"/>
                        <a:buFont typeface="Arial"/>
                        <a:buNone/>
                      </a:pPr>
                      <a:r>
                        <a:rPr b="0" lang="en-US" sz="1300" u="none" cap="none" strike="noStrike">
                          <a:solidFill>
                            <a:srgbClr val="121E34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Foundation model; only the last 4 of 12 blocks trained</a:t>
                      </a:r>
                      <a:endParaRPr sz="1400" u="none" cap="none" strike="noStrike"/>
                    </a:p>
                  </a:txBody>
                  <a:tcPr marT="27425" marB="27425" marR="91450" marL="9145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CE2E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CE2E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300"/>
                        <a:buFont typeface="Arial"/>
                        <a:buNone/>
                      </a:pPr>
                      <a:r>
                        <a:rPr b="0" lang="en-US" sz="1300" u="none" cap="none" strike="noStrike">
                          <a:solidFill>
                            <a:srgbClr val="121E34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85.8 M</a:t>
                      </a:r>
                      <a:endParaRPr sz="1400" u="none" cap="none" strike="noStrike"/>
                    </a:p>
                  </a:txBody>
                  <a:tcPr marT="27425" marB="27425" marR="91450" marL="9145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CE2E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CE2E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300"/>
                        <a:buFont typeface="Arial"/>
                        <a:buNone/>
                      </a:pPr>
                      <a:r>
                        <a:rPr b="0" lang="en-US" sz="1300" u="none" cap="none" strike="noStrike">
                          <a:solidFill>
                            <a:srgbClr val="121E34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50 min</a:t>
                      </a:r>
                      <a:endParaRPr sz="1400" u="none" cap="none" strike="noStrike"/>
                    </a:p>
                  </a:txBody>
                  <a:tcPr marT="27425" marB="27425" marR="91450" marL="9145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CE2E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CE2E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323" name="Shape 3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4" name="Google Shape;324;p11"/>
          <p:cNvSpPr txBox="1"/>
          <p:nvPr/>
        </p:nvSpPr>
        <p:spPr>
          <a:xfrm>
            <a:off x="658368" y="237744"/>
            <a:ext cx="36576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27425" spcFirstLastPara="1" rIns="27425" wrap="square" tIns="182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1" i="0" lang="en-US" sz="1100" u="none" cap="none" strike="noStrike">
                <a:solidFill>
                  <a:srgbClr val="F56736"/>
                </a:solidFill>
                <a:latin typeface="Arial"/>
                <a:ea typeface="Arial"/>
                <a:cs typeface="Arial"/>
                <a:sym typeface="Arial"/>
              </a:rPr>
              <a:t>STEP 2 — MODEL TRAINING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25" name="Google Shape;325;p11"/>
          <p:cNvSpPr txBox="1"/>
          <p:nvPr/>
        </p:nvSpPr>
        <p:spPr>
          <a:xfrm>
            <a:off x="658368" y="594360"/>
            <a:ext cx="1078992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27425" spcFirstLastPara="1" rIns="27425" wrap="square" tIns="182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600"/>
              <a:buFont typeface="Arial"/>
              <a:buNone/>
            </a:pPr>
            <a:r>
              <a:rPr b="1" i="0" lang="en-US" sz="2600" u="none" cap="none" strike="noStrike">
                <a:solidFill>
                  <a:srgbClr val="121E34"/>
                </a:solidFill>
                <a:latin typeface="Arial"/>
                <a:ea typeface="Arial"/>
                <a:cs typeface="Arial"/>
                <a:sym typeface="Arial"/>
              </a:rPr>
              <a:t>Training result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26" name="Google Shape;326;p11"/>
          <p:cNvSpPr txBox="1"/>
          <p:nvPr/>
        </p:nvSpPr>
        <p:spPr>
          <a:xfrm>
            <a:off x="658368" y="1060704"/>
            <a:ext cx="10789920" cy="310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27425" spcFirstLastPara="1" rIns="27425" wrap="square" tIns="182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0" i="0" lang="en-US" sz="1300" u="none" cap="none" strike="noStrike">
                <a:solidFill>
                  <a:srgbClr val="5C6778"/>
                </a:solidFill>
                <a:latin typeface="Arial"/>
                <a:ea typeface="Arial"/>
                <a:cs typeface="Arial"/>
                <a:sym typeface="Arial"/>
              </a:rPr>
              <a:t>Each model's best round was selected using validation data.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27" name="Google Shape;327;p11"/>
          <p:cNvSpPr/>
          <p:nvPr/>
        </p:nvSpPr>
        <p:spPr>
          <a:xfrm>
            <a:off x="658368" y="1527048"/>
            <a:ext cx="10881360" cy="16459"/>
          </a:xfrm>
          <a:prstGeom prst="rect">
            <a:avLst/>
          </a:prstGeom>
          <a:solidFill>
            <a:srgbClr val="DCE2EA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8" name="Google Shape;328;p11"/>
          <p:cNvSpPr/>
          <p:nvPr/>
        </p:nvSpPr>
        <p:spPr>
          <a:xfrm>
            <a:off x="960120" y="1993392"/>
            <a:ext cx="2971800" cy="114300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9525">
            <a:solidFill>
              <a:srgbClr val="DCE2EA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9" name="Google Shape;329;p11"/>
          <p:cNvSpPr/>
          <p:nvPr/>
        </p:nvSpPr>
        <p:spPr>
          <a:xfrm>
            <a:off x="960120" y="1993392"/>
            <a:ext cx="64008" cy="1143000"/>
          </a:xfrm>
          <a:prstGeom prst="rect">
            <a:avLst/>
          </a:prstGeom>
          <a:solidFill>
            <a:srgbClr val="F56736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0" name="Google Shape;330;p11"/>
          <p:cNvSpPr txBox="1"/>
          <p:nvPr/>
        </p:nvSpPr>
        <p:spPr>
          <a:xfrm>
            <a:off x="1179576" y="2103120"/>
            <a:ext cx="2642616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27425" spcFirstLastPara="1" rIns="27425" wrap="square" tIns="182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300"/>
              <a:buFont typeface="Arial"/>
              <a:buNone/>
            </a:pPr>
            <a:r>
              <a:rPr b="1" i="0" lang="en-US" sz="2300" u="none" cap="none" strike="noStrike">
                <a:solidFill>
                  <a:srgbClr val="121E34"/>
                </a:solidFill>
                <a:latin typeface="Arial"/>
                <a:ea typeface="Arial"/>
                <a:cs typeface="Arial"/>
                <a:sym typeface="Arial"/>
              </a:rPr>
              <a:t>Round 7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1" name="Google Shape;331;p11"/>
          <p:cNvSpPr txBox="1"/>
          <p:nvPr/>
        </p:nvSpPr>
        <p:spPr>
          <a:xfrm>
            <a:off x="1179576" y="2505456"/>
            <a:ext cx="2642616" cy="576072"/>
          </a:xfrm>
          <a:prstGeom prst="rect">
            <a:avLst/>
          </a:prstGeom>
          <a:noFill/>
          <a:ln>
            <a:noFill/>
          </a:ln>
        </p:spPr>
        <p:txBody>
          <a:bodyPr anchorCtr="0" anchor="t" bIns="18275" lIns="27425" spcFirstLastPara="1" rIns="27425" wrap="square" tIns="182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0" i="0" lang="en-US" sz="1100" u="none" cap="none" strike="noStrike">
                <a:solidFill>
                  <a:srgbClr val="5C6778"/>
                </a:solidFill>
                <a:latin typeface="Arial"/>
                <a:ea typeface="Arial"/>
                <a:cs typeface="Arial"/>
                <a:sym typeface="Arial"/>
              </a:rPr>
              <a:t>best round for ConvNeXt-Tiny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2" name="Google Shape;332;p11"/>
          <p:cNvSpPr/>
          <p:nvPr/>
        </p:nvSpPr>
        <p:spPr>
          <a:xfrm>
            <a:off x="4599432" y="1993392"/>
            <a:ext cx="2971800" cy="114300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9525">
            <a:solidFill>
              <a:srgbClr val="DCE2EA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3" name="Google Shape;333;p11"/>
          <p:cNvSpPr/>
          <p:nvPr/>
        </p:nvSpPr>
        <p:spPr>
          <a:xfrm>
            <a:off x="4599432" y="1993392"/>
            <a:ext cx="64008" cy="1143000"/>
          </a:xfrm>
          <a:prstGeom prst="rect">
            <a:avLst/>
          </a:prstGeom>
          <a:solidFill>
            <a:srgbClr val="2A96A0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4" name="Google Shape;334;p11"/>
          <p:cNvSpPr txBox="1"/>
          <p:nvPr/>
        </p:nvSpPr>
        <p:spPr>
          <a:xfrm>
            <a:off x="4818888" y="2103120"/>
            <a:ext cx="2642616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27425" spcFirstLastPara="1" rIns="27425" wrap="square" tIns="182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300"/>
              <a:buFont typeface="Arial"/>
              <a:buNone/>
            </a:pPr>
            <a:r>
              <a:rPr b="1" i="0" lang="en-US" sz="2300" u="none" cap="none" strike="noStrike">
                <a:solidFill>
                  <a:srgbClr val="121E34"/>
                </a:solidFill>
                <a:latin typeface="Arial"/>
                <a:ea typeface="Arial"/>
                <a:cs typeface="Arial"/>
                <a:sym typeface="Arial"/>
              </a:rPr>
              <a:t>0.0233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5" name="Google Shape;335;p11"/>
          <p:cNvSpPr txBox="1"/>
          <p:nvPr/>
        </p:nvSpPr>
        <p:spPr>
          <a:xfrm>
            <a:off x="4818888" y="2505456"/>
            <a:ext cx="2642616" cy="576072"/>
          </a:xfrm>
          <a:prstGeom prst="rect">
            <a:avLst/>
          </a:prstGeom>
          <a:noFill/>
          <a:ln>
            <a:noFill/>
          </a:ln>
        </p:spPr>
        <p:txBody>
          <a:bodyPr anchorCtr="0" anchor="t" bIns="18275" lIns="27425" spcFirstLastPara="1" rIns="27425" wrap="square" tIns="182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0" i="0" lang="en-US" sz="1100" u="none" cap="none" strike="noStrike">
                <a:solidFill>
                  <a:srgbClr val="5C6778"/>
                </a:solidFill>
                <a:latin typeface="Arial"/>
                <a:ea typeface="Arial"/>
                <a:cs typeface="Arial"/>
                <a:sym typeface="Arial"/>
              </a:rPr>
              <a:t>ConvNeXt-Tiny decision point from validation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6" name="Google Shape;336;p11"/>
          <p:cNvSpPr/>
          <p:nvPr/>
        </p:nvSpPr>
        <p:spPr>
          <a:xfrm>
            <a:off x="8238744" y="1993392"/>
            <a:ext cx="2971800" cy="114300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9525">
            <a:solidFill>
              <a:srgbClr val="DCE2EA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7" name="Google Shape;337;p11"/>
          <p:cNvSpPr/>
          <p:nvPr/>
        </p:nvSpPr>
        <p:spPr>
          <a:xfrm>
            <a:off x="8238744" y="1993392"/>
            <a:ext cx="64008" cy="1143000"/>
          </a:xfrm>
          <a:prstGeom prst="rect">
            <a:avLst/>
          </a:prstGeom>
          <a:solidFill>
            <a:srgbClr val="1A9769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8" name="Google Shape;338;p11"/>
          <p:cNvSpPr txBox="1"/>
          <p:nvPr/>
        </p:nvSpPr>
        <p:spPr>
          <a:xfrm>
            <a:off x="8458200" y="2103120"/>
            <a:ext cx="2642616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27425" spcFirstLastPara="1" rIns="27425" wrap="square" tIns="182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300"/>
              <a:buFont typeface="Arial"/>
              <a:buNone/>
            </a:pPr>
            <a:r>
              <a:rPr b="1" i="0" lang="en-US" sz="2300" u="none" cap="none" strike="noStrike">
                <a:solidFill>
                  <a:srgbClr val="121E34"/>
                </a:solidFill>
                <a:latin typeface="Arial"/>
                <a:ea typeface="Arial"/>
                <a:cs typeface="Arial"/>
                <a:sym typeface="Arial"/>
              </a:rPr>
              <a:t>7 saved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9" name="Google Shape;339;p11"/>
          <p:cNvSpPr txBox="1"/>
          <p:nvPr/>
        </p:nvSpPr>
        <p:spPr>
          <a:xfrm>
            <a:off x="8458200" y="2505456"/>
            <a:ext cx="2642616" cy="576072"/>
          </a:xfrm>
          <a:prstGeom prst="rect">
            <a:avLst/>
          </a:prstGeom>
          <a:noFill/>
          <a:ln>
            <a:noFill/>
          </a:ln>
        </p:spPr>
        <p:txBody>
          <a:bodyPr anchorCtr="0" anchor="t" bIns="18275" lIns="27425" spcFirstLastPara="1" rIns="27425" wrap="square" tIns="182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0" i="0" lang="en-US" sz="1100" u="none" cap="none" strike="noStrike">
                <a:solidFill>
                  <a:srgbClr val="5C6778"/>
                </a:solidFill>
                <a:latin typeface="Arial"/>
                <a:ea typeface="Arial"/>
                <a:cs typeface="Arial"/>
                <a:sym typeface="Arial"/>
              </a:rPr>
              <a:t>best rounds used in Step 3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0" name="Google Shape;340;p11"/>
          <p:cNvSpPr/>
          <p:nvPr/>
        </p:nvSpPr>
        <p:spPr>
          <a:xfrm>
            <a:off x="960120" y="3767328"/>
            <a:ext cx="10250424" cy="1325880"/>
          </a:xfrm>
          <a:prstGeom prst="roundRect">
            <a:avLst>
              <a:gd fmla="val 16667" name="adj"/>
            </a:avLst>
          </a:prstGeom>
          <a:solidFill>
            <a:srgbClr val="F7F9FC"/>
          </a:solidFill>
          <a:ln cap="flat" cmpd="sng" w="9525">
            <a:solidFill>
              <a:srgbClr val="DCE2EA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1" name="Google Shape;341;p11"/>
          <p:cNvSpPr txBox="1"/>
          <p:nvPr/>
        </p:nvSpPr>
        <p:spPr>
          <a:xfrm>
            <a:off x="1207008" y="3995928"/>
            <a:ext cx="27432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27425" spcFirstLastPara="1" rIns="27425" wrap="square" tIns="182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1" i="0" lang="en-US" sz="1100" u="none" cap="none" strike="noStrike">
                <a:solidFill>
                  <a:srgbClr val="F56736"/>
                </a:solidFill>
                <a:latin typeface="Arial"/>
                <a:ea typeface="Arial"/>
                <a:cs typeface="Arial"/>
                <a:sym typeface="Arial"/>
              </a:rPr>
              <a:t>FINAL TRAINING OUTPUT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2" name="Google Shape;342;p11"/>
          <p:cNvSpPr txBox="1"/>
          <p:nvPr/>
        </p:nvSpPr>
        <p:spPr>
          <a:xfrm>
            <a:off x="1207008" y="4343400"/>
            <a:ext cx="9418320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27425" spcFirstLastPara="1" rIns="27425" wrap="square" tIns="182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1" i="0" lang="en-US" sz="2000" u="none" cap="none" strike="noStrike">
                <a:solidFill>
                  <a:srgbClr val="121E34"/>
                </a:solidFill>
                <a:latin typeface="Arial"/>
                <a:ea typeface="Arial"/>
                <a:cs typeface="Arial"/>
                <a:sym typeface="Arial"/>
              </a:rPr>
              <a:t>Step 3 uses each model's best round and decision point.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3" name="Google Shape;343;p11"/>
          <p:cNvSpPr txBox="1"/>
          <p:nvPr/>
        </p:nvSpPr>
        <p:spPr>
          <a:xfrm>
            <a:off x="1207008" y="4782312"/>
            <a:ext cx="94183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27425" spcFirstLastPara="1" rIns="27425" wrap="square" tIns="182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0" i="0" lang="en-US" sz="1300" u="none" cap="none" strike="noStrike">
                <a:solidFill>
                  <a:srgbClr val="5C6778"/>
                </a:solidFill>
                <a:latin typeface="Arial"/>
                <a:ea typeface="Arial"/>
                <a:cs typeface="Arial"/>
                <a:sym typeface="Arial"/>
              </a:rPr>
              <a:t>No retraining is done during the final evaluation.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21E34"/>
        </a:solidFill>
      </p:bgPr>
    </p:bg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12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1A9769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9" name="Google Shape;349;p12"/>
          <p:cNvSpPr txBox="1"/>
          <p:nvPr/>
        </p:nvSpPr>
        <p:spPr>
          <a:xfrm>
            <a:off x="868680" y="1097280"/>
            <a:ext cx="27432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27425" spcFirstLastPara="1" rIns="27425" wrap="square" tIns="182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1" i="0" lang="en-US" sz="1400" u="none" cap="none" strike="noStrike">
                <a:solidFill>
                  <a:srgbClr val="1A9769"/>
                </a:solidFill>
                <a:latin typeface="Arial"/>
                <a:ea typeface="Arial"/>
                <a:cs typeface="Arial"/>
                <a:sym typeface="Arial"/>
              </a:rPr>
              <a:t>STEP 3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0" name="Google Shape;350;p12"/>
          <p:cNvSpPr txBox="1"/>
          <p:nvPr/>
        </p:nvSpPr>
        <p:spPr>
          <a:xfrm>
            <a:off x="868680" y="1874519"/>
            <a:ext cx="10058400" cy="621792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27425" spcFirstLastPara="1" rIns="27425" wrap="square" tIns="182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100"/>
              <a:buFont typeface="Arial"/>
              <a:buNone/>
            </a:pPr>
            <a:r>
              <a:rPr b="1" i="0" lang="en-US" sz="31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Evaluation and Demo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1" name="Google Shape;351;p12"/>
          <p:cNvSpPr txBox="1"/>
          <p:nvPr/>
        </p:nvSpPr>
        <p:spPr>
          <a:xfrm>
            <a:off x="868680" y="2788920"/>
            <a:ext cx="9875520" cy="640080"/>
          </a:xfrm>
          <a:prstGeom prst="rect">
            <a:avLst/>
          </a:prstGeom>
          <a:noFill/>
          <a:ln>
            <a:noFill/>
          </a:ln>
        </p:spPr>
        <p:txBody>
          <a:bodyPr anchorCtr="0" anchor="t" bIns="18275" lIns="27425" spcFirstLastPara="1" rIns="27425" wrap="square" tIns="182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en-US" sz="1800" u="none" cap="none" strike="noStrike">
                <a:solidFill>
                  <a:srgbClr val="DEE5EF"/>
                </a:solidFill>
                <a:latin typeface="Arial"/>
                <a:ea typeface="Arial"/>
                <a:cs typeface="Arial"/>
                <a:sym typeface="Arial"/>
              </a:rPr>
              <a:t>Evaluate the saved models on unseen videos, test their robustness and run the complete video demo.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2" name="Google Shape;352;p12"/>
          <p:cNvSpPr/>
          <p:nvPr/>
        </p:nvSpPr>
        <p:spPr>
          <a:xfrm>
            <a:off x="868680" y="3794760"/>
            <a:ext cx="1920240" cy="45720"/>
          </a:xfrm>
          <a:prstGeom prst="rect">
            <a:avLst/>
          </a:prstGeom>
          <a:solidFill>
            <a:srgbClr val="1A9769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356" name="Shape 3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7" name="Google Shape;357;p13"/>
          <p:cNvSpPr txBox="1"/>
          <p:nvPr/>
        </p:nvSpPr>
        <p:spPr>
          <a:xfrm>
            <a:off x="658368" y="237744"/>
            <a:ext cx="36576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27425" spcFirstLastPara="1" rIns="27425" wrap="square" tIns="182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1" i="0" lang="en-US" sz="1100" u="none" cap="none" strike="noStrike">
                <a:solidFill>
                  <a:srgbClr val="F56736"/>
                </a:solidFill>
                <a:latin typeface="Arial"/>
                <a:ea typeface="Arial"/>
                <a:cs typeface="Arial"/>
                <a:sym typeface="Arial"/>
              </a:rPr>
              <a:t>STEP 3 — EVALUATION AND DEMO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8" name="Google Shape;358;p13"/>
          <p:cNvSpPr txBox="1"/>
          <p:nvPr/>
        </p:nvSpPr>
        <p:spPr>
          <a:xfrm>
            <a:off x="658368" y="594360"/>
            <a:ext cx="1078992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27425" spcFirstLastPara="1" rIns="27425" wrap="square" tIns="182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600"/>
              <a:buFont typeface="Arial"/>
              <a:buNone/>
            </a:pPr>
            <a:r>
              <a:rPr b="1" i="0" lang="en-US" sz="2600" u="none" cap="none" strike="noStrike">
                <a:solidFill>
                  <a:srgbClr val="121E34"/>
                </a:solidFill>
                <a:latin typeface="Arial"/>
                <a:ea typeface="Arial"/>
                <a:cs typeface="Arial"/>
                <a:sym typeface="Arial"/>
              </a:rPr>
              <a:t>Evaluation scope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9" name="Google Shape;359;p13"/>
          <p:cNvSpPr txBox="1"/>
          <p:nvPr/>
        </p:nvSpPr>
        <p:spPr>
          <a:xfrm>
            <a:off x="658368" y="1060704"/>
            <a:ext cx="10789920" cy="310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27425" spcFirstLastPara="1" rIns="27425" wrap="square" tIns="182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0" i="0" lang="en-US" sz="1300" u="none" cap="none" strike="noStrike">
                <a:solidFill>
                  <a:srgbClr val="5C6778"/>
                </a:solidFill>
                <a:latin typeface="Arial"/>
                <a:ea typeface="Arial"/>
                <a:cs typeface="Arial"/>
                <a:sym typeface="Arial"/>
              </a:rPr>
              <a:t>The saved models are tested after training.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0" name="Google Shape;360;p13"/>
          <p:cNvSpPr/>
          <p:nvPr/>
        </p:nvSpPr>
        <p:spPr>
          <a:xfrm>
            <a:off x="658368" y="1527048"/>
            <a:ext cx="10881360" cy="16459"/>
          </a:xfrm>
          <a:prstGeom prst="rect">
            <a:avLst/>
          </a:prstGeom>
          <a:solidFill>
            <a:srgbClr val="DCE2EA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1" name="Google Shape;361;p13"/>
          <p:cNvSpPr/>
          <p:nvPr/>
        </p:nvSpPr>
        <p:spPr>
          <a:xfrm>
            <a:off x="749808" y="1993392"/>
            <a:ext cx="2029967" cy="96012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9525">
            <a:solidFill>
              <a:srgbClr val="DCE2EA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2" name="Google Shape;362;p13"/>
          <p:cNvSpPr txBox="1"/>
          <p:nvPr/>
        </p:nvSpPr>
        <p:spPr>
          <a:xfrm>
            <a:off x="813815" y="2103120"/>
            <a:ext cx="1901951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27425" spcFirstLastPara="1" rIns="27425" wrap="square" tIns="1827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1" i="0" lang="en-US" sz="1400" u="none" cap="none" strike="noStrike">
                <a:solidFill>
                  <a:srgbClr val="121E34"/>
                </a:solidFill>
                <a:latin typeface="Arial"/>
                <a:ea typeface="Arial"/>
                <a:cs typeface="Arial"/>
                <a:sym typeface="Arial"/>
              </a:rPr>
              <a:t>Load models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3" name="Google Shape;363;p13"/>
          <p:cNvSpPr txBox="1"/>
          <p:nvPr/>
        </p:nvSpPr>
        <p:spPr>
          <a:xfrm>
            <a:off x="813815" y="2450592"/>
            <a:ext cx="1901951" cy="237744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27425" spcFirstLastPara="1" rIns="27425" wrap="square" tIns="1827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0" i="0" lang="en-US" sz="900" u="none" cap="none" strike="noStrike">
                <a:solidFill>
                  <a:srgbClr val="5C6778"/>
                </a:solidFill>
                <a:latin typeface="Arial"/>
                <a:ea typeface="Arial"/>
                <a:cs typeface="Arial"/>
                <a:sym typeface="Arial"/>
              </a:rPr>
              <a:t>7 saved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4" name="Google Shape;364;p13"/>
          <p:cNvSpPr txBox="1"/>
          <p:nvPr/>
        </p:nvSpPr>
        <p:spPr>
          <a:xfrm>
            <a:off x="2779775" y="2267712"/>
            <a:ext cx="13716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27425" spcFirstLastPara="1" rIns="27425" wrap="square" tIns="1827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700"/>
              <a:buFont typeface="Arial"/>
              <a:buNone/>
            </a:pPr>
            <a:r>
              <a:rPr b="1" i="0" lang="en-US" sz="1700" u="none" cap="none" strike="noStrike">
                <a:solidFill>
                  <a:srgbClr val="F56736"/>
                </a:solidFill>
                <a:latin typeface="Arial"/>
                <a:ea typeface="Arial"/>
                <a:cs typeface="Arial"/>
                <a:sym typeface="Arial"/>
              </a:rPr>
              <a:t>→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5" name="Google Shape;365;p13"/>
          <p:cNvSpPr/>
          <p:nvPr/>
        </p:nvSpPr>
        <p:spPr>
          <a:xfrm>
            <a:off x="2916935" y="1993392"/>
            <a:ext cx="2029967" cy="96012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9525">
            <a:solidFill>
              <a:srgbClr val="DCE2EA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6" name="Google Shape;366;p13"/>
          <p:cNvSpPr txBox="1"/>
          <p:nvPr/>
        </p:nvSpPr>
        <p:spPr>
          <a:xfrm>
            <a:off x="2980943" y="2103120"/>
            <a:ext cx="1901951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27425" spcFirstLastPara="1" rIns="27425" wrap="square" tIns="1827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1" i="0" lang="en-US" sz="1400" u="none" cap="none" strike="noStrike">
                <a:solidFill>
                  <a:srgbClr val="121E34"/>
                </a:solidFill>
                <a:latin typeface="Arial"/>
                <a:ea typeface="Arial"/>
                <a:cs typeface="Arial"/>
                <a:sym typeface="Arial"/>
              </a:rPr>
              <a:t>Test videos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7" name="Google Shape;367;p13"/>
          <p:cNvSpPr txBox="1"/>
          <p:nvPr/>
        </p:nvSpPr>
        <p:spPr>
          <a:xfrm>
            <a:off x="2980943" y="2450592"/>
            <a:ext cx="1901951" cy="237744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27425" spcFirstLastPara="1" rIns="27425" wrap="square" tIns="1827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0" i="0" lang="en-US" sz="900" u="none" cap="none" strike="noStrike">
                <a:solidFill>
                  <a:srgbClr val="5C6778"/>
                </a:solidFill>
                <a:latin typeface="Arial"/>
                <a:ea typeface="Arial"/>
                <a:cs typeface="Arial"/>
                <a:sym typeface="Arial"/>
              </a:rPr>
              <a:t>809 + 518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8" name="Google Shape;368;p13"/>
          <p:cNvSpPr txBox="1"/>
          <p:nvPr/>
        </p:nvSpPr>
        <p:spPr>
          <a:xfrm>
            <a:off x="4946903" y="2267712"/>
            <a:ext cx="13716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27425" spcFirstLastPara="1" rIns="27425" wrap="square" tIns="1827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700"/>
              <a:buFont typeface="Arial"/>
              <a:buNone/>
            </a:pPr>
            <a:r>
              <a:rPr b="1" i="0" lang="en-US" sz="1700" u="none" cap="none" strike="noStrike">
                <a:solidFill>
                  <a:srgbClr val="F56736"/>
                </a:solidFill>
                <a:latin typeface="Arial"/>
                <a:ea typeface="Arial"/>
                <a:cs typeface="Arial"/>
                <a:sym typeface="Arial"/>
              </a:rPr>
              <a:t>→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9" name="Google Shape;369;p13"/>
          <p:cNvSpPr/>
          <p:nvPr/>
        </p:nvSpPr>
        <p:spPr>
          <a:xfrm>
            <a:off x="5084064" y="1993392"/>
            <a:ext cx="2029967" cy="96012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9525">
            <a:solidFill>
              <a:srgbClr val="DCE2EA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0" name="Google Shape;370;p13"/>
          <p:cNvSpPr txBox="1"/>
          <p:nvPr/>
        </p:nvSpPr>
        <p:spPr>
          <a:xfrm>
            <a:off x="5148072" y="2103120"/>
            <a:ext cx="1901951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27425" spcFirstLastPara="1" rIns="27425" wrap="square" tIns="1827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1" i="0" lang="en-US" sz="1400" u="none" cap="none" strike="noStrike">
                <a:solidFill>
                  <a:srgbClr val="121E34"/>
                </a:solidFill>
                <a:latin typeface="Arial"/>
                <a:ea typeface="Arial"/>
                <a:cs typeface="Arial"/>
                <a:sym typeface="Arial"/>
              </a:rPr>
              <a:t>Compare labels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1" name="Google Shape;371;p13"/>
          <p:cNvSpPr txBox="1"/>
          <p:nvPr/>
        </p:nvSpPr>
        <p:spPr>
          <a:xfrm>
            <a:off x="5148072" y="2450592"/>
            <a:ext cx="1901951" cy="237744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27425" spcFirstLastPara="1" rIns="27425" wrap="square" tIns="1827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0" i="0" lang="en-US" sz="900" u="none" cap="none" strike="noStrike">
                <a:solidFill>
                  <a:srgbClr val="5C6778"/>
                </a:solidFill>
                <a:latin typeface="Arial"/>
                <a:ea typeface="Arial"/>
                <a:cs typeface="Arial"/>
                <a:sym typeface="Arial"/>
              </a:rPr>
              <a:t>correct / wrong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2" name="Google Shape;372;p13"/>
          <p:cNvSpPr txBox="1"/>
          <p:nvPr/>
        </p:nvSpPr>
        <p:spPr>
          <a:xfrm>
            <a:off x="7114031" y="2267712"/>
            <a:ext cx="13716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27425" spcFirstLastPara="1" rIns="27425" wrap="square" tIns="1827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700"/>
              <a:buFont typeface="Arial"/>
              <a:buNone/>
            </a:pPr>
            <a:r>
              <a:rPr b="1" i="0" lang="en-US" sz="1700" u="none" cap="none" strike="noStrike">
                <a:solidFill>
                  <a:srgbClr val="F56736"/>
                </a:solidFill>
                <a:latin typeface="Arial"/>
                <a:ea typeface="Arial"/>
                <a:cs typeface="Arial"/>
                <a:sym typeface="Arial"/>
              </a:rPr>
              <a:t>→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3" name="Google Shape;373;p13"/>
          <p:cNvSpPr/>
          <p:nvPr/>
        </p:nvSpPr>
        <p:spPr>
          <a:xfrm>
            <a:off x="7251192" y="1993392"/>
            <a:ext cx="2029967" cy="96012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9525">
            <a:solidFill>
              <a:srgbClr val="DCE2EA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4" name="Google Shape;374;p13"/>
          <p:cNvSpPr txBox="1"/>
          <p:nvPr/>
        </p:nvSpPr>
        <p:spPr>
          <a:xfrm>
            <a:off x="7315200" y="2103120"/>
            <a:ext cx="1901951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27425" spcFirstLastPara="1" rIns="27425" wrap="square" tIns="1827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1" i="0" lang="en-US" sz="1400" u="none" cap="none" strike="noStrike">
                <a:solidFill>
                  <a:srgbClr val="121E34"/>
                </a:solidFill>
                <a:latin typeface="Arial"/>
                <a:ea typeface="Arial"/>
                <a:cs typeface="Arial"/>
                <a:sym typeface="Arial"/>
              </a:rPr>
              <a:t>Stress test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5" name="Google Shape;375;p13"/>
          <p:cNvSpPr txBox="1"/>
          <p:nvPr/>
        </p:nvSpPr>
        <p:spPr>
          <a:xfrm>
            <a:off x="7315200" y="2450592"/>
            <a:ext cx="1901951" cy="237744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27425" spcFirstLastPara="1" rIns="27425" wrap="square" tIns="1827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0" i="0" lang="en-US" sz="900" u="none" cap="none" strike="noStrike">
                <a:solidFill>
                  <a:srgbClr val="5C6778"/>
                </a:solidFill>
                <a:latin typeface="Arial"/>
                <a:ea typeface="Arial"/>
                <a:cs typeface="Arial"/>
                <a:sym typeface="Arial"/>
              </a:rPr>
              <a:t>JPEG, resize, blur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6" name="Google Shape;376;p13"/>
          <p:cNvSpPr txBox="1"/>
          <p:nvPr/>
        </p:nvSpPr>
        <p:spPr>
          <a:xfrm>
            <a:off x="9281159" y="2267712"/>
            <a:ext cx="13716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27425" spcFirstLastPara="1" rIns="27425" wrap="square" tIns="1827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700"/>
              <a:buFont typeface="Arial"/>
              <a:buNone/>
            </a:pPr>
            <a:r>
              <a:rPr b="1" i="0" lang="en-US" sz="1700" u="none" cap="none" strike="noStrike">
                <a:solidFill>
                  <a:srgbClr val="F56736"/>
                </a:solidFill>
                <a:latin typeface="Arial"/>
                <a:ea typeface="Arial"/>
                <a:cs typeface="Arial"/>
                <a:sym typeface="Arial"/>
              </a:rPr>
              <a:t>→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7" name="Google Shape;377;p13"/>
          <p:cNvSpPr/>
          <p:nvPr/>
        </p:nvSpPr>
        <p:spPr>
          <a:xfrm>
            <a:off x="9418319" y="1993392"/>
            <a:ext cx="2029967" cy="96012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9525">
            <a:solidFill>
              <a:srgbClr val="DCE2EA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8" name="Google Shape;378;p13"/>
          <p:cNvSpPr txBox="1"/>
          <p:nvPr/>
        </p:nvSpPr>
        <p:spPr>
          <a:xfrm>
            <a:off x="9482328" y="2103120"/>
            <a:ext cx="1901951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27425" spcFirstLastPara="1" rIns="27425" wrap="square" tIns="1827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1" i="0" lang="en-US" sz="1400" u="none" cap="none" strike="noStrike">
                <a:solidFill>
                  <a:srgbClr val="121E34"/>
                </a:solidFill>
                <a:latin typeface="Arial"/>
                <a:ea typeface="Arial"/>
                <a:cs typeface="Arial"/>
                <a:sym typeface="Arial"/>
              </a:rPr>
              <a:t>Grad-CAM + demo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9" name="Google Shape;379;p13"/>
          <p:cNvSpPr txBox="1"/>
          <p:nvPr/>
        </p:nvSpPr>
        <p:spPr>
          <a:xfrm>
            <a:off x="9482328" y="2450592"/>
            <a:ext cx="1901951" cy="237744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27425" spcFirstLastPara="1" rIns="27425" wrap="square" tIns="1827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0" i="0" lang="en-US" sz="900" u="none" cap="none" strike="noStrike">
                <a:solidFill>
                  <a:srgbClr val="5C6778"/>
                </a:solidFill>
                <a:latin typeface="Arial"/>
                <a:ea typeface="Arial"/>
                <a:cs typeface="Arial"/>
                <a:sym typeface="Arial"/>
              </a:rPr>
              <a:t>attention, video → result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80" name="Google Shape;380;p13"/>
          <p:cNvSpPr/>
          <p:nvPr/>
        </p:nvSpPr>
        <p:spPr>
          <a:xfrm>
            <a:off x="749808" y="3749039"/>
            <a:ext cx="10698480" cy="1417320"/>
          </a:xfrm>
          <a:prstGeom prst="roundRect">
            <a:avLst>
              <a:gd fmla="val 16667" name="adj"/>
            </a:avLst>
          </a:prstGeom>
          <a:solidFill>
            <a:srgbClr val="F1F9F6"/>
          </a:solidFill>
          <a:ln cap="flat" cmpd="sng" w="9525">
            <a:solidFill>
              <a:srgbClr val="DCE2EA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1" name="Google Shape;381;p13"/>
          <p:cNvSpPr txBox="1"/>
          <p:nvPr/>
        </p:nvSpPr>
        <p:spPr>
          <a:xfrm>
            <a:off x="987552" y="3968496"/>
            <a:ext cx="2286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27425" spcFirstLastPara="1" rIns="27425" wrap="square" tIns="182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1" i="0" lang="en-US" sz="1100" u="none" cap="none" strike="noStrike">
                <a:solidFill>
                  <a:srgbClr val="1A9769"/>
                </a:solidFill>
                <a:latin typeface="Arial"/>
                <a:ea typeface="Arial"/>
                <a:cs typeface="Arial"/>
                <a:sym typeface="Arial"/>
              </a:rPr>
              <a:t>STEP 3 OUTPUT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82" name="Google Shape;382;p13"/>
          <p:cNvSpPr txBox="1"/>
          <p:nvPr/>
        </p:nvSpPr>
        <p:spPr>
          <a:xfrm>
            <a:off x="987552" y="4315968"/>
            <a:ext cx="9784080" cy="438912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27425" spcFirstLastPara="1" rIns="27425" wrap="square" tIns="182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1" i="0" lang="en-US" sz="2000" u="none" cap="none" strike="noStrike">
                <a:solidFill>
                  <a:srgbClr val="121E34"/>
                </a:solidFill>
                <a:latin typeface="Arial"/>
                <a:ea typeface="Arial"/>
                <a:cs typeface="Arial"/>
                <a:sym typeface="Arial"/>
              </a:rPr>
              <a:t>Accuracy, AUC, errors, robustness, attention maps and demo.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83" name="Google Shape;383;p13"/>
          <p:cNvSpPr txBox="1"/>
          <p:nvPr/>
        </p:nvSpPr>
        <p:spPr>
          <a:xfrm>
            <a:off x="987552" y="4800600"/>
            <a:ext cx="9784080" cy="310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27425" spcFirstLastPara="1" rIns="27425" wrap="square" tIns="182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0" i="0" lang="en-US" sz="1300" u="none" cap="none" strike="noStrike">
                <a:solidFill>
                  <a:srgbClr val="5C6778"/>
                </a:solidFill>
                <a:latin typeface="Arial"/>
                <a:ea typeface="Arial"/>
                <a:cs typeface="Arial"/>
                <a:sym typeface="Arial"/>
              </a:rPr>
              <a:t>The holdout test is the main unseen-video check; the official test provides the Celeb-DF benchmark result.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387" name="Shape 3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8" name="Google Shape;388;p14"/>
          <p:cNvSpPr txBox="1"/>
          <p:nvPr/>
        </p:nvSpPr>
        <p:spPr>
          <a:xfrm>
            <a:off x="658368" y="237744"/>
            <a:ext cx="36576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27425" spcFirstLastPara="1" rIns="27425" wrap="square" tIns="182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1" i="0" lang="en-US" sz="1100" u="none" cap="none" strike="noStrike">
                <a:solidFill>
                  <a:srgbClr val="F56736"/>
                </a:solidFill>
                <a:latin typeface="Arial"/>
                <a:ea typeface="Arial"/>
                <a:cs typeface="Arial"/>
                <a:sym typeface="Arial"/>
              </a:rPr>
              <a:t>STEP 3 — EVALUATION AND DEMO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89" name="Google Shape;389;p14"/>
          <p:cNvSpPr txBox="1"/>
          <p:nvPr/>
        </p:nvSpPr>
        <p:spPr>
          <a:xfrm>
            <a:off x="658368" y="594360"/>
            <a:ext cx="1078992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27425" spcFirstLastPara="1" rIns="27425" wrap="square" tIns="182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600"/>
              <a:buFont typeface="Arial"/>
              <a:buNone/>
            </a:pPr>
            <a:r>
              <a:rPr b="1" i="0" lang="en-US" sz="2600" u="none" cap="none" strike="noStrike">
                <a:solidFill>
                  <a:srgbClr val="121E34"/>
                </a:solidFill>
                <a:latin typeface="Arial"/>
                <a:ea typeface="Arial"/>
                <a:cs typeface="Arial"/>
                <a:sym typeface="Arial"/>
              </a:rPr>
              <a:t>Model comparison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0" name="Google Shape;390;p14"/>
          <p:cNvSpPr txBox="1"/>
          <p:nvPr/>
        </p:nvSpPr>
        <p:spPr>
          <a:xfrm>
            <a:off x="658368" y="1060704"/>
            <a:ext cx="10789920" cy="310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27425" spcFirstLastPara="1" rIns="27425" wrap="square" tIns="182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0" i="0" lang="en-US" sz="1300" u="none" cap="none" strike="noStrike">
                <a:solidFill>
                  <a:srgbClr val="5C6778"/>
                </a:solidFill>
                <a:latin typeface="Arial"/>
                <a:ea typeface="Arial"/>
                <a:cs typeface="Arial"/>
                <a:sym typeface="Arial"/>
              </a:rPr>
              <a:t>All seven models on the 809 holdout videos (main result) and the 518 official test videos.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1" name="Google Shape;391;p14"/>
          <p:cNvSpPr/>
          <p:nvPr/>
        </p:nvSpPr>
        <p:spPr>
          <a:xfrm>
            <a:off x="658368" y="1527048"/>
            <a:ext cx="10881360" cy="16459"/>
          </a:xfrm>
          <a:prstGeom prst="rect">
            <a:avLst/>
          </a:prstGeom>
          <a:solidFill>
            <a:srgbClr val="DCE2EA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2" name="Google Shape;392;p14"/>
          <p:cNvSpPr/>
          <p:nvPr/>
        </p:nvSpPr>
        <p:spPr>
          <a:xfrm>
            <a:off x="749808" y="5029200"/>
            <a:ext cx="10698480" cy="1371600"/>
          </a:xfrm>
          <a:prstGeom prst="roundRect">
            <a:avLst>
              <a:gd fmla="val 16667" name="adj"/>
            </a:avLst>
          </a:prstGeom>
          <a:solidFill>
            <a:srgbClr val="F1F9F6"/>
          </a:solidFill>
          <a:ln cap="flat" cmpd="sng" w="9525">
            <a:solidFill>
              <a:srgbClr val="DCE2EA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3" name="Google Shape;393;p14"/>
          <p:cNvSpPr txBox="1"/>
          <p:nvPr/>
        </p:nvSpPr>
        <p:spPr>
          <a:xfrm>
            <a:off x="987552" y="5166360"/>
            <a:ext cx="237744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27425" spcFirstLastPara="1" rIns="27425" wrap="square" tIns="182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1" i="0" lang="en-US" sz="1100" u="none" cap="none" strike="noStrike">
                <a:solidFill>
                  <a:srgbClr val="1A9769"/>
                </a:solidFill>
                <a:latin typeface="Arial"/>
                <a:ea typeface="Arial"/>
                <a:cs typeface="Arial"/>
                <a:sym typeface="Arial"/>
              </a:rPr>
              <a:t>KEY FINDING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4" name="Google Shape;394;p14"/>
          <p:cNvSpPr txBox="1"/>
          <p:nvPr/>
        </p:nvSpPr>
        <p:spPr>
          <a:xfrm>
            <a:off x="987552" y="5422392"/>
            <a:ext cx="9692640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27425" spcFirstLastPara="1" rIns="27425" wrap="square" tIns="182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100"/>
              <a:buFont typeface="Arial"/>
              <a:buNone/>
            </a:pPr>
            <a:r>
              <a:rPr b="1" i="0" lang="en-US" sz="2100" u="none" cap="none" strike="noStrike">
                <a:solidFill>
                  <a:srgbClr val="121E34"/>
                </a:solidFill>
                <a:latin typeface="Arial"/>
                <a:ea typeface="Arial"/>
                <a:cs typeface="Arial"/>
                <a:sym typeface="Arial"/>
              </a:rPr>
              <a:t>ConvNeXt-Tiny separated REAL and FAKE videos best.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5" name="Google Shape;395;p14"/>
          <p:cNvSpPr txBox="1"/>
          <p:nvPr/>
        </p:nvSpPr>
        <p:spPr>
          <a:xfrm>
            <a:off x="987552" y="5788152"/>
            <a:ext cx="9875520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27425" spcFirstLastPara="1" rIns="27425" wrap="square" tIns="182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0" i="0" lang="en-US" sz="1300" u="none" cap="none" strike="noStrike">
                <a:solidFill>
                  <a:srgbClr val="5C6778"/>
                </a:solidFill>
                <a:latin typeface="Arial"/>
                <a:ea typeface="Arial"/>
                <a:cs typeface="Arial"/>
                <a:sym typeface="Arial"/>
              </a:rPr>
              <a:t>Its 95% interval lies above EfficientNet-B0, ResNet-50 and Xception. Accuracy differs by only a few videos among the top five.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aphicFrame>
        <p:nvGraphicFramePr>
          <p:cNvPr id="396" name="Google Shape;396;p14"/>
          <p:cNvGraphicFramePr/>
          <p:nvPr/>
        </p:nvGraphicFramePr>
        <p:xfrm>
          <a:off x="749808" y="1783080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{7818308C-96FD-40AC-9B7E-A86C079216B4}</a:tableStyleId>
              </a:tblPr>
              <a:tblGrid>
                <a:gridCol w="2148850"/>
                <a:gridCol w="2606050"/>
                <a:gridCol w="1783075"/>
                <a:gridCol w="1371600"/>
                <a:gridCol w="1371600"/>
                <a:gridCol w="1417325"/>
              </a:tblGrid>
              <a:tr h="3474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b="1" lang="en-US" sz="1200" u="none" cap="none" strike="noStrik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Model</a:t>
                      </a:r>
                      <a:endParaRPr sz="1400" u="none" cap="none" strike="noStrike"/>
                    </a:p>
                  </a:txBody>
                  <a:tcPr marT="27425" marB="27425" marR="91450" marL="9145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CE2E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CE2E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21E34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b="1" lang="en-US" sz="1200" u="none" cap="none" strike="noStrik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Holdout AUC (95% CI)</a:t>
                      </a:r>
                      <a:endParaRPr sz="1400" u="none" cap="none" strike="noStrike"/>
                    </a:p>
                  </a:txBody>
                  <a:tcPr marT="27425" marB="27425" marR="91450" marL="9145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CE2E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CE2E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21E34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b="1" lang="en-US" sz="1200" u="none" cap="none" strike="noStrik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Holdout accuracy</a:t>
                      </a:r>
                      <a:endParaRPr sz="1400" u="none" cap="none" strike="noStrike"/>
                    </a:p>
                  </a:txBody>
                  <a:tcPr marT="27425" marB="27425" marR="91450" marL="9145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CE2E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CE2E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21E34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b="1" lang="en-US" sz="1200" u="none" cap="none" strike="noStrik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Holdout EER</a:t>
                      </a:r>
                      <a:endParaRPr sz="1400" u="none" cap="none" strike="noStrike"/>
                    </a:p>
                  </a:txBody>
                  <a:tcPr marT="27425" marB="27425" marR="91450" marL="9145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CE2E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CE2E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21E34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b="1" lang="en-US" sz="1200" u="none" cap="none" strike="noStrik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Official AUC</a:t>
                      </a:r>
                      <a:endParaRPr sz="1400" u="none" cap="none" strike="noStrike"/>
                    </a:p>
                  </a:txBody>
                  <a:tcPr marT="27425" marB="27425" marR="91450" marL="9145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CE2E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CE2E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21E34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b="1" lang="en-US" sz="1200" u="none" cap="none" strike="noStrik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Speed (img/s)</a:t>
                      </a:r>
                      <a:endParaRPr sz="1400" u="none" cap="none" strike="noStrike"/>
                    </a:p>
                  </a:txBody>
                  <a:tcPr marT="27425" marB="27425" marR="91450" marL="9145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CE2E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CE2E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21E34"/>
                    </a:solidFill>
                  </a:tcPr>
                </a:tc>
              </a:tr>
              <a:tr h="3474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300"/>
                        <a:buFont typeface="Arial"/>
                        <a:buNone/>
                      </a:pPr>
                      <a:r>
                        <a:rPr b="1" lang="en-US" sz="1300" u="none" cap="none" strike="noStrike">
                          <a:solidFill>
                            <a:srgbClr val="121E34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ConvNeXt-Tiny</a:t>
                      </a:r>
                      <a:endParaRPr sz="1400" u="none" cap="none" strike="noStrike"/>
                    </a:p>
                  </a:txBody>
                  <a:tcPr marT="27425" marB="27425" marR="91450" marL="9145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CE2E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CE2E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1F9F6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300"/>
                        <a:buFont typeface="Arial"/>
                        <a:buNone/>
                      </a:pPr>
                      <a:r>
                        <a:rPr b="1" lang="en-US" sz="1300" u="none" cap="none" strike="noStrike">
                          <a:solidFill>
                            <a:srgbClr val="121E34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0.9999 (0.9997–1.0000)</a:t>
                      </a:r>
                      <a:endParaRPr sz="1400" u="none" cap="none" strike="noStrike"/>
                    </a:p>
                  </a:txBody>
                  <a:tcPr marT="27425" marB="27425" marR="91450" marL="9145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CE2E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CE2E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1F9F6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300"/>
                        <a:buFont typeface="Arial"/>
                        <a:buNone/>
                      </a:pPr>
                      <a:r>
                        <a:rPr b="1" lang="en-US" sz="1300" u="none" cap="none" strike="noStrike">
                          <a:solidFill>
                            <a:srgbClr val="121E34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98.15% (794)</a:t>
                      </a:r>
                      <a:endParaRPr sz="1400" u="none" cap="none" strike="noStrike"/>
                    </a:p>
                  </a:txBody>
                  <a:tcPr marT="27425" marB="27425" marR="91450" marL="9145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CE2E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CE2E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1F9F6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300"/>
                        <a:buFont typeface="Arial"/>
                        <a:buNone/>
                      </a:pPr>
                      <a:r>
                        <a:rPr b="1" lang="en-US" sz="1300" u="none" cap="none" strike="noStrike">
                          <a:solidFill>
                            <a:srgbClr val="121E34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0.008</a:t>
                      </a:r>
                      <a:endParaRPr sz="1400" u="none" cap="none" strike="noStrike"/>
                    </a:p>
                  </a:txBody>
                  <a:tcPr marT="27425" marB="27425" marR="91450" marL="9145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CE2E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CE2E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1F9F6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300"/>
                        <a:buFont typeface="Arial"/>
                        <a:buNone/>
                      </a:pPr>
                      <a:r>
                        <a:rPr b="1" lang="en-US" sz="1300" u="none" cap="none" strike="noStrike">
                          <a:solidFill>
                            <a:srgbClr val="121E34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0.9998</a:t>
                      </a:r>
                      <a:endParaRPr sz="1400" u="none" cap="none" strike="noStrike"/>
                    </a:p>
                  </a:txBody>
                  <a:tcPr marT="27425" marB="27425" marR="91450" marL="9145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CE2E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CE2E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1F9F6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300"/>
                        <a:buFont typeface="Arial"/>
                        <a:buNone/>
                      </a:pPr>
                      <a:r>
                        <a:rPr b="1" lang="en-US" sz="1300" u="none" cap="none" strike="noStrike">
                          <a:solidFill>
                            <a:srgbClr val="121E34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575</a:t>
                      </a:r>
                      <a:endParaRPr sz="1400" u="none" cap="none" strike="noStrike"/>
                    </a:p>
                  </a:txBody>
                  <a:tcPr marT="27425" marB="27425" marR="91450" marL="9145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CE2E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CE2E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1F9F6"/>
                    </a:solidFill>
                  </a:tcPr>
                </a:tc>
              </a:tr>
              <a:tr h="3474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300"/>
                        <a:buFont typeface="Arial"/>
                        <a:buNone/>
                      </a:pPr>
                      <a:r>
                        <a:rPr b="1" lang="en-US" sz="1300" u="none" cap="none" strike="noStrike">
                          <a:solidFill>
                            <a:srgbClr val="121E34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EfficientNet-B4</a:t>
                      </a:r>
                      <a:endParaRPr sz="1400" u="none" cap="none" strike="noStrike"/>
                    </a:p>
                  </a:txBody>
                  <a:tcPr marT="27425" marB="27425" marR="91450" marL="9145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CE2E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CE2E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300"/>
                        <a:buFont typeface="Arial"/>
                        <a:buNone/>
                      </a:pPr>
                      <a:r>
                        <a:rPr b="0" lang="en-US" sz="1300" u="none" cap="none" strike="noStrike">
                          <a:solidFill>
                            <a:srgbClr val="121E34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0.9990 (0.9978–0.9999)</a:t>
                      </a:r>
                      <a:endParaRPr sz="1400" u="none" cap="none" strike="noStrike"/>
                    </a:p>
                  </a:txBody>
                  <a:tcPr marT="27425" marB="27425" marR="91450" marL="9145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CE2E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CE2E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300"/>
                        <a:buFont typeface="Arial"/>
                        <a:buNone/>
                      </a:pPr>
                      <a:r>
                        <a:rPr b="0" lang="en-US" sz="1300" u="none" cap="none" strike="noStrike">
                          <a:solidFill>
                            <a:srgbClr val="121E34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97.90% (792)</a:t>
                      </a:r>
                      <a:endParaRPr sz="1400" u="none" cap="none" strike="noStrike"/>
                    </a:p>
                  </a:txBody>
                  <a:tcPr marT="27425" marB="27425" marR="91450" marL="9145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CE2E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CE2E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300"/>
                        <a:buFont typeface="Arial"/>
                        <a:buNone/>
                      </a:pPr>
                      <a:r>
                        <a:rPr b="0" lang="en-US" sz="1300" u="none" cap="none" strike="noStrike">
                          <a:solidFill>
                            <a:srgbClr val="121E34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0.011</a:t>
                      </a:r>
                      <a:endParaRPr sz="1400" u="none" cap="none" strike="noStrike"/>
                    </a:p>
                  </a:txBody>
                  <a:tcPr marT="27425" marB="27425" marR="91450" marL="9145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CE2E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CE2E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300"/>
                        <a:buFont typeface="Arial"/>
                        <a:buNone/>
                      </a:pPr>
                      <a:r>
                        <a:rPr b="0" lang="en-US" sz="1300" u="none" cap="none" strike="noStrike">
                          <a:solidFill>
                            <a:srgbClr val="121E34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0.9991</a:t>
                      </a:r>
                      <a:endParaRPr sz="1400" u="none" cap="none" strike="noStrike"/>
                    </a:p>
                  </a:txBody>
                  <a:tcPr marT="27425" marB="27425" marR="91450" marL="9145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CE2E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CE2E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300"/>
                        <a:buFont typeface="Arial"/>
                        <a:buNone/>
                      </a:pPr>
                      <a:r>
                        <a:rPr b="0" lang="en-US" sz="1300" u="none" cap="none" strike="noStrike">
                          <a:solidFill>
                            <a:srgbClr val="121E34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517</a:t>
                      </a:r>
                      <a:endParaRPr sz="1400" u="none" cap="none" strike="noStrike"/>
                    </a:p>
                  </a:txBody>
                  <a:tcPr marT="27425" marB="27425" marR="91450" marL="9145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CE2E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CE2E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</a:tr>
              <a:tr h="3474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300"/>
                        <a:buFont typeface="Arial"/>
                        <a:buNone/>
                      </a:pPr>
                      <a:r>
                        <a:rPr b="1" lang="en-US" sz="1300" u="none" cap="none" strike="noStrike">
                          <a:solidFill>
                            <a:srgbClr val="121E34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Swin-Tiny</a:t>
                      </a:r>
                      <a:endParaRPr sz="1400" u="none" cap="none" strike="noStrike"/>
                    </a:p>
                  </a:txBody>
                  <a:tcPr marT="27425" marB="27425" marR="91450" marL="9145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CE2E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CE2E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300"/>
                        <a:buFont typeface="Arial"/>
                        <a:buNone/>
                      </a:pPr>
                      <a:r>
                        <a:rPr b="0" lang="en-US" sz="1300" u="none" cap="none" strike="noStrike">
                          <a:solidFill>
                            <a:srgbClr val="121E34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0.9988 (0.9975–0.9997)</a:t>
                      </a:r>
                      <a:endParaRPr sz="1400" u="none" cap="none" strike="noStrike"/>
                    </a:p>
                  </a:txBody>
                  <a:tcPr marT="27425" marB="27425" marR="91450" marL="9145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CE2E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CE2E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300"/>
                        <a:buFont typeface="Arial"/>
                        <a:buNone/>
                      </a:pPr>
                      <a:r>
                        <a:rPr b="0" lang="en-US" sz="1300" u="none" cap="none" strike="noStrike">
                          <a:solidFill>
                            <a:srgbClr val="121E34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98.15% (794)</a:t>
                      </a:r>
                      <a:endParaRPr sz="1400" u="none" cap="none" strike="noStrike"/>
                    </a:p>
                  </a:txBody>
                  <a:tcPr marT="27425" marB="27425" marR="91450" marL="9145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CE2E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CE2E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300"/>
                        <a:buFont typeface="Arial"/>
                        <a:buNone/>
                      </a:pPr>
                      <a:r>
                        <a:rPr b="0" lang="en-US" sz="1300" u="none" cap="none" strike="noStrike">
                          <a:solidFill>
                            <a:srgbClr val="121E34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0.022</a:t>
                      </a:r>
                      <a:endParaRPr sz="1400" u="none" cap="none" strike="noStrike"/>
                    </a:p>
                  </a:txBody>
                  <a:tcPr marT="27425" marB="27425" marR="91450" marL="9145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CE2E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CE2E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300"/>
                        <a:buFont typeface="Arial"/>
                        <a:buNone/>
                      </a:pPr>
                      <a:r>
                        <a:rPr b="0" lang="en-US" sz="1300" u="none" cap="none" strike="noStrike">
                          <a:solidFill>
                            <a:srgbClr val="121E34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0.9988</a:t>
                      </a:r>
                      <a:endParaRPr sz="1400" u="none" cap="none" strike="noStrike"/>
                    </a:p>
                  </a:txBody>
                  <a:tcPr marT="27425" marB="27425" marR="91450" marL="9145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CE2E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CE2E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300"/>
                        <a:buFont typeface="Arial"/>
                        <a:buNone/>
                      </a:pPr>
                      <a:r>
                        <a:rPr b="0" lang="en-US" sz="1300" u="none" cap="none" strike="noStrike">
                          <a:solidFill>
                            <a:srgbClr val="121E34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462</a:t>
                      </a:r>
                      <a:endParaRPr sz="1400" u="none" cap="none" strike="noStrike"/>
                    </a:p>
                  </a:txBody>
                  <a:tcPr marT="27425" marB="27425" marR="91450" marL="9145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CE2E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CE2E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</a:tr>
              <a:tr h="3474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300"/>
                        <a:buFont typeface="Arial"/>
                        <a:buNone/>
                      </a:pPr>
                      <a:r>
                        <a:rPr b="1" lang="en-US" sz="1300" u="none" cap="none" strike="noStrike">
                          <a:solidFill>
                            <a:srgbClr val="121E34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Xception</a:t>
                      </a:r>
                      <a:endParaRPr sz="1400" u="none" cap="none" strike="noStrike"/>
                    </a:p>
                  </a:txBody>
                  <a:tcPr marT="27425" marB="27425" marR="91450" marL="9145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CE2E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CE2E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300"/>
                        <a:buFont typeface="Arial"/>
                        <a:buNone/>
                      </a:pPr>
                      <a:r>
                        <a:rPr b="0" lang="en-US" sz="1300" u="none" cap="none" strike="noStrike">
                          <a:solidFill>
                            <a:srgbClr val="121E34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0.9986 (0.9970–0.9996)</a:t>
                      </a:r>
                      <a:endParaRPr sz="1400" u="none" cap="none" strike="noStrike"/>
                    </a:p>
                  </a:txBody>
                  <a:tcPr marT="27425" marB="27425" marR="91450" marL="9145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CE2E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CE2E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300"/>
                        <a:buFont typeface="Arial"/>
                        <a:buNone/>
                      </a:pPr>
                      <a:r>
                        <a:rPr b="0" lang="en-US" sz="1300" u="none" cap="none" strike="noStrike">
                          <a:solidFill>
                            <a:srgbClr val="121E34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98.39% (796)</a:t>
                      </a:r>
                      <a:endParaRPr sz="1400" u="none" cap="none" strike="noStrike"/>
                    </a:p>
                  </a:txBody>
                  <a:tcPr marT="27425" marB="27425" marR="91450" marL="9145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CE2E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CE2E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300"/>
                        <a:buFont typeface="Arial"/>
                        <a:buNone/>
                      </a:pPr>
                      <a:r>
                        <a:rPr b="0" lang="en-US" sz="1300" u="none" cap="none" strike="noStrike">
                          <a:solidFill>
                            <a:srgbClr val="121E34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0.012</a:t>
                      </a:r>
                      <a:endParaRPr sz="1400" u="none" cap="none" strike="noStrike"/>
                    </a:p>
                  </a:txBody>
                  <a:tcPr marT="27425" marB="27425" marR="91450" marL="9145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CE2E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CE2E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300"/>
                        <a:buFont typeface="Arial"/>
                        <a:buNone/>
                      </a:pPr>
                      <a:r>
                        <a:rPr b="0" lang="en-US" sz="1300" u="none" cap="none" strike="noStrike">
                          <a:solidFill>
                            <a:srgbClr val="121E34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0.9992</a:t>
                      </a:r>
                      <a:endParaRPr sz="1400" u="none" cap="none" strike="noStrike"/>
                    </a:p>
                  </a:txBody>
                  <a:tcPr marT="27425" marB="27425" marR="91450" marL="9145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CE2E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CE2E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300"/>
                        <a:buFont typeface="Arial"/>
                        <a:buNone/>
                      </a:pPr>
                      <a:r>
                        <a:rPr b="0" lang="en-US" sz="1300" u="none" cap="none" strike="noStrike">
                          <a:solidFill>
                            <a:srgbClr val="121E34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567</a:t>
                      </a:r>
                      <a:endParaRPr sz="1400" u="none" cap="none" strike="noStrike"/>
                    </a:p>
                  </a:txBody>
                  <a:tcPr marT="27425" marB="27425" marR="91450" marL="9145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CE2E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CE2E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</a:tr>
              <a:tr h="3474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300"/>
                        <a:buFont typeface="Arial"/>
                        <a:buNone/>
                      </a:pPr>
                      <a:r>
                        <a:rPr b="1" lang="en-US" sz="1300" u="none" cap="none" strike="noStrike">
                          <a:solidFill>
                            <a:srgbClr val="121E34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ResNet-50</a:t>
                      </a:r>
                      <a:endParaRPr sz="1400" u="none" cap="none" strike="noStrike"/>
                    </a:p>
                  </a:txBody>
                  <a:tcPr marT="27425" marB="27425" marR="91450" marL="9145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CE2E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CE2E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300"/>
                        <a:buFont typeface="Arial"/>
                        <a:buNone/>
                      </a:pPr>
                      <a:r>
                        <a:rPr b="0" lang="en-US" sz="1300" u="none" cap="none" strike="noStrike">
                          <a:solidFill>
                            <a:srgbClr val="121E34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0.9981 (0.9963–0.9994)</a:t>
                      </a:r>
                      <a:endParaRPr sz="1400" u="none" cap="none" strike="noStrike"/>
                    </a:p>
                  </a:txBody>
                  <a:tcPr marT="27425" marB="27425" marR="91450" marL="9145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CE2E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CE2E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300"/>
                        <a:buFont typeface="Arial"/>
                        <a:buNone/>
                      </a:pPr>
                      <a:r>
                        <a:rPr b="0" lang="en-US" sz="1300" u="none" cap="none" strike="noStrike">
                          <a:solidFill>
                            <a:srgbClr val="121E34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97.78% (791)</a:t>
                      </a:r>
                      <a:endParaRPr sz="1400" u="none" cap="none" strike="noStrike"/>
                    </a:p>
                  </a:txBody>
                  <a:tcPr marT="27425" marB="27425" marR="91450" marL="9145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CE2E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CE2E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300"/>
                        <a:buFont typeface="Arial"/>
                        <a:buNone/>
                      </a:pPr>
                      <a:r>
                        <a:rPr b="0" lang="en-US" sz="1300" u="none" cap="none" strike="noStrike">
                          <a:solidFill>
                            <a:srgbClr val="121E34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0.010</a:t>
                      </a:r>
                      <a:endParaRPr sz="1400" u="none" cap="none" strike="noStrike"/>
                    </a:p>
                  </a:txBody>
                  <a:tcPr marT="27425" marB="27425" marR="91450" marL="9145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CE2E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CE2E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300"/>
                        <a:buFont typeface="Arial"/>
                        <a:buNone/>
                      </a:pPr>
                      <a:r>
                        <a:rPr b="0" lang="en-US" sz="1300" u="none" cap="none" strike="noStrike">
                          <a:solidFill>
                            <a:srgbClr val="121E34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0.9969</a:t>
                      </a:r>
                      <a:endParaRPr sz="1400" u="none" cap="none" strike="noStrike"/>
                    </a:p>
                  </a:txBody>
                  <a:tcPr marT="27425" marB="27425" marR="91450" marL="9145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CE2E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CE2E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300"/>
                        <a:buFont typeface="Arial"/>
                        <a:buNone/>
                      </a:pPr>
                      <a:r>
                        <a:rPr b="0" lang="en-US" sz="1300" u="none" cap="none" strike="noStrike">
                          <a:solidFill>
                            <a:srgbClr val="121E34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841</a:t>
                      </a:r>
                      <a:endParaRPr sz="1400" u="none" cap="none" strike="noStrike"/>
                    </a:p>
                  </a:txBody>
                  <a:tcPr marT="27425" marB="27425" marR="91450" marL="9145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CE2E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CE2E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</a:tr>
              <a:tr h="3474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300"/>
                        <a:buFont typeface="Arial"/>
                        <a:buNone/>
                      </a:pPr>
                      <a:r>
                        <a:rPr b="1" lang="en-US" sz="1300" u="none" cap="none" strike="noStrike">
                          <a:solidFill>
                            <a:srgbClr val="121E34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EfficientNet-B0</a:t>
                      </a:r>
                      <a:endParaRPr sz="1400" u="none" cap="none" strike="noStrike"/>
                    </a:p>
                  </a:txBody>
                  <a:tcPr marT="27425" marB="27425" marR="91450" marL="9145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CE2E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CE2E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300"/>
                        <a:buFont typeface="Arial"/>
                        <a:buNone/>
                      </a:pPr>
                      <a:r>
                        <a:rPr b="0" lang="en-US" sz="1300" u="none" cap="none" strike="noStrike">
                          <a:solidFill>
                            <a:srgbClr val="121E34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0.9981 (0.9963–0.9993)</a:t>
                      </a:r>
                      <a:endParaRPr sz="1400" u="none" cap="none" strike="noStrike"/>
                    </a:p>
                  </a:txBody>
                  <a:tcPr marT="27425" marB="27425" marR="91450" marL="9145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CE2E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CE2E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300"/>
                        <a:buFont typeface="Arial"/>
                        <a:buNone/>
                      </a:pPr>
                      <a:r>
                        <a:rPr b="0" lang="en-US" sz="1300" u="none" cap="none" strike="noStrike">
                          <a:solidFill>
                            <a:srgbClr val="121E34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97.65% (790)</a:t>
                      </a:r>
                      <a:endParaRPr sz="1400" u="none" cap="none" strike="noStrike"/>
                    </a:p>
                  </a:txBody>
                  <a:tcPr marT="27425" marB="27425" marR="91450" marL="9145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CE2E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CE2E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300"/>
                        <a:buFont typeface="Arial"/>
                        <a:buNone/>
                      </a:pPr>
                      <a:r>
                        <a:rPr b="0" lang="en-US" sz="1300" u="none" cap="none" strike="noStrike">
                          <a:solidFill>
                            <a:srgbClr val="121E34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0.020</a:t>
                      </a:r>
                      <a:endParaRPr sz="1400" u="none" cap="none" strike="noStrike"/>
                    </a:p>
                  </a:txBody>
                  <a:tcPr marT="27425" marB="27425" marR="91450" marL="9145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CE2E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CE2E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300"/>
                        <a:buFont typeface="Arial"/>
                        <a:buNone/>
                      </a:pPr>
                      <a:r>
                        <a:rPr b="0" lang="en-US" sz="1300" u="none" cap="none" strike="noStrike">
                          <a:solidFill>
                            <a:srgbClr val="121E34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0.9979</a:t>
                      </a:r>
                      <a:endParaRPr sz="1400" u="none" cap="none" strike="noStrike"/>
                    </a:p>
                  </a:txBody>
                  <a:tcPr marT="27425" marB="27425" marR="91450" marL="9145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CE2E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CE2E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300"/>
                        <a:buFont typeface="Arial"/>
                        <a:buNone/>
                      </a:pPr>
                      <a:r>
                        <a:rPr b="0" lang="en-US" sz="1300" u="none" cap="none" strike="noStrike">
                          <a:solidFill>
                            <a:srgbClr val="121E34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1,440</a:t>
                      </a:r>
                      <a:endParaRPr sz="1400" u="none" cap="none" strike="noStrike"/>
                    </a:p>
                  </a:txBody>
                  <a:tcPr marT="27425" marB="27425" marR="91450" marL="9145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CE2E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CE2E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</a:tr>
              <a:tr h="3474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300"/>
                        <a:buFont typeface="Arial"/>
                        <a:buNone/>
                      </a:pPr>
                      <a:r>
                        <a:rPr b="1" lang="en-US" sz="1300" u="none" cap="none" strike="noStrike">
                          <a:solidFill>
                            <a:srgbClr val="121E34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CLIP ViT-B/16</a:t>
                      </a:r>
                      <a:endParaRPr sz="1400" u="none" cap="none" strike="noStrike"/>
                    </a:p>
                  </a:txBody>
                  <a:tcPr marT="27425" marB="27425" marR="91450" marL="9145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CE2E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CE2E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300"/>
                        <a:buFont typeface="Arial"/>
                        <a:buNone/>
                      </a:pPr>
                      <a:r>
                        <a:rPr b="0" lang="en-US" sz="1300" u="none" cap="none" strike="noStrike">
                          <a:solidFill>
                            <a:srgbClr val="121E34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0.9873 (0.9811–0.9927)</a:t>
                      </a:r>
                      <a:endParaRPr sz="1400" u="none" cap="none" strike="noStrike"/>
                    </a:p>
                  </a:txBody>
                  <a:tcPr marT="27425" marB="27425" marR="91450" marL="9145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CE2E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CE2E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300"/>
                        <a:buFont typeface="Arial"/>
                        <a:buNone/>
                      </a:pPr>
                      <a:r>
                        <a:rPr b="0" lang="en-US" sz="1300" u="none" cap="none" strike="noStrike">
                          <a:solidFill>
                            <a:srgbClr val="121E34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94.31% (763)</a:t>
                      </a:r>
                      <a:endParaRPr sz="1400" u="none" cap="none" strike="noStrike"/>
                    </a:p>
                  </a:txBody>
                  <a:tcPr marT="27425" marB="27425" marR="91450" marL="9145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CE2E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CE2E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300"/>
                        <a:buFont typeface="Arial"/>
                        <a:buNone/>
                      </a:pPr>
                      <a:r>
                        <a:rPr b="0" lang="en-US" sz="1300" u="none" cap="none" strike="noStrike">
                          <a:solidFill>
                            <a:srgbClr val="121E34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0.049</a:t>
                      </a:r>
                      <a:endParaRPr sz="1400" u="none" cap="none" strike="noStrike"/>
                    </a:p>
                  </a:txBody>
                  <a:tcPr marT="27425" marB="27425" marR="91450" marL="9145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CE2E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CE2E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300"/>
                        <a:buFont typeface="Arial"/>
                        <a:buNone/>
                      </a:pPr>
                      <a:r>
                        <a:rPr b="0" lang="en-US" sz="1300" u="none" cap="none" strike="noStrike">
                          <a:solidFill>
                            <a:srgbClr val="121E34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0.9955</a:t>
                      </a:r>
                      <a:endParaRPr sz="1400" u="none" cap="none" strike="noStrike"/>
                    </a:p>
                  </a:txBody>
                  <a:tcPr marT="27425" marB="27425" marR="91450" marL="9145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CE2E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CE2E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300"/>
                        <a:buFont typeface="Arial"/>
                        <a:buNone/>
                      </a:pPr>
                      <a:r>
                        <a:rPr b="0" lang="en-US" sz="1300" u="none" cap="none" strike="noStrike">
                          <a:solidFill>
                            <a:srgbClr val="121E34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318</a:t>
                      </a:r>
                      <a:endParaRPr sz="1400" u="none" cap="none" strike="noStrike"/>
                    </a:p>
                  </a:txBody>
                  <a:tcPr marT="27425" marB="27425" marR="91450" marL="9145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CE2E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CE2E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97" name="Google Shape;397;p14"/>
          <p:cNvSpPr txBox="1"/>
          <p:nvPr/>
        </p:nvSpPr>
        <p:spPr>
          <a:xfrm>
            <a:off x="749808" y="4617720"/>
            <a:ext cx="10698480" cy="310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27425" spcFirstLastPara="1" rIns="27425" wrap="square" tIns="182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0" i="0" lang="en-US" sz="1100" u="none" cap="none" strike="noStrike">
                <a:solidFill>
                  <a:srgbClr val="5C6778"/>
                </a:solidFill>
                <a:latin typeface="Arial"/>
                <a:ea typeface="Arial"/>
                <a:cs typeface="Arial"/>
                <a:sym typeface="Arial"/>
              </a:rPr>
              <a:t>Accuracy uses each model's own validation decision point. Speed is GPU images per second on prepared faces (T4).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401" name="Shape 4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2" name="Google Shape;402;p15"/>
          <p:cNvSpPr txBox="1"/>
          <p:nvPr/>
        </p:nvSpPr>
        <p:spPr>
          <a:xfrm>
            <a:off x="658368" y="237744"/>
            <a:ext cx="36576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27425" spcFirstLastPara="1" rIns="27425" wrap="square" tIns="182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1" i="0" lang="en-US" sz="1100" u="none" cap="none" strike="noStrike">
                <a:solidFill>
                  <a:srgbClr val="F56736"/>
                </a:solidFill>
                <a:latin typeface="Arial"/>
                <a:ea typeface="Arial"/>
                <a:cs typeface="Arial"/>
                <a:sym typeface="Arial"/>
              </a:rPr>
              <a:t>STEP 3 — EVALUATION AND DEMO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03" name="Google Shape;403;p15"/>
          <p:cNvSpPr txBox="1"/>
          <p:nvPr/>
        </p:nvSpPr>
        <p:spPr>
          <a:xfrm>
            <a:off x="658368" y="594360"/>
            <a:ext cx="1078992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27425" spcFirstLastPara="1" rIns="27425" wrap="square" tIns="182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600"/>
              <a:buFont typeface="Arial"/>
              <a:buNone/>
            </a:pPr>
            <a:r>
              <a:rPr b="1" i="0" lang="en-US" sz="2600" u="none" cap="none" strike="noStrike">
                <a:solidFill>
                  <a:srgbClr val="121E34"/>
                </a:solidFill>
                <a:latin typeface="Arial"/>
                <a:ea typeface="Arial"/>
                <a:cs typeface="Arial"/>
                <a:sym typeface="Arial"/>
              </a:rPr>
              <a:t>Evaluation results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04" name="Google Shape;404;p15"/>
          <p:cNvSpPr txBox="1"/>
          <p:nvPr/>
        </p:nvSpPr>
        <p:spPr>
          <a:xfrm>
            <a:off x="658368" y="1060704"/>
            <a:ext cx="10789920" cy="310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27425" spcFirstLastPara="1" rIns="27425" wrap="square" tIns="182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0" i="0" lang="en-US" sz="1300" u="none" cap="none" strike="noStrike">
                <a:solidFill>
                  <a:srgbClr val="5C6778"/>
                </a:solidFill>
                <a:latin typeface="Arial"/>
                <a:ea typeface="Arial"/>
                <a:cs typeface="Arial"/>
                <a:sym typeface="Arial"/>
              </a:rPr>
              <a:t>ConvNeXt-Tiny predictions are compared with the known REAL / FAKE label of each test video.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05" name="Google Shape;405;p15"/>
          <p:cNvSpPr/>
          <p:nvPr/>
        </p:nvSpPr>
        <p:spPr>
          <a:xfrm>
            <a:off x="658368" y="1527048"/>
            <a:ext cx="10881360" cy="16459"/>
          </a:xfrm>
          <a:prstGeom prst="rect">
            <a:avLst/>
          </a:prstGeom>
          <a:solidFill>
            <a:srgbClr val="DCE2EA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6" name="Google Shape;406;p15"/>
          <p:cNvSpPr/>
          <p:nvPr/>
        </p:nvSpPr>
        <p:spPr>
          <a:xfrm>
            <a:off x="749808" y="1874519"/>
            <a:ext cx="2423160" cy="1060704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9525">
            <a:solidFill>
              <a:srgbClr val="DCE2EA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7" name="Google Shape;407;p15"/>
          <p:cNvSpPr/>
          <p:nvPr/>
        </p:nvSpPr>
        <p:spPr>
          <a:xfrm>
            <a:off x="749808" y="1874519"/>
            <a:ext cx="64008" cy="1060704"/>
          </a:xfrm>
          <a:prstGeom prst="rect">
            <a:avLst/>
          </a:prstGeom>
          <a:solidFill>
            <a:srgbClr val="1A9769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8" name="Google Shape;408;p15"/>
          <p:cNvSpPr txBox="1"/>
          <p:nvPr/>
        </p:nvSpPr>
        <p:spPr>
          <a:xfrm>
            <a:off x="969264" y="1984248"/>
            <a:ext cx="2093976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27425" spcFirstLastPara="1" rIns="27425" wrap="square" tIns="182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300"/>
              <a:buFont typeface="Arial"/>
              <a:buNone/>
            </a:pPr>
            <a:r>
              <a:rPr b="1" i="0" lang="en-US" sz="2300" u="none" cap="none" strike="noStrike">
                <a:solidFill>
                  <a:srgbClr val="121E34"/>
                </a:solidFill>
                <a:latin typeface="Arial"/>
                <a:ea typeface="Arial"/>
                <a:cs typeface="Arial"/>
                <a:sym typeface="Arial"/>
              </a:rPr>
              <a:t>794 / 809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09" name="Google Shape;409;p15"/>
          <p:cNvSpPr txBox="1"/>
          <p:nvPr/>
        </p:nvSpPr>
        <p:spPr>
          <a:xfrm>
            <a:off x="969264" y="2386584"/>
            <a:ext cx="2093976" cy="493775"/>
          </a:xfrm>
          <a:prstGeom prst="rect">
            <a:avLst/>
          </a:prstGeom>
          <a:noFill/>
          <a:ln>
            <a:noFill/>
          </a:ln>
        </p:spPr>
        <p:txBody>
          <a:bodyPr anchorCtr="0" anchor="t" bIns="18275" lIns="27425" spcFirstLastPara="1" rIns="27425" wrap="square" tIns="182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0" i="0" lang="en-US" sz="1100" u="none" cap="none" strike="noStrike">
                <a:solidFill>
                  <a:srgbClr val="5C6778"/>
                </a:solidFill>
                <a:latin typeface="Arial"/>
                <a:ea typeface="Arial"/>
                <a:cs typeface="Arial"/>
                <a:sym typeface="Arial"/>
              </a:rPr>
              <a:t>holdout videos correct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0" name="Google Shape;410;p15"/>
          <p:cNvSpPr/>
          <p:nvPr/>
        </p:nvSpPr>
        <p:spPr>
          <a:xfrm>
            <a:off x="3364992" y="1874519"/>
            <a:ext cx="2423160" cy="1060704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9525">
            <a:solidFill>
              <a:srgbClr val="DCE2EA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1" name="Google Shape;411;p15"/>
          <p:cNvSpPr/>
          <p:nvPr/>
        </p:nvSpPr>
        <p:spPr>
          <a:xfrm>
            <a:off x="3364992" y="1874519"/>
            <a:ext cx="64008" cy="1060704"/>
          </a:xfrm>
          <a:prstGeom prst="rect">
            <a:avLst/>
          </a:prstGeom>
          <a:solidFill>
            <a:srgbClr val="1A9769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2" name="Google Shape;412;p15"/>
          <p:cNvSpPr txBox="1"/>
          <p:nvPr/>
        </p:nvSpPr>
        <p:spPr>
          <a:xfrm>
            <a:off x="3584448" y="1984248"/>
            <a:ext cx="2093976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27425" spcFirstLastPara="1" rIns="27425" wrap="square" tIns="182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300"/>
              <a:buFont typeface="Arial"/>
              <a:buNone/>
            </a:pPr>
            <a:r>
              <a:rPr b="1" i="0" lang="en-US" sz="2300" u="none" cap="none" strike="noStrike">
                <a:solidFill>
                  <a:srgbClr val="121E34"/>
                </a:solidFill>
                <a:latin typeface="Arial"/>
                <a:ea typeface="Arial"/>
                <a:cs typeface="Arial"/>
                <a:sym typeface="Arial"/>
              </a:rPr>
              <a:t>98.15%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3" name="Google Shape;413;p15"/>
          <p:cNvSpPr txBox="1"/>
          <p:nvPr/>
        </p:nvSpPr>
        <p:spPr>
          <a:xfrm>
            <a:off x="3584448" y="2386584"/>
            <a:ext cx="2093976" cy="493775"/>
          </a:xfrm>
          <a:prstGeom prst="rect">
            <a:avLst/>
          </a:prstGeom>
          <a:noFill/>
          <a:ln>
            <a:noFill/>
          </a:ln>
        </p:spPr>
        <p:txBody>
          <a:bodyPr anchorCtr="0" anchor="t" bIns="18275" lIns="27425" spcFirstLastPara="1" rIns="27425" wrap="square" tIns="182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0" i="0" lang="en-US" sz="1100" u="none" cap="none" strike="noStrike">
                <a:solidFill>
                  <a:srgbClr val="5C6778"/>
                </a:solidFill>
                <a:latin typeface="Arial"/>
                <a:ea typeface="Arial"/>
                <a:cs typeface="Arial"/>
                <a:sym typeface="Arial"/>
              </a:rPr>
              <a:t>holdout accuracy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4" name="Google Shape;414;p15"/>
          <p:cNvSpPr/>
          <p:nvPr/>
        </p:nvSpPr>
        <p:spPr>
          <a:xfrm>
            <a:off x="5980176" y="1874519"/>
            <a:ext cx="2423160" cy="1060704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9525">
            <a:solidFill>
              <a:srgbClr val="DCE2EA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5" name="Google Shape;415;p15"/>
          <p:cNvSpPr/>
          <p:nvPr/>
        </p:nvSpPr>
        <p:spPr>
          <a:xfrm>
            <a:off x="5980176" y="1874519"/>
            <a:ext cx="64008" cy="1060704"/>
          </a:xfrm>
          <a:prstGeom prst="rect">
            <a:avLst/>
          </a:prstGeom>
          <a:solidFill>
            <a:srgbClr val="3769BE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6" name="Google Shape;416;p15"/>
          <p:cNvSpPr txBox="1"/>
          <p:nvPr/>
        </p:nvSpPr>
        <p:spPr>
          <a:xfrm>
            <a:off x="6199632" y="1984248"/>
            <a:ext cx="2093976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27425" spcFirstLastPara="1" rIns="27425" wrap="square" tIns="182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300"/>
              <a:buFont typeface="Arial"/>
              <a:buNone/>
            </a:pPr>
            <a:r>
              <a:rPr b="1" i="0" lang="en-US" sz="2300" u="none" cap="none" strike="noStrike">
                <a:solidFill>
                  <a:srgbClr val="121E34"/>
                </a:solidFill>
                <a:latin typeface="Arial"/>
                <a:ea typeface="Arial"/>
                <a:cs typeface="Arial"/>
                <a:sym typeface="Arial"/>
              </a:rPr>
              <a:t>0.9998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7" name="Google Shape;417;p15"/>
          <p:cNvSpPr txBox="1"/>
          <p:nvPr/>
        </p:nvSpPr>
        <p:spPr>
          <a:xfrm>
            <a:off x="6199632" y="2386584"/>
            <a:ext cx="2093976" cy="493775"/>
          </a:xfrm>
          <a:prstGeom prst="rect">
            <a:avLst/>
          </a:prstGeom>
          <a:noFill/>
          <a:ln>
            <a:noFill/>
          </a:ln>
        </p:spPr>
        <p:txBody>
          <a:bodyPr anchorCtr="0" anchor="t" bIns="18275" lIns="27425" spcFirstLastPara="1" rIns="27425" wrap="square" tIns="182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0" i="0" lang="en-US" sz="1100" u="none" cap="none" strike="noStrike">
                <a:solidFill>
                  <a:srgbClr val="5C6778"/>
                </a:solidFill>
                <a:latin typeface="Arial"/>
                <a:ea typeface="Arial"/>
                <a:cs typeface="Arial"/>
                <a:sym typeface="Arial"/>
              </a:rPr>
              <a:t>official video AUC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8" name="Google Shape;418;p15"/>
          <p:cNvSpPr/>
          <p:nvPr/>
        </p:nvSpPr>
        <p:spPr>
          <a:xfrm>
            <a:off x="8595360" y="1874519"/>
            <a:ext cx="2423160" cy="1060704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9525">
            <a:solidFill>
              <a:srgbClr val="DCE2EA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9" name="Google Shape;419;p15"/>
          <p:cNvSpPr/>
          <p:nvPr/>
        </p:nvSpPr>
        <p:spPr>
          <a:xfrm>
            <a:off x="8595360" y="1874519"/>
            <a:ext cx="64008" cy="1060704"/>
          </a:xfrm>
          <a:prstGeom prst="rect">
            <a:avLst/>
          </a:prstGeom>
          <a:solidFill>
            <a:srgbClr val="3769BE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0" name="Google Shape;420;p15"/>
          <p:cNvSpPr txBox="1"/>
          <p:nvPr/>
        </p:nvSpPr>
        <p:spPr>
          <a:xfrm>
            <a:off x="8814816" y="1984248"/>
            <a:ext cx="2093976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27425" spcFirstLastPara="1" rIns="27425" wrap="square" tIns="182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300"/>
              <a:buFont typeface="Arial"/>
              <a:buNone/>
            </a:pPr>
            <a:r>
              <a:rPr b="1" i="0" lang="en-US" sz="2300" u="none" cap="none" strike="noStrike">
                <a:solidFill>
                  <a:srgbClr val="121E34"/>
                </a:solidFill>
                <a:latin typeface="Arial"/>
                <a:ea typeface="Arial"/>
                <a:cs typeface="Arial"/>
                <a:sym typeface="Arial"/>
              </a:rPr>
              <a:t>0.954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1" name="Google Shape;421;p15"/>
          <p:cNvSpPr txBox="1"/>
          <p:nvPr/>
        </p:nvSpPr>
        <p:spPr>
          <a:xfrm>
            <a:off x="8814816" y="2386584"/>
            <a:ext cx="2093976" cy="493775"/>
          </a:xfrm>
          <a:prstGeom prst="rect">
            <a:avLst/>
          </a:prstGeom>
          <a:noFill/>
          <a:ln>
            <a:noFill/>
          </a:ln>
        </p:spPr>
        <p:txBody>
          <a:bodyPr anchorCtr="0" anchor="t" bIns="18275" lIns="27425" spcFirstLastPara="1" rIns="27425" wrap="square" tIns="182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0" i="0" lang="en-US" sz="1100" u="none" cap="none" strike="noStrike">
                <a:solidFill>
                  <a:srgbClr val="5C6778"/>
                </a:solidFill>
                <a:latin typeface="Arial"/>
                <a:ea typeface="Arial"/>
                <a:cs typeface="Arial"/>
                <a:sym typeface="Arial"/>
              </a:rPr>
              <a:t>official video F1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2" name="Google Shape;422;p15"/>
          <p:cNvSpPr/>
          <p:nvPr/>
        </p:nvSpPr>
        <p:spPr>
          <a:xfrm>
            <a:off x="749808" y="3520440"/>
            <a:ext cx="10698480" cy="1691640"/>
          </a:xfrm>
          <a:prstGeom prst="roundRect">
            <a:avLst>
              <a:gd fmla="val 16667" name="adj"/>
            </a:avLst>
          </a:prstGeom>
          <a:solidFill>
            <a:srgbClr val="F7F9FC"/>
          </a:solidFill>
          <a:ln cap="flat" cmpd="sng" w="9525">
            <a:solidFill>
              <a:srgbClr val="DCE2EA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3" name="Google Shape;423;p15"/>
          <p:cNvSpPr txBox="1"/>
          <p:nvPr/>
        </p:nvSpPr>
        <p:spPr>
          <a:xfrm>
            <a:off x="987552" y="3749039"/>
            <a:ext cx="18288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27425" spcFirstLastPara="1" rIns="27425" wrap="square" tIns="182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1" i="0" lang="en-US" sz="1100" u="none" cap="none" strike="noStrike">
                <a:solidFill>
                  <a:srgbClr val="F56736"/>
                </a:solidFill>
                <a:latin typeface="Arial"/>
                <a:ea typeface="Arial"/>
                <a:cs typeface="Arial"/>
                <a:sym typeface="Arial"/>
              </a:rPr>
              <a:t>RESULT CHECK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4" name="Google Shape;424;p15"/>
          <p:cNvSpPr txBox="1"/>
          <p:nvPr/>
        </p:nvSpPr>
        <p:spPr>
          <a:xfrm>
            <a:off x="987552" y="4096512"/>
            <a:ext cx="987552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27425" spcFirstLastPara="1" rIns="27425" wrap="square" tIns="182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1" i="0" lang="en-US" sz="1600" u="none" cap="none" strike="noStrike">
                <a:solidFill>
                  <a:srgbClr val="121E34"/>
                </a:solidFill>
                <a:latin typeface="Arial"/>
                <a:ea typeface="Arial"/>
                <a:cs typeface="Arial"/>
                <a:sym typeface="Arial"/>
              </a:rPr>
              <a:t>Holdout: 90 REAL + 704 FAKE = 794 correct   |   15 + 0 = 15 wrong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5" name="Google Shape;425;p15"/>
          <p:cNvSpPr txBox="1"/>
          <p:nvPr/>
        </p:nvSpPr>
        <p:spPr>
          <a:xfrm>
            <a:off x="987552" y="4498848"/>
            <a:ext cx="987552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27425" spcFirstLastPara="1" rIns="27425" wrap="square" tIns="182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1" i="0" lang="en-US" sz="1600" u="none" cap="none" strike="noStrike">
                <a:solidFill>
                  <a:srgbClr val="121E34"/>
                </a:solidFill>
                <a:latin typeface="Arial"/>
                <a:ea typeface="Arial"/>
                <a:cs typeface="Arial"/>
                <a:sym typeface="Arial"/>
              </a:rPr>
              <a:t>Official: AUC 0.9998 and F1 0.954 at the same 0.0233 decision point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6" name="Google Shape;426;p15"/>
          <p:cNvSpPr txBox="1"/>
          <p:nvPr/>
        </p:nvSpPr>
        <p:spPr>
          <a:xfrm>
            <a:off x="987552" y="4919472"/>
            <a:ext cx="98755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27425" spcFirstLastPara="1" rIns="27425" wrap="square" tIns="182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0" i="0" lang="en-US" sz="1200" u="none" cap="none" strike="noStrike">
                <a:solidFill>
                  <a:srgbClr val="5C6778"/>
                </a:solidFill>
                <a:latin typeface="Arial"/>
                <a:ea typeface="Arial"/>
                <a:cs typeface="Arial"/>
                <a:sym typeface="Arial"/>
              </a:rPr>
              <a:t>Accuracy = correct predictions ÷ total videos. No fake holdout video was missed.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430" name="Shape 4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1" name="Google Shape;431;p16"/>
          <p:cNvSpPr txBox="1"/>
          <p:nvPr/>
        </p:nvSpPr>
        <p:spPr>
          <a:xfrm>
            <a:off x="658368" y="237744"/>
            <a:ext cx="36576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27425" spcFirstLastPara="1" rIns="27425" wrap="square" tIns="182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1" i="0" lang="en-US" sz="1100" u="none" cap="none" strike="noStrike">
                <a:solidFill>
                  <a:srgbClr val="F56736"/>
                </a:solidFill>
                <a:latin typeface="Arial"/>
                <a:ea typeface="Arial"/>
                <a:cs typeface="Arial"/>
                <a:sym typeface="Arial"/>
              </a:rPr>
              <a:t>STEP 3 — EVALUATION AND DEMO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2" name="Google Shape;432;p16"/>
          <p:cNvSpPr txBox="1"/>
          <p:nvPr/>
        </p:nvSpPr>
        <p:spPr>
          <a:xfrm>
            <a:off x="658368" y="594360"/>
            <a:ext cx="1078992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27425" spcFirstLastPara="1" rIns="27425" wrap="square" tIns="182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600"/>
              <a:buFont typeface="Arial"/>
              <a:buNone/>
            </a:pPr>
            <a:r>
              <a:rPr b="1" i="0" lang="en-US" sz="2600" u="none" cap="none" strike="noStrike">
                <a:solidFill>
                  <a:srgbClr val="121E34"/>
                </a:solidFill>
                <a:latin typeface="Arial"/>
                <a:ea typeface="Arial"/>
                <a:cs typeface="Arial"/>
                <a:sym typeface="Arial"/>
              </a:rPr>
              <a:t>Correct and wrong predictions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3" name="Google Shape;433;p16"/>
          <p:cNvSpPr txBox="1"/>
          <p:nvPr/>
        </p:nvSpPr>
        <p:spPr>
          <a:xfrm>
            <a:off x="658368" y="1060704"/>
            <a:ext cx="10789920" cy="310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27425" spcFirstLastPara="1" rIns="27425" wrap="square" tIns="182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0" i="0" lang="en-US" sz="1300" u="none" cap="none" strike="noStrike">
                <a:solidFill>
                  <a:srgbClr val="5C6778"/>
                </a:solidFill>
                <a:latin typeface="Arial"/>
                <a:ea typeface="Arial"/>
                <a:cs typeface="Arial"/>
                <a:sym typeface="Arial"/>
              </a:rPr>
              <a:t>Holdout confusion matrices for all seven models, each at its own validation decision point.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4" name="Google Shape;434;p16"/>
          <p:cNvSpPr/>
          <p:nvPr/>
        </p:nvSpPr>
        <p:spPr>
          <a:xfrm>
            <a:off x="658368" y="1527048"/>
            <a:ext cx="10881360" cy="16459"/>
          </a:xfrm>
          <a:prstGeom prst="rect">
            <a:avLst/>
          </a:prstGeom>
          <a:solidFill>
            <a:srgbClr val="DCE2EA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5" name="Google Shape;435;p16"/>
          <p:cNvSpPr/>
          <p:nvPr/>
        </p:nvSpPr>
        <p:spPr>
          <a:xfrm>
            <a:off x="658368" y="1828800"/>
            <a:ext cx="6720840" cy="361188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9525">
            <a:solidFill>
              <a:srgbClr val="DCE2EA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6" name="Google Shape;436;p16"/>
          <p:cNvSpPr txBox="1"/>
          <p:nvPr/>
        </p:nvSpPr>
        <p:spPr>
          <a:xfrm>
            <a:off x="7635240" y="1920240"/>
            <a:ext cx="38404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27425" spcFirstLastPara="1" rIns="27425" wrap="square" tIns="182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1" i="0" lang="en-US" sz="1100" u="none" cap="none" strike="noStrike">
                <a:solidFill>
                  <a:srgbClr val="1A9769"/>
                </a:solidFill>
                <a:latin typeface="Arial"/>
                <a:ea typeface="Arial"/>
                <a:cs typeface="Arial"/>
                <a:sym typeface="Arial"/>
              </a:rPr>
              <a:t>CONVNEXT-TINY — 809 VIDEOS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7" name="Google Shape;437;p16"/>
          <p:cNvSpPr/>
          <p:nvPr/>
        </p:nvSpPr>
        <p:spPr>
          <a:xfrm>
            <a:off x="7635240" y="2267712"/>
            <a:ext cx="1783080" cy="932688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9525">
            <a:solidFill>
              <a:srgbClr val="DCE2EA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8" name="Google Shape;438;p16"/>
          <p:cNvSpPr/>
          <p:nvPr/>
        </p:nvSpPr>
        <p:spPr>
          <a:xfrm>
            <a:off x="7635240" y="2267712"/>
            <a:ext cx="64008" cy="932688"/>
          </a:xfrm>
          <a:prstGeom prst="rect">
            <a:avLst/>
          </a:prstGeom>
          <a:solidFill>
            <a:srgbClr val="1A9769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9" name="Google Shape;439;p16"/>
          <p:cNvSpPr txBox="1"/>
          <p:nvPr/>
        </p:nvSpPr>
        <p:spPr>
          <a:xfrm>
            <a:off x="7854696" y="2377440"/>
            <a:ext cx="1463040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27425" spcFirstLastPara="1" rIns="27425" wrap="square" tIns="182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100"/>
              <a:buFont typeface="Arial"/>
              <a:buNone/>
            </a:pPr>
            <a:r>
              <a:rPr b="1" i="0" lang="en-US" sz="2100" u="none" cap="none" strike="noStrike">
                <a:solidFill>
                  <a:srgbClr val="121E34"/>
                </a:solidFill>
                <a:latin typeface="Arial"/>
                <a:ea typeface="Arial"/>
                <a:cs typeface="Arial"/>
                <a:sym typeface="Arial"/>
              </a:rPr>
              <a:t>794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40" name="Google Shape;440;p16"/>
          <p:cNvSpPr txBox="1"/>
          <p:nvPr/>
        </p:nvSpPr>
        <p:spPr>
          <a:xfrm>
            <a:off x="7854696" y="2779776"/>
            <a:ext cx="146304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18275" lIns="27425" spcFirstLastPara="1" rIns="27425" wrap="square" tIns="182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0" i="0" lang="en-US" sz="1100" u="none" cap="none" strike="noStrike">
                <a:solidFill>
                  <a:srgbClr val="5C6778"/>
                </a:solidFill>
                <a:latin typeface="Arial"/>
                <a:ea typeface="Arial"/>
                <a:cs typeface="Arial"/>
                <a:sym typeface="Arial"/>
              </a:rPr>
              <a:t>correct predictions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41" name="Google Shape;441;p16"/>
          <p:cNvSpPr/>
          <p:nvPr/>
        </p:nvSpPr>
        <p:spPr>
          <a:xfrm>
            <a:off x="9601200" y="2267712"/>
            <a:ext cx="1783080" cy="932688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9525">
            <a:solidFill>
              <a:srgbClr val="DCE2EA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2" name="Google Shape;442;p16"/>
          <p:cNvSpPr/>
          <p:nvPr/>
        </p:nvSpPr>
        <p:spPr>
          <a:xfrm>
            <a:off x="9601200" y="2267712"/>
            <a:ext cx="64008" cy="932688"/>
          </a:xfrm>
          <a:prstGeom prst="rect">
            <a:avLst/>
          </a:prstGeom>
          <a:solidFill>
            <a:srgbClr val="F56736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3" name="Google Shape;443;p16"/>
          <p:cNvSpPr txBox="1"/>
          <p:nvPr/>
        </p:nvSpPr>
        <p:spPr>
          <a:xfrm>
            <a:off x="9820656" y="2377440"/>
            <a:ext cx="1463040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27425" spcFirstLastPara="1" rIns="27425" wrap="square" tIns="182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100"/>
              <a:buFont typeface="Arial"/>
              <a:buNone/>
            </a:pPr>
            <a:r>
              <a:rPr b="1" i="0" lang="en-US" sz="2100" u="none" cap="none" strike="noStrike">
                <a:solidFill>
                  <a:srgbClr val="121E34"/>
                </a:solidFill>
                <a:latin typeface="Arial"/>
                <a:ea typeface="Arial"/>
                <a:cs typeface="Arial"/>
                <a:sym typeface="Arial"/>
              </a:rPr>
              <a:t>15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44" name="Google Shape;444;p16"/>
          <p:cNvSpPr txBox="1"/>
          <p:nvPr/>
        </p:nvSpPr>
        <p:spPr>
          <a:xfrm>
            <a:off x="9820656" y="2779776"/>
            <a:ext cx="146304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18275" lIns="27425" spcFirstLastPara="1" rIns="27425" wrap="square" tIns="182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0" i="0" lang="en-US" sz="1100" u="none" cap="none" strike="noStrike">
                <a:solidFill>
                  <a:srgbClr val="5C6778"/>
                </a:solidFill>
                <a:latin typeface="Arial"/>
                <a:ea typeface="Arial"/>
                <a:cs typeface="Arial"/>
                <a:sym typeface="Arial"/>
              </a:rPr>
              <a:t>wrong predictions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45" name="Google Shape;445;p16"/>
          <p:cNvSpPr txBox="1"/>
          <p:nvPr/>
        </p:nvSpPr>
        <p:spPr>
          <a:xfrm>
            <a:off x="7635240" y="3657600"/>
            <a:ext cx="38404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27425" spcFirstLastPara="1" rIns="27425" wrap="square" tIns="182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1" i="0" lang="en-US" sz="1100" u="none" cap="none" strike="noStrike">
                <a:solidFill>
                  <a:srgbClr val="3769BE"/>
                </a:solidFill>
                <a:latin typeface="Arial"/>
                <a:ea typeface="Arial"/>
                <a:cs typeface="Arial"/>
                <a:sym typeface="Arial"/>
              </a:rPr>
              <a:t>ACROSS ALL SEVEN MODELS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46" name="Google Shape;446;p16"/>
          <p:cNvSpPr/>
          <p:nvPr/>
        </p:nvSpPr>
        <p:spPr>
          <a:xfrm>
            <a:off x="7635240" y="4005072"/>
            <a:ext cx="1783080" cy="932688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9525">
            <a:solidFill>
              <a:srgbClr val="DCE2EA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7" name="Google Shape;447;p16"/>
          <p:cNvSpPr/>
          <p:nvPr/>
        </p:nvSpPr>
        <p:spPr>
          <a:xfrm>
            <a:off x="7635240" y="4005072"/>
            <a:ext cx="64008" cy="932688"/>
          </a:xfrm>
          <a:prstGeom prst="rect">
            <a:avLst/>
          </a:prstGeom>
          <a:solidFill>
            <a:srgbClr val="3769BE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8" name="Google Shape;448;p16"/>
          <p:cNvSpPr txBox="1"/>
          <p:nvPr/>
        </p:nvSpPr>
        <p:spPr>
          <a:xfrm>
            <a:off x="7854696" y="4114800"/>
            <a:ext cx="1463040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27425" spcFirstLastPara="1" rIns="27425" wrap="square" tIns="182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100"/>
              <a:buFont typeface="Arial"/>
              <a:buNone/>
            </a:pPr>
            <a:r>
              <a:rPr b="1" i="0" lang="en-US" sz="2100" u="none" cap="none" strike="noStrike">
                <a:solidFill>
                  <a:srgbClr val="121E34"/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49" name="Google Shape;449;p16"/>
          <p:cNvSpPr txBox="1"/>
          <p:nvPr/>
        </p:nvSpPr>
        <p:spPr>
          <a:xfrm>
            <a:off x="7854696" y="4517136"/>
            <a:ext cx="146304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18275" lIns="27425" spcFirstLastPara="1" rIns="27425" wrap="square" tIns="182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0" i="0" lang="en-US" sz="1100" u="none" cap="none" strike="noStrike">
                <a:solidFill>
                  <a:srgbClr val="5C6778"/>
                </a:solidFill>
                <a:latin typeface="Arial"/>
                <a:ea typeface="Arial"/>
                <a:cs typeface="Arial"/>
                <a:sym typeface="Arial"/>
              </a:rPr>
              <a:t>fewest errors (Xception)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50" name="Google Shape;450;p16"/>
          <p:cNvSpPr/>
          <p:nvPr/>
        </p:nvSpPr>
        <p:spPr>
          <a:xfrm>
            <a:off x="9601200" y="4005072"/>
            <a:ext cx="1783080" cy="932688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9525">
            <a:solidFill>
              <a:srgbClr val="DCE2EA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1" name="Google Shape;451;p16"/>
          <p:cNvSpPr/>
          <p:nvPr/>
        </p:nvSpPr>
        <p:spPr>
          <a:xfrm>
            <a:off x="9601200" y="4005072"/>
            <a:ext cx="64008" cy="932688"/>
          </a:xfrm>
          <a:prstGeom prst="rect">
            <a:avLst/>
          </a:prstGeom>
          <a:solidFill>
            <a:srgbClr val="F56736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2" name="Google Shape;452;p16"/>
          <p:cNvSpPr txBox="1"/>
          <p:nvPr/>
        </p:nvSpPr>
        <p:spPr>
          <a:xfrm>
            <a:off x="9820656" y="4114800"/>
            <a:ext cx="1463040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27425" spcFirstLastPara="1" rIns="27425" wrap="square" tIns="182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100"/>
              <a:buFont typeface="Arial"/>
              <a:buNone/>
            </a:pPr>
            <a:r>
              <a:rPr b="1" i="0" lang="en-US" sz="2100" u="none" cap="none" strike="noStrike">
                <a:solidFill>
                  <a:srgbClr val="121E34"/>
                </a:solidFill>
                <a:latin typeface="Arial"/>
                <a:ea typeface="Arial"/>
                <a:cs typeface="Arial"/>
                <a:sym typeface="Arial"/>
              </a:rPr>
              <a:t>46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53" name="Google Shape;453;p16"/>
          <p:cNvSpPr txBox="1"/>
          <p:nvPr/>
        </p:nvSpPr>
        <p:spPr>
          <a:xfrm>
            <a:off x="9820656" y="4517136"/>
            <a:ext cx="146304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18275" lIns="27425" spcFirstLastPara="1" rIns="27425" wrap="square" tIns="182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0" i="0" lang="en-US" sz="1100" u="none" cap="none" strike="noStrike">
                <a:solidFill>
                  <a:srgbClr val="5C6778"/>
                </a:solidFill>
                <a:latin typeface="Arial"/>
                <a:ea typeface="Arial"/>
                <a:cs typeface="Arial"/>
                <a:sym typeface="Arial"/>
              </a:rPr>
              <a:t>most errors (CLIP)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54" name="Google Shape;454;p16"/>
          <p:cNvSpPr txBox="1"/>
          <p:nvPr/>
        </p:nvSpPr>
        <p:spPr>
          <a:xfrm>
            <a:off x="749808" y="5577840"/>
            <a:ext cx="1051560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27425" spcFirstLastPara="1" rIns="27425" wrap="square" tIns="182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0" i="0" lang="en-US" sz="1300" u="none" cap="none" strike="noStrike">
                <a:solidFill>
                  <a:srgbClr val="5C6778"/>
                </a:solidFill>
                <a:latin typeface="Arial"/>
                <a:ea typeface="Arial"/>
                <a:cs typeface="Arial"/>
                <a:sym typeface="Arial"/>
              </a:rPr>
              <a:t>Most errors are real videos flagged as fake. ConvNeXt-Tiny missed no fake video.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cell46_0.png" id="455" name="Google Shape;455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9536" y="2048256"/>
            <a:ext cx="6309360" cy="317715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459" name="Shape 4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0" name="Google Shape;460;p17"/>
          <p:cNvSpPr txBox="1"/>
          <p:nvPr/>
        </p:nvSpPr>
        <p:spPr>
          <a:xfrm>
            <a:off x="658368" y="237744"/>
            <a:ext cx="36576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27425" spcFirstLastPara="1" rIns="27425" wrap="square" tIns="182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1" i="0" lang="en-US" sz="1100" u="none" cap="none" strike="noStrike">
                <a:solidFill>
                  <a:srgbClr val="F56736"/>
                </a:solidFill>
                <a:latin typeface="Arial"/>
                <a:ea typeface="Arial"/>
                <a:cs typeface="Arial"/>
                <a:sym typeface="Arial"/>
              </a:rPr>
              <a:t>STEP 3 — EVALUATION AND DEMO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61" name="Google Shape;461;p17"/>
          <p:cNvSpPr txBox="1"/>
          <p:nvPr/>
        </p:nvSpPr>
        <p:spPr>
          <a:xfrm>
            <a:off x="658368" y="594360"/>
            <a:ext cx="1078992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27425" spcFirstLastPara="1" rIns="27425" wrap="square" tIns="182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600"/>
              <a:buFont typeface="Arial"/>
              <a:buNone/>
            </a:pPr>
            <a:r>
              <a:rPr b="1" i="0" lang="en-US" sz="2600" u="none" cap="none" strike="noStrike">
                <a:solidFill>
                  <a:srgbClr val="121E34"/>
                </a:solidFill>
                <a:latin typeface="Arial"/>
                <a:ea typeface="Arial"/>
                <a:cs typeface="Arial"/>
                <a:sym typeface="Arial"/>
              </a:rPr>
              <a:t>ROC / AUC result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62" name="Google Shape;462;p17"/>
          <p:cNvSpPr txBox="1"/>
          <p:nvPr/>
        </p:nvSpPr>
        <p:spPr>
          <a:xfrm>
            <a:off x="658368" y="1060704"/>
            <a:ext cx="10789920" cy="310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27425" spcFirstLastPara="1" rIns="27425" wrap="square" tIns="182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0" i="0" lang="en-US" sz="1300" u="none" cap="none" strike="noStrike">
                <a:solidFill>
                  <a:srgbClr val="5C6778"/>
                </a:solidFill>
                <a:latin typeface="Arial"/>
                <a:ea typeface="Arial"/>
                <a:cs typeface="Arial"/>
                <a:sym typeface="Arial"/>
              </a:rPr>
              <a:t>AUC checks how well model scores separate REAL and FAKE videos.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63" name="Google Shape;463;p17"/>
          <p:cNvSpPr/>
          <p:nvPr/>
        </p:nvSpPr>
        <p:spPr>
          <a:xfrm>
            <a:off x="658368" y="1527048"/>
            <a:ext cx="10881360" cy="16459"/>
          </a:xfrm>
          <a:prstGeom prst="rect">
            <a:avLst/>
          </a:prstGeom>
          <a:solidFill>
            <a:srgbClr val="DCE2EA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4" name="Google Shape;464;p17"/>
          <p:cNvSpPr/>
          <p:nvPr/>
        </p:nvSpPr>
        <p:spPr>
          <a:xfrm>
            <a:off x="658368" y="1828800"/>
            <a:ext cx="5577840" cy="429768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9525">
            <a:solidFill>
              <a:srgbClr val="DCE2EA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5" name="Google Shape;465;p17"/>
          <p:cNvSpPr/>
          <p:nvPr/>
        </p:nvSpPr>
        <p:spPr>
          <a:xfrm>
            <a:off x="6583680" y="2011680"/>
            <a:ext cx="2148840" cy="1024128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9525">
            <a:solidFill>
              <a:srgbClr val="DCE2EA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6" name="Google Shape;466;p17"/>
          <p:cNvSpPr/>
          <p:nvPr/>
        </p:nvSpPr>
        <p:spPr>
          <a:xfrm>
            <a:off x="6583680" y="2011680"/>
            <a:ext cx="64008" cy="1024128"/>
          </a:xfrm>
          <a:prstGeom prst="rect">
            <a:avLst/>
          </a:prstGeom>
          <a:solidFill>
            <a:srgbClr val="1A9769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7" name="Google Shape;467;p17"/>
          <p:cNvSpPr txBox="1"/>
          <p:nvPr/>
        </p:nvSpPr>
        <p:spPr>
          <a:xfrm>
            <a:off x="6803136" y="2121408"/>
            <a:ext cx="1819656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27425" spcFirstLastPara="1" rIns="27425" wrap="square" tIns="182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300"/>
              <a:buFont typeface="Arial"/>
              <a:buNone/>
            </a:pPr>
            <a:r>
              <a:rPr b="1" i="0" lang="en-US" sz="2300" u="none" cap="none" strike="noStrike">
                <a:solidFill>
                  <a:srgbClr val="121E34"/>
                </a:solidFill>
                <a:latin typeface="Arial"/>
                <a:ea typeface="Arial"/>
                <a:cs typeface="Arial"/>
                <a:sym typeface="Arial"/>
              </a:rPr>
              <a:t>0.9999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68" name="Google Shape;468;p17"/>
          <p:cNvSpPr txBox="1"/>
          <p:nvPr/>
        </p:nvSpPr>
        <p:spPr>
          <a:xfrm>
            <a:off x="6803136" y="2523744"/>
            <a:ext cx="1819656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18275" lIns="27425" spcFirstLastPara="1" rIns="27425" wrap="square" tIns="182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0" i="0" lang="en-US" sz="1100" u="none" cap="none" strike="noStrike">
                <a:solidFill>
                  <a:srgbClr val="5C6778"/>
                </a:solidFill>
                <a:latin typeface="Arial"/>
                <a:ea typeface="Arial"/>
                <a:cs typeface="Arial"/>
                <a:sym typeface="Arial"/>
              </a:rPr>
              <a:t>ConvNeXt holdout AUC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69" name="Google Shape;469;p17"/>
          <p:cNvSpPr/>
          <p:nvPr/>
        </p:nvSpPr>
        <p:spPr>
          <a:xfrm>
            <a:off x="9052560" y="2011680"/>
            <a:ext cx="2148840" cy="1024128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9525">
            <a:solidFill>
              <a:srgbClr val="DCE2EA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0" name="Google Shape;470;p17"/>
          <p:cNvSpPr/>
          <p:nvPr/>
        </p:nvSpPr>
        <p:spPr>
          <a:xfrm>
            <a:off x="9052560" y="2011680"/>
            <a:ext cx="64008" cy="1024128"/>
          </a:xfrm>
          <a:prstGeom prst="rect">
            <a:avLst/>
          </a:prstGeom>
          <a:solidFill>
            <a:srgbClr val="3769BE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1" name="Google Shape;471;p17"/>
          <p:cNvSpPr txBox="1"/>
          <p:nvPr/>
        </p:nvSpPr>
        <p:spPr>
          <a:xfrm>
            <a:off x="9272016" y="2121408"/>
            <a:ext cx="1819656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27425" spcFirstLastPara="1" rIns="27425" wrap="square" tIns="182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300"/>
              <a:buFont typeface="Arial"/>
              <a:buNone/>
            </a:pPr>
            <a:r>
              <a:rPr b="1" i="0" lang="en-US" sz="2300" u="none" cap="none" strike="noStrike">
                <a:solidFill>
                  <a:srgbClr val="121E34"/>
                </a:solidFill>
                <a:latin typeface="Arial"/>
                <a:ea typeface="Arial"/>
                <a:cs typeface="Arial"/>
                <a:sym typeface="Arial"/>
              </a:rPr>
              <a:t>0.9998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72" name="Google Shape;472;p17"/>
          <p:cNvSpPr txBox="1"/>
          <p:nvPr/>
        </p:nvSpPr>
        <p:spPr>
          <a:xfrm>
            <a:off x="9272016" y="2523744"/>
            <a:ext cx="1819656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18275" lIns="27425" spcFirstLastPara="1" rIns="27425" wrap="square" tIns="182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0" i="0" lang="en-US" sz="1100" u="none" cap="none" strike="noStrike">
                <a:solidFill>
                  <a:srgbClr val="5C6778"/>
                </a:solidFill>
                <a:latin typeface="Arial"/>
                <a:ea typeface="Arial"/>
                <a:cs typeface="Arial"/>
                <a:sym typeface="Arial"/>
              </a:rPr>
              <a:t>ConvNeXt official AUC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73" name="Google Shape;473;p17"/>
          <p:cNvSpPr/>
          <p:nvPr/>
        </p:nvSpPr>
        <p:spPr>
          <a:xfrm>
            <a:off x="6583680" y="3474720"/>
            <a:ext cx="4617720" cy="1508760"/>
          </a:xfrm>
          <a:prstGeom prst="roundRect">
            <a:avLst>
              <a:gd fmla="val 16667" name="adj"/>
            </a:avLst>
          </a:prstGeom>
          <a:solidFill>
            <a:srgbClr val="F7F9FC"/>
          </a:solidFill>
          <a:ln cap="flat" cmpd="sng" w="9525">
            <a:solidFill>
              <a:srgbClr val="DCE2EA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4" name="Google Shape;474;p17"/>
          <p:cNvSpPr txBox="1"/>
          <p:nvPr/>
        </p:nvSpPr>
        <p:spPr>
          <a:xfrm>
            <a:off x="6839712" y="3703320"/>
            <a:ext cx="10972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27425" spcFirstLastPara="1" rIns="27425" wrap="square" tIns="182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1" i="0" lang="en-US" sz="1100" u="none" cap="none" strike="noStrike">
                <a:solidFill>
                  <a:srgbClr val="F56736"/>
                </a:solidFill>
                <a:latin typeface="Arial"/>
                <a:ea typeface="Arial"/>
                <a:cs typeface="Arial"/>
                <a:sym typeface="Arial"/>
              </a:rPr>
              <a:t>RESULT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75" name="Google Shape;475;p17"/>
          <p:cNvSpPr txBox="1"/>
          <p:nvPr/>
        </p:nvSpPr>
        <p:spPr>
          <a:xfrm>
            <a:off x="6839712" y="4005072"/>
            <a:ext cx="4069080" cy="658368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27425" spcFirstLastPara="1" rIns="27425" wrap="square" tIns="182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700"/>
              <a:buFont typeface="Arial"/>
              <a:buNone/>
            </a:pPr>
            <a:r>
              <a:rPr b="1" i="0" lang="en-US" sz="1700" u="none" cap="none" strike="noStrike">
                <a:solidFill>
                  <a:srgbClr val="121E34"/>
                </a:solidFill>
                <a:latin typeface="Arial"/>
                <a:ea typeface="Arial"/>
                <a:cs typeface="Arial"/>
                <a:sym typeface="Arial"/>
              </a:rPr>
              <a:t>ConvNeXt-Tiny (red) is closest to the top-left corner; CLIP (pink) is lowest.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76" name="Google Shape;476;p17"/>
          <p:cNvSpPr txBox="1"/>
          <p:nvPr/>
        </p:nvSpPr>
        <p:spPr>
          <a:xfrm>
            <a:off x="6583680" y="5257800"/>
            <a:ext cx="461772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27425" spcFirstLastPara="1" rIns="27425" wrap="square" tIns="182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0" i="0" lang="en-US" sz="1200" u="none" cap="none" strike="noStrike">
                <a:solidFill>
                  <a:srgbClr val="5C6778"/>
                </a:solidFill>
                <a:latin typeface="Arial"/>
                <a:ea typeface="Arial"/>
                <a:cs typeface="Arial"/>
                <a:sym typeface="Arial"/>
              </a:rPr>
              <a:t>Zoomed view of the holdout videos. All AUC values are on the comparison slide.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roc_holdout.png" id="477" name="Google Shape;477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41248" y="2148840"/>
            <a:ext cx="5230368" cy="366125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481" name="Shape 4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2" name="Google Shape;482;p18"/>
          <p:cNvSpPr txBox="1"/>
          <p:nvPr/>
        </p:nvSpPr>
        <p:spPr>
          <a:xfrm>
            <a:off x="658368" y="237744"/>
            <a:ext cx="36576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27425" spcFirstLastPara="1" rIns="27425" wrap="square" tIns="182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1" i="0" lang="en-US" sz="1100" u="none" cap="none" strike="noStrike">
                <a:solidFill>
                  <a:srgbClr val="F56736"/>
                </a:solidFill>
                <a:latin typeface="Arial"/>
                <a:ea typeface="Arial"/>
                <a:cs typeface="Arial"/>
                <a:sym typeface="Arial"/>
              </a:rPr>
              <a:t>STEP 3 — EVALUATION AND DEMO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3" name="Google Shape;483;p18"/>
          <p:cNvSpPr txBox="1"/>
          <p:nvPr/>
        </p:nvSpPr>
        <p:spPr>
          <a:xfrm>
            <a:off x="658368" y="594360"/>
            <a:ext cx="1078992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27425" spcFirstLastPara="1" rIns="27425" wrap="square" tIns="182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600"/>
              <a:buFont typeface="Arial"/>
              <a:buNone/>
            </a:pPr>
            <a:r>
              <a:rPr b="1" i="0" lang="en-US" sz="2600" u="none" cap="none" strike="noStrike">
                <a:solidFill>
                  <a:srgbClr val="121E34"/>
                </a:solidFill>
                <a:latin typeface="Arial"/>
                <a:ea typeface="Arial"/>
                <a:cs typeface="Arial"/>
                <a:sym typeface="Arial"/>
              </a:rPr>
              <a:t>Robustness check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4" name="Google Shape;484;p18"/>
          <p:cNvSpPr txBox="1"/>
          <p:nvPr/>
        </p:nvSpPr>
        <p:spPr>
          <a:xfrm>
            <a:off x="658368" y="1060704"/>
            <a:ext cx="10789920" cy="310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27425" spcFirstLastPara="1" rIns="27425" wrap="square" tIns="182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0" i="0" lang="en-US" sz="1300" u="none" cap="none" strike="noStrike">
                <a:solidFill>
                  <a:srgbClr val="5C6778"/>
                </a:solidFill>
                <a:latin typeface="Arial"/>
                <a:ea typeface="Arial"/>
                <a:cs typeface="Arial"/>
                <a:sym typeface="Arial"/>
              </a:rPr>
              <a:t>Holdout faces were scored again after JPEG compression, downscaling and blur, as happens when videos are re-uploaded.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5" name="Google Shape;485;p18"/>
          <p:cNvSpPr/>
          <p:nvPr/>
        </p:nvSpPr>
        <p:spPr>
          <a:xfrm>
            <a:off x="658368" y="1527048"/>
            <a:ext cx="10881360" cy="16459"/>
          </a:xfrm>
          <a:prstGeom prst="rect">
            <a:avLst/>
          </a:prstGeom>
          <a:solidFill>
            <a:srgbClr val="DCE2EA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6" name="Google Shape;486;p18"/>
          <p:cNvSpPr/>
          <p:nvPr/>
        </p:nvSpPr>
        <p:spPr>
          <a:xfrm>
            <a:off x="7498079" y="1828800"/>
            <a:ext cx="3977639" cy="1783080"/>
          </a:xfrm>
          <a:prstGeom prst="roundRect">
            <a:avLst>
              <a:gd fmla="val 16667" name="adj"/>
            </a:avLst>
          </a:prstGeom>
          <a:solidFill>
            <a:srgbClr val="F1F9F6"/>
          </a:solidFill>
          <a:ln cap="flat" cmpd="sng" w="9525">
            <a:solidFill>
              <a:srgbClr val="DCE2EA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7" name="Google Shape;487;p18"/>
          <p:cNvSpPr txBox="1"/>
          <p:nvPr/>
        </p:nvSpPr>
        <p:spPr>
          <a:xfrm>
            <a:off x="7726679" y="2011680"/>
            <a:ext cx="356616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27425" spcFirstLastPara="1" rIns="27425" wrap="square" tIns="182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1" i="0" lang="en-US" sz="1100" u="none" cap="none" strike="noStrike">
                <a:solidFill>
                  <a:srgbClr val="1A9769"/>
                </a:solidFill>
                <a:latin typeface="Arial"/>
                <a:ea typeface="Arial"/>
                <a:cs typeface="Arial"/>
                <a:sym typeface="Arial"/>
              </a:rPr>
              <a:t>MOST ROBUST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8" name="Google Shape;488;p18"/>
          <p:cNvSpPr txBox="1"/>
          <p:nvPr/>
        </p:nvSpPr>
        <p:spPr>
          <a:xfrm>
            <a:off x="7726679" y="2286000"/>
            <a:ext cx="3566160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27425" spcFirstLastPara="1" rIns="27425" wrap="square" tIns="182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1" i="0" lang="en-US" sz="2000" u="none" cap="none" strike="noStrike">
                <a:solidFill>
                  <a:srgbClr val="121E34"/>
                </a:solidFill>
                <a:latin typeface="Arial"/>
                <a:ea typeface="Arial"/>
                <a:cs typeface="Arial"/>
                <a:sym typeface="Arial"/>
              </a:rPr>
              <a:t>ConvNeXt-Tiny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9" name="Google Shape;489;p18"/>
          <p:cNvSpPr txBox="1"/>
          <p:nvPr/>
        </p:nvSpPr>
        <p:spPr>
          <a:xfrm>
            <a:off x="7726679" y="2724912"/>
            <a:ext cx="3566160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27425" spcFirstLastPara="1" rIns="27425" wrap="square" tIns="182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0" i="0" lang="en-US" sz="1300" u="none" cap="none" strike="noStrike">
                <a:solidFill>
                  <a:srgbClr val="5C6778"/>
                </a:solidFill>
                <a:latin typeface="Arial"/>
                <a:ea typeface="Arial"/>
                <a:cs typeface="Arial"/>
                <a:sym typeface="Arial"/>
              </a:rPr>
              <a:t>AUC stayed at 0.9985 or higher under every distortion (worst drop 0.0014).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aphicFrame>
        <p:nvGraphicFramePr>
          <p:cNvPr id="490" name="Google Shape;490;p18"/>
          <p:cNvGraphicFramePr/>
          <p:nvPr/>
        </p:nvGraphicFramePr>
        <p:xfrm>
          <a:off x="658368" y="1783080"/>
          <a:ext cx="6583680" cy="4526280"/>
        </p:xfrm>
        <a:graphic>
          <a:graphicData uri="http://schemas.openxmlformats.org/drawingml/2006/chart">
            <c:chart r:id="rId3"/>
          </a:graphicData>
        </a:graphic>
      </p:graphicFrame>
      <p:sp>
        <p:nvSpPr>
          <p:cNvPr id="491" name="Google Shape;491;p18"/>
          <p:cNvSpPr/>
          <p:nvPr/>
        </p:nvSpPr>
        <p:spPr>
          <a:xfrm>
            <a:off x="7498079" y="3886200"/>
            <a:ext cx="3977639" cy="1783080"/>
          </a:xfrm>
          <a:prstGeom prst="roundRect">
            <a:avLst>
              <a:gd fmla="val 16667" name="adj"/>
            </a:avLst>
          </a:prstGeom>
          <a:solidFill>
            <a:srgbClr val="FDF7F3"/>
          </a:solidFill>
          <a:ln cap="flat" cmpd="sng" w="9525">
            <a:solidFill>
              <a:srgbClr val="DCE2EA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2" name="Google Shape;492;p18"/>
          <p:cNvSpPr txBox="1"/>
          <p:nvPr/>
        </p:nvSpPr>
        <p:spPr>
          <a:xfrm>
            <a:off x="7726679" y="4069080"/>
            <a:ext cx="356616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27425" spcFirstLastPara="1" rIns="27425" wrap="square" tIns="182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1" i="0" lang="en-US" sz="1100" u="none" cap="none" strike="noStrike">
                <a:solidFill>
                  <a:srgbClr val="F56736"/>
                </a:solidFill>
                <a:latin typeface="Arial"/>
                <a:ea typeface="Arial"/>
                <a:cs typeface="Arial"/>
                <a:sym typeface="Arial"/>
              </a:rPr>
              <a:t>LEAST ROBUST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3" name="Google Shape;493;p18"/>
          <p:cNvSpPr txBox="1"/>
          <p:nvPr/>
        </p:nvSpPr>
        <p:spPr>
          <a:xfrm>
            <a:off x="7726679" y="4343400"/>
            <a:ext cx="3566160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27425" spcFirstLastPara="1" rIns="27425" wrap="square" tIns="182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1" i="0" lang="en-US" sz="2000" u="none" cap="none" strike="noStrike">
                <a:solidFill>
                  <a:srgbClr val="121E34"/>
                </a:solidFill>
                <a:latin typeface="Arial"/>
                <a:ea typeface="Arial"/>
                <a:cs typeface="Arial"/>
                <a:sym typeface="Arial"/>
              </a:rPr>
              <a:t>CLIP ViT-B/16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4" name="Google Shape;494;p18"/>
          <p:cNvSpPr txBox="1"/>
          <p:nvPr/>
        </p:nvSpPr>
        <p:spPr>
          <a:xfrm>
            <a:off x="7726679" y="4782312"/>
            <a:ext cx="3566160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27425" spcFirstLastPara="1" rIns="27425" wrap="square" tIns="182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0" i="0" lang="en-US" sz="1300" u="none" cap="none" strike="noStrike">
                <a:solidFill>
                  <a:srgbClr val="5C6778"/>
                </a:solidFill>
                <a:latin typeface="Arial"/>
                <a:ea typeface="Arial"/>
                <a:cs typeface="Arial"/>
                <a:sym typeface="Arial"/>
              </a:rPr>
              <a:t>AUC fell to 0.9718 under blur (drop 0.0192).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5" name="Google Shape;495;p18"/>
          <p:cNvSpPr txBox="1"/>
          <p:nvPr/>
        </p:nvSpPr>
        <p:spPr>
          <a:xfrm>
            <a:off x="7498079" y="5806440"/>
            <a:ext cx="3977639" cy="310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27425" spcFirstLastPara="1" rIns="27425" wrap="square" tIns="182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0" i="0" lang="en-US" sz="1100" u="none" cap="none" strike="noStrike">
                <a:solidFill>
                  <a:srgbClr val="5C6778"/>
                </a:solidFill>
                <a:latin typeface="Arial"/>
                <a:ea typeface="Arial"/>
                <a:cs typeface="Arial"/>
                <a:sym typeface="Arial"/>
              </a:rPr>
              <a:t>JPEG quality 30 and half-size downscaling are harsher than anything used in training.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499" name="Shape 4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0" name="Google Shape;500;p19"/>
          <p:cNvSpPr txBox="1"/>
          <p:nvPr/>
        </p:nvSpPr>
        <p:spPr>
          <a:xfrm>
            <a:off x="658368" y="237744"/>
            <a:ext cx="36576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27425" spcFirstLastPara="1" rIns="27425" wrap="square" tIns="182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1" i="0" lang="en-US" sz="1100" u="none" cap="none" strike="noStrike">
                <a:solidFill>
                  <a:srgbClr val="F56736"/>
                </a:solidFill>
                <a:latin typeface="Arial"/>
                <a:ea typeface="Arial"/>
                <a:cs typeface="Arial"/>
                <a:sym typeface="Arial"/>
              </a:rPr>
              <a:t>STEP 3 — EVALUATION AND DEMO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1" name="Google Shape;501;p19"/>
          <p:cNvSpPr txBox="1"/>
          <p:nvPr/>
        </p:nvSpPr>
        <p:spPr>
          <a:xfrm>
            <a:off x="658368" y="594360"/>
            <a:ext cx="1078992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27425" spcFirstLastPara="1" rIns="27425" wrap="square" tIns="182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600"/>
              <a:buFont typeface="Arial"/>
              <a:buNone/>
            </a:pPr>
            <a:r>
              <a:rPr b="1" i="0" lang="en-US" sz="2600" u="none" cap="none" strike="noStrike">
                <a:solidFill>
                  <a:srgbClr val="121E34"/>
                </a:solidFill>
                <a:latin typeface="Arial"/>
                <a:ea typeface="Arial"/>
                <a:cs typeface="Arial"/>
                <a:sym typeface="Arial"/>
              </a:rPr>
              <a:t>Grad-CAM output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2" name="Google Shape;502;p19"/>
          <p:cNvSpPr txBox="1"/>
          <p:nvPr/>
        </p:nvSpPr>
        <p:spPr>
          <a:xfrm>
            <a:off x="658368" y="1060704"/>
            <a:ext cx="10789920" cy="310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27425" spcFirstLastPara="1" rIns="27425" wrap="square" tIns="182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0" i="0" lang="en-US" sz="1300" u="none" cap="none" strike="noStrike">
                <a:solidFill>
                  <a:srgbClr val="5C6778"/>
                </a:solidFill>
                <a:latin typeface="Arial"/>
                <a:ea typeface="Arial"/>
                <a:cs typeface="Arial"/>
                <a:sym typeface="Arial"/>
              </a:rPr>
              <a:t>Grad-CAM highlights the face regions that most influenced each model's score.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3" name="Google Shape;503;p19"/>
          <p:cNvSpPr/>
          <p:nvPr/>
        </p:nvSpPr>
        <p:spPr>
          <a:xfrm>
            <a:off x="658368" y="1527048"/>
            <a:ext cx="10881360" cy="16459"/>
          </a:xfrm>
          <a:prstGeom prst="rect">
            <a:avLst/>
          </a:prstGeom>
          <a:solidFill>
            <a:srgbClr val="DCE2EA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4" name="Google Shape;504;p19"/>
          <p:cNvSpPr/>
          <p:nvPr/>
        </p:nvSpPr>
        <p:spPr>
          <a:xfrm>
            <a:off x="749808" y="5230368"/>
            <a:ext cx="5257800" cy="1188720"/>
          </a:xfrm>
          <a:prstGeom prst="roundRect">
            <a:avLst>
              <a:gd fmla="val 16667" name="adj"/>
            </a:avLst>
          </a:prstGeom>
          <a:solidFill>
            <a:srgbClr val="F7F9FC"/>
          </a:solidFill>
          <a:ln cap="flat" cmpd="sng" w="9525">
            <a:solidFill>
              <a:srgbClr val="DCE2EA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5" name="Google Shape;505;p19"/>
          <p:cNvSpPr txBox="1"/>
          <p:nvPr/>
        </p:nvSpPr>
        <p:spPr>
          <a:xfrm>
            <a:off x="987552" y="5358384"/>
            <a:ext cx="47548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27425" spcFirstLastPara="1" rIns="27425" wrap="square" tIns="182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1" i="0" lang="en-US" sz="1100" u="none" cap="none" strike="noStrike">
                <a:solidFill>
                  <a:srgbClr val="F56736"/>
                </a:solidFill>
                <a:latin typeface="Arial"/>
                <a:ea typeface="Arial"/>
                <a:cs typeface="Arial"/>
                <a:sym typeface="Arial"/>
              </a:rPr>
              <a:t>ATTENTION SHOWN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6" name="Google Shape;506;p19"/>
          <p:cNvSpPr txBox="1"/>
          <p:nvPr/>
        </p:nvSpPr>
        <p:spPr>
          <a:xfrm>
            <a:off x="987552" y="5632704"/>
            <a:ext cx="4800600" cy="438912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27425" spcFirstLastPara="1" rIns="27425" wrap="square" tIns="182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0" lang="en-US" sz="1300" u="none" cap="none" strike="noStrike">
                <a:solidFill>
                  <a:srgbClr val="121E34"/>
                </a:solidFill>
                <a:latin typeface="Arial"/>
                <a:ea typeface="Arial"/>
                <a:cs typeface="Arial"/>
                <a:sym typeface="Arial"/>
              </a:rPr>
              <a:t>On the fake face, most models focus on the eyes, nose and mouth, where the face swap is blended.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7" name="Google Shape;507;p19"/>
          <p:cNvSpPr/>
          <p:nvPr/>
        </p:nvSpPr>
        <p:spPr>
          <a:xfrm>
            <a:off x="6190488" y="5230368"/>
            <a:ext cx="5257800" cy="1188720"/>
          </a:xfrm>
          <a:prstGeom prst="roundRect">
            <a:avLst>
              <a:gd fmla="val 16667" name="adj"/>
            </a:avLst>
          </a:prstGeom>
          <a:solidFill>
            <a:srgbClr val="F1F9F6"/>
          </a:solidFill>
          <a:ln cap="flat" cmpd="sng" w="9525">
            <a:solidFill>
              <a:srgbClr val="DCE2EA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8" name="Google Shape;508;p19"/>
          <p:cNvSpPr txBox="1"/>
          <p:nvPr/>
        </p:nvSpPr>
        <p:spPr>
          <a:xfrm>
            <a:off x="6428231" y="5358384"/>
            <a:ext cx="47548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27425" spcFirstLastPara="1" rIns="27425" wrap="square" tIns="182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1" i="0" lang="en-US" sz="1100" u="none" cap="none" strike="noStrike">
                <a:solidFill>
                  <a:srgbClr val="1A9769"/>
                </a:solidFill>
                <a:latin typeface="Arial"/>
                <a:ea typeface="Arial"/>
                <a:cs typeface="Arial"/>
                <a:sym typeface="Arial"/>
              </a:rPr>
              <a:t>PURPOSE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9" name="Google Shape;509;p19"/>
          <p:cNvSpPr txBox="1"/>
          <p:nvPr/>
        </p:nvSpPr>
        <p:spPr>
          <a:xfrm>
            <a:off x="6428231" y="5632704"/>
            <a:ext cx="4800600" cy="438912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27425" spcFirstLastPara="1" rIns="27425" wrap="square" tIns="182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0" lang="en-US" sz="1300" u="none" cap="none" strike="noStrike">
                <a:solidFill>
                  <a:srgbClr val="121E34"/>
                </a:solidFill>
                <a:latin typeface="Arial"/>
                <a:ea typeface="Arial"/>
                <a:cs typeface="Arial"/>
                <a:sym typeface="Arial"/>
              </a:rPr>
              <a:t>Scores are for single frames; the REAL / FAKE decision uses the average over the whole video.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10" name="Google Shape;510;p19"/>
          <p:cNvSpPr txBox="1"/>
          <p:nvPr/>
        </p:nvSpPr>
        <p:spPr>
          <a:xfrm>
            <a:off x="704087" y="1719072"/>
            <a:ext cx="1280160" cy="310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27425" spcFirstLastPara="1" rIns="27425" wrap="square" tIns="1827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1" i="0" lang="en-US" sz="1000" u="none" cap="none" strike="noStrike">
                <a:solidFill>
                  <a:srgbClr val="121E34"/>
                </a:solidFill>
                <a:latin typeface="Arial"/>
                <a:ea typeface="Arial"/>
                <a:cs typeface="Arial"/>
                <a:sym typeface="Arial"/>
              </a:rPr>
              <a:t>Input face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r0_c0.png" id="511" name="Google Shape;511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49808" y="2011680"/>
            <a:ext cx="1188720" cy="1188720"/>
          </a:xfrm>
          <a:prstGeom prst="rect">
            <a:avLst/>
          </a:prstGeom>
          <a:noFill/>
          <a:ln>
            <a:noFill/>
          </a:ln>
        </p:spPr>
      </p:pic>
      <p:sp>
        <p:nvSpPr>
          <p:cNvPr id="512" name="Google Shape;512;p19"/>
          <p:cNvSpPr txBox="1"/>
          <p:nvPr/>
        </p:nvSpPr>
        <p:spPr>
          <a:xfrm>
            <a:off x="704087" y="3218688"/>
            <a:ext cx="1280160" cy="310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27425" spcFirstLastPara="1" rIns="27425" wrap="square" tIns="1827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1" i="0" lang="en-US" sz="900" u="none" cap="none" strike="noStrike">
                <a:solidFill>
                  <a:srgbClr val="121E34"/>
                </a:solidFill>
                <a:latin typeface="Arial"/>
                <a:ea typeface="Arial"/>
                <a:cs typeface="Arial"/>
                <a:sym typeface="Arial"/>
              </a:rPr>
              <a:t>REAL face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r1_c0.png" id="513" name="Google Shape;51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9808" y="3520440"/>
            <a:ext cx="1188720" cy="1188720"/>
          </a:xfrm>
          <a:prstGeom prst="rect">
            <a:avLst/>
          </a:prstGeom>
          <a:noFill/>
          <a:ln>
            <a:noFill/>
          </a:ln>
        </p:spPr>
      </p:pic>
      <p:sp>
        <p:nvSpPr>
          <p:cNvPr id="514" name="Google Shape;514;p19"/>
          <p:cNvSpPr txBox="1"/>
          <p:nvPr/>
        </p:nvSpPr>
        <p:spPr>
          <a:xfrm>
            <a:off x="704087" y="4727448"/>
            <a:ext cx="1280160" cy="310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27425" spcFirstLastPara="1" rIns="27425" wrap="square" tIns="1827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1" i="0" lang="en-US" sz="900" u="none" cap="none" strike="noStrike">
                <a:solidFill>
                  <a:srgbClr val="121E34"/>
                </a:solidFill>
                <a:latin typeface="Arial"/>
                <a:ea typeface="Arial"/>
                <a:cs typeface="Arial"/>
                <a:sym typeface="Arial"/>
              </a:rPr>
              <a:t>FAKE face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15" name="Google Shape;515;p19"/>
          <p:cNvSpPr txBox="1"/>
          <p:nvPr/>
        </p:nvSpPr>
        <p:spPr>
          <a:xfrm>
            <a:off x="2041398" y="1719072"/>
            <a:ext cx="1280160" cy="310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27425" spcFirstLastPara="1" rIns="27425" wrap="square" tIns="1827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1" i="0" lang="en-US" sz="1000" u="none" cap="none" strike="noStrike">
                <a:solidFill>
                  <a:srgbClr val="121E34"/>
                </a:solidFill>
                <a:latin typeface="Arial"/>
                <a:ea typeface="Arial"/>
                <a:cs typeface="Arial"/>
                <a:sym typeface="Arial"/>
              </a:rPr>
              <a:t>EfficientNet-B0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r0_c1.png" id="516" name="Google Shape;516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2087117" y="2011680"/>
            <a:ext cx="1188720" cy="1188720"/>
          </a:xfrm>
          <a:prstGeom prst="rect">
            <a:avLst/>
          </a:prstGeom>
          <a:noFill/>
          <a:ln>
            <a:noFill/>
          </a:ln>
        </p:spPr>
      </p:pic>
      <p:sp>
        <p:nvSpPr>
          <p:cNvPr id="517" name="Google Shape;517;p19"/>
          <p:cNvSpPr txBox="1"/>
          <p:nvPr/>
        </p:nvSpPr>
        <p:spPr>
          <a:xfrm>
            <a:off x="2041398" y="3218688"/>
            <a:ext cx="1280160" cy="310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27425" spcFirstLastPara="1" rIns="27425" wrap="square" tIns="1827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0" i="0" lang="en-US" sz="900" u="none" cap="none" strike="noStrike">
                <a:solidFill>
                  <a:srgbClr val="5C6778"/>
                </a:solidFill>
                <a:latin typeface="Arial"/>
                <a:ea typeface="Arial"/>
                <a:cs typeface="Arial"/>
                <a:sym typeface="Arial"/>
              </a:rPr>
              <a:t>P(fake) 0.023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r1_c1.png" id="518" name="Google Shape;518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2087117" y="3520440"/>
            <a:ext cx="1188720" cy="1188720"/>
          </a:xfrm>
          <a:prstGeom prst="rect">
            <a:avLst/>
          </a:prstGeom>
          <a:noFill/>
          <a:ln>
            <a:noFill/>
          </a:ln>
        </p:spPr>
      </p:pic>
      <p:sp>
        <p:nvSpPr>
          <p:cNvPr id="519" name="Google Shape;519;p19"/>
          <p:cNvSpPr txBox="1"/>
          <p:nvPr/>
        </p:nvSpPr>
        <p:spPr>
          <a:xfrm>
            <a:off x="2041398" y="4727448"/>
            <a:ext cx="1280160" cy="310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27425" spcFirstLastPara="1" rIns="27425" wrap="square" tIns="1827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0" i="0" lang="en-US" sz="900" u="none" cap="none" strike="noStrike">
                <a:solidFill>
                  <a:srgbClr val="5C6778"/>
                </a:solidFill>
                <a:latin typeface="Arial"/>
                <a:ea typeface="Arial"/>
                <a:cs typeface="Arial"/>
                <a:sym typeface="Arial"/>
              </a:rPr>
              <a:t>P(fake) 1.000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20" name="Google Shape;520;p19"/>
          <p:cNvSpPr txBox="1"/>
          <p:nvPr/>
        </p:nvSpPr>
        <p:spPr>
          <a:xfrm>
            <a:off x="3378708" y="1719072"/>
            <a:ext cx="1280160" cy="310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27425" spcFirstLastPara="1" rIns="27425" wrap="square" tIns="1827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1" i="0" lang="en-US" sz="1000" u="none" cap="none" strike="noStrike">
                <a:solidFill>
                  <a:srgbClr val="121E34"/>
                </a:solidFill>
                <a:latin typeface="Arial"/>
                <a:ea typeface="Arial"/>
                <a:cs typeface="Arial"/>
                <a:sym typeface="Arial"/>
              </a:rPr>
              <a:t>ResNet-50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r0_c2.png" id="521" name="Google Shape;521;p19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3424427" y="2011680"/>
            <a:ext cx="1188720" cy="1188720"/>
          </a:xfrm>
          <a:prstGeom prst="rect">
            <a:avLst/>
          </a:prstGeom>
          <a:noFill/>
          <a:ln>
            <a:noFill/>
          </a:ln>
        </p:spPr>
      </p:pic>
      <p:sp>
        <p:nvSpPr>
          <p:cNvPr id="522" name="Google Shape;522;p19"/>
          <p:cNvSpPr txBox="1"/>
          <p:nvPr/>
        </p:nvSpPr>
        <p:spPr>
          <a:xfrm>
            <a:off x="3378708" y="3218688"/>
            <a:ext cx="1280160" cy="310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27425" spcFirstLastPara="1" rIns="27425" wrap="square" tIns="1827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0" i="0" lang="en-US" sz="900" u="none" cap="none" strike="noStrike">
                <a:solidFill>
                  <a:srgbClr val="5C6778"/>
                </a:solidFill>
                <a:latin typeface="Arial"/>
                <a:ea typeface="Arial"/>
                <a:cs typeface="Arial"/>
                <a:sym typeface="Arial"/>
              </a:rPr>
              <a:t>P(fake) 0.002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r1_c2.png" id="523" name="Google Shape;523;p19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3424427" y="3520440"/>
            <a:ext cx="1188720" cy="1188720"/>
          </a:xfrm>
          <a:prstGeom prst="rect">
            <a:avLst/>
          </a:prstGeom>
          <a:noFill/>
          <a:ln>
            <a:noFill/>
          </a:ln>
        </p:spPr>
      </p:pic>
      <p:sp>
        <p:nvSpPr>
          <p:cNvPr id="524" name="Google Shape;524;p19"/>
          <p:cNvSpPr txBox="1"/>
          <p:nvPr/>
        </p:nvSpPr>
        <p:spPr>
          <a:xfrm>
            <a:off x="3378708" y="4727448"/>
            <a:ext cx="1280160" cy="310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27425" spcFirstLastPara="1" rIns="27425" wrap="square" tIns="1827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0" i="0" lang="en-US" sz="900" u="none" cap="none" strike="noStrike">
                <a:solidFill>
                  <a:srgbClr val="5C6778"/>
                </a:solidFill>
                <a:latin typeface="Arial"/>
                <a:ea typeface="Arial"/>
                <a:cs typeface="Arial"/>
                <a:sym typeface="Arial"/>
              </a:rPr>
              <a:t>P(fake) 1.000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25" name="Google Shape;525;p19"/>
          <p:cNvSpPr txBox="1"/>
          <p:nvPr/>
        </p:nvSpPr>
        <p:spPr>
          <a:xfrm>
            <a:off x="4716018" y="1719072"/>
            <a:ext cx="1280160" cy="310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27425" spcFirstLastPara="1" rIns="27425" wrap="square" tIns="1827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1" i="0" lang="en-US" sz="1000" u="none" cap="none" strike="noStrike">
                <a:solidFill>
                  <a:srgbClr val="121E34"/>
                </a:solidFill>
                <a:latin typeface="Arial"/>
                <a:ea typeface="Arial"/>
                <a:cs typeface="Arial"/>
                <a:sym typeface="Arial"/>
              </a:rPr>
              <a:t>Xception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r0_c3.png" id="526" name="Google Shape;526;p19"/>
          <p:cNvPicPr preferRelativeResize="0"/>
          <p:nvPr/>
        </p:nvPicPr>
        <p:blipFill rotWithShape="1">
          <a:blip r:embed="rId9">
            <a:alphaModFix/>
          </a:blip>
          <a:srcRect b="0" l="0" r="0" t="0"/>
          <a:stretch/>
        </p:blipFill>
        <p:spPr>
          <a:xfrm>
            <a:off x="4761738" y="2011680"/>
            <a:ext cx="1188720" cy="1188720"/>
          </a:xfrm>
          <a:prstGeom prst="rect">
            <a:avLst/>
          </a:prstGeom>
          <a:noFill/>
          <a:ln>
            <a:noFill/>
          </a:ln>
        </p:spPr>
      </p:pic>
      <p:sp>
        <p:nvSpPr>
          <p:cNvPr id="527" name="Google Shape;527;p19"/>
          <p:cNvSpPr txBox="1"/>
          <p:nvPr/>
        </p:nvSpPr>
        <p:spPr>
          <a:xfrm>
            <a:off x="4716018" y="3218688"/>
            <a:ext cx="1280160" cy="310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27425" spcFirstLastPara="1" rIns="27425" wrap="square" tIns="1827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0" i="0" lang="en-US" sz="900" u="none" cap="none" strike="noStrike">
                <a:solidFill>
                  <a:srgbClr val="5C6778"/>
                </a:solidFill>
                <a:latin typeface="Arial"/>
                <a:ea typeface="Arial"/>
                <a:cs typeface="Arial"/>
                <a:sym typeface="Arial"/>
              </a:rPr>
              <a:t>P(fake) 0.000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r1_c3.png" id="528" name="Google Shape;528;p19"/>
          <p:cNvPicPr preferRelativeResize="0"/>
          <p:nvPr/>
        </p:nvPicPr>
        <p:blipFill rotWithShape="1">
          <a:blip r:embed="rId10">
            <a:alphaModFix/>
          </a:blip>
          <a:srcRect b="0" l="0" r="0" t="0"/>
          <a:stretch/>
        </p:blipFill>
        <p:spPr>
          <a:xfrm>
            <a:off x="4761738" y="3520440"/>
            <a:ext cx="1188720" cy="1188720"/>
          </a:xfrm>
          <a:prstGeom prst="rect">
            <a:avLst/>
          </a:prstGeom>
          <a:noFill/>
          <a:ln>
            <a:noFill/>
          </a:ln>
        </p:spPr>
      </p:pic>
      <p:sp>
        <p:nvSpPr>
          <p:cNvPr id="529" name="Google Shape;529;p19"/>
          <p:cNvSpPr txBox="1"/>
          <p:nvPr/>
        </p:nvSpPr>
        <p:spPr>
          <a:xfrm>
            <a:off x="4716018" y="4727448"/>
            <a:ext cx="1280160" cy="310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27425" spcFirstLastPara="1" rIns="27425" wrap="square" tIns="1827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0" i="0" lang="en-US" sz="900" u="none" cap="none" strike="noStrike">
                <a:solidFill>
                  <a:srgbClr val="5C6778"/>
                </a:solidFill>
                <a:latin typeface="Arial"/>
                <a:ea typeface="Arial"/>
                <a:cs typeface="Arial"/>
                <a:sym typeface="Arial"/>
              </a:rPr>
              <a:t>P(fake) 1.000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30" name="Google Shape;530;p19"/>
          <p:cNvSpPr txBox="1"/>
          <p:nvPr/>
        </p:nvSpPr>
        <p:spPr>
          <a:xfrm>
            <a:off x="6053328" y="1719072"/>
            <a:ext cx="1280160" cy="310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27425" spcFirstLastPara="1" rIns="27425" wrap="square" tIns="1827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1" i="0" lang="en-US" sz="1000" u="none" cap="none" strike="noStrike">
                <a:solidFill>
                  <a:srgbClr val="121E34"/>
                </a:solidFill>
                <a:latin typeface="Arial"/>
                <a:ea typeface="Arial"/>
                <a:cs typeface="Arial"/>
                <a:sym typeface="Arial"/>
              </a:rPr>
              <a:t>ConvNeXt-Tiny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r0_c4.png" id="531" name="Google Shape;531;p19"/>
          <p:cNvPicPr preferRelativeResize="0"/>
          <p:nvPr/>
        </p:nvPicPr>
        <p:blipFill rotWithShape="1">
          <a:blip r:embed="rId11">
            <a:alphaModFix/>
          </a:blip>
          <a:srcRect b="0" l="0" r="0" t="0"/>
          <a:stretch/>
        </p:blipFill>
        <p:spPr>
          <a:xfrm>
            <a:off x="6099048" y="2011680"/>
            <a:ext cx="1188720" cy="1188720"/>
          </a:xfrm>
          <a:prstGeom prst="rect">
            <a:avLst/>
          </a:prstGeom>
          <a:noFill/>
          <a:ln>
            <a:noFill/>
          </a:ln>
        </p:spPr>
      </p:pic>
      <p:sp>
        <p:nvSpPr>
          <p:cNvPr id="532" name="Google Shape;532;p19"/>
          <p:cNvSpPr txBox="1"/>
          <p:nvPr/>
        </p:nvSpPr>
        <p:spPr>
          <a:xfrm>
            <a:off x="6053328" y="3218688"/>
            <a:ext cx="1280160" cy="310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27425" spcFirstLastPara="1" rIns="27425" wrap="square" tIns="1827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0" i="0" lang="en-US" sz="900" u="none" cap="none" strike="noStrike">
                <a:solidFill>
                  <a:srgbClr val="5C6778"/>
                </a:solidFill>
                <a:latin typeface="Arial"/>
                <a:ea typeface="Arial"/>
                <a:cs typeface="Arial"/>
                <a:sym typeface="Arial"/>
              </a:rPr>
              <a:t>P(fake) 0.065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r1_c4.png" id="533" name="Google Shape;533;p19"/>
          <p:cNvPicPr preferRelativeResize="0"/>
          <p:nvPr/>
        </p:nvPicPr>
        <p:blipFill rotWithShape="1">
          <a:blip r:embed="rId12">
            <a:alphaModFix/>
          </a:blip>
          <a:srcRect b="0" l="0" r="0" t="0"/>
          <a:stretch/>
        </p:blipFill>
        <p:spPr>
          <a:xfrm>
            <a:off x="6099048" y="3520440"/>
            <a:ext cx="1188720" cy="1188720"/>
          </a:xfrm>
          <a:prstGeom prst="rect">
            <a:avLst/>
          </a:prstGeom>
          <a:noFill/>
          <a:ln>
            <a:noFill/>
          </a:ln>
        </p:spPr>
      </p:pic>
      <p:sp>
        <p:nvSpPr>
          <p:cNvPr id="534" name="Google Shape;534;p19"/>
          <p:cNvSpPr txBox="1"/>
          <p:nvPr/>
        </p:nvSpPr>
        <p:spPr>
          <a:xfrm>
            <a:off x="6053328" y="4727448"/>
            <a:ext cx="1280160" cy="310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27425" spcFirstLastPara="1" rIns="27425" wrap="square" tIns="1827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0" i="0" lang="en-US" sz="900" u="none" cap="none" strike="noStrike">
                <a:solidFill>
                  <a:srgbClr val="5C6778"/>
                </a:solidFill>
                <a:latin typeface="Arial"/>
                <a:ea typeface="Arial"/>
                <a:cs typeface="Arial"/>
                <a:sym typeface="Arial"/>
              </a:rPr>
              <a:t>P(fake) 1.000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35" name="Google Shape;535;p19"/>
          <p:cNvSpPr txBox="1"/>
          <p:nvPr/>
        </p:nvSpPr>
        <p:spPr>
          <a:xfrm>
            <a:off x="7390638" y="1719072"/>
            <a:ext cx="1280160" cy="310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27425" spcFirstLastPara="1" rIns="27425" wrap="square" tIns="1827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1" i="0" lang="en-US" sz="1000" u="none" cap="none" strike="noStrike">
                <a:solidFill>
                  <a:srgbClr val="121E34"/>
                </a:solidFill>
                <a:latin typeface="Arial"/>
                <a:ea typeface="Arial"/>
                <a:cs typeface="Arial"/>
                <a:sym typeface="Arial"/>
              </a:rPr>
              <a:t>Swin-Tiny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r0_c5.png" id="536" name="Google Shape;536;p19"/>
          <p:cNvPicPr preferRelativeResize="0"/>
          <p:nvPr/>
        </p:nvPicPr>
        <p:blipFill rotWithShape="1">
          <a:blip r:embed="rId13">
            <a:alphaModFix/>
          </a:blip>
          <a:srcRect b="0" l="0" r="0" t="0"/>
          <a:stretch/>
        </p:blipFill>
        <p:spPr>
          <a:xfrm>
            <a:off x="7436358" y="2011680"/>
            <a:ext cx="1188720" cy="1188720"/>
          </a:xfrm>
          <a:prstGeom prst="rect">
            <a:avLst/>
          </a:prstGeom>
          <a:noFill/>
          <a:ln>
            <a:noFill/>
          </a:ln>
        </p:spPr>
      </p:pic>
      <p:sp>
        <p:nvSpPr>
          <p:cNvPr id="537" name="Google Shape;537;p19"/>
          <p:cNvSpPr txBox="1"/>
          <p:nvPr/>
        </p:nvSpPr>
        <p:spPr>
          <a:xfrm>
            <a:off x="7390638" y="3218688"/>
            <a:ext cx="1280160" cy="310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27425" spcFirstLastPara="1" rIns="27425" wrap="square" tIns="1827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0" i="0" lang="en-US" sz="900" u="none" cap="none" strike="noStrike">
                <a:solidFill>
                  <a:srgbClr val="5C6778"/>
                </a:solidFill>
                <a:latin typeface="Arial"/>
                <a:ea typeface="Arial"/>
                <a:cs typeface="Arial"/>
                <a:sym typeface="Arial"/>
              </a:rPr>
              <a:t>P(fake) 0.000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r1_c5.png" id="538" name="Google Shape;538;p19"/>
          <p:cNvPicPr preferRelativeResize="0"/>
          <p:nvPr/>
        </p:nvPicPr>
        <p:blipFill rotWithShape="1">
          <a:blip r:embed="rId14">
            <a:alphaModFix/>
          </a:blip>
          <a:srcRect b="0" l="0" r="0" t="0"/>
          <a:stretch/>
        </p:blipFill>
        <p:spPr>
          <a:xfrm>
            <a:off x="7436358" y="3520440"/>
            <a:ext cx="1188720" cy="1188720"/>
          </a:xfrm>
          <a:prstGeom prst="rect">
            <a:avLst/>
          </a:prstGeom>
          <a:noFill/>
          <a:ln>
            <a:noFill/>
          </a:ln>
        </p:spPr>
      </p:pic>
      <p:sp>
        <p:nvSpPr>
          <p:cNvPr id="539" name="Google Shape;539;p19"/>
          <p:cNvSpPr txBox="1"/>
          <p:nvPr/>
        </p:nvSpPr>
        <p:spPr>
          <a:xfrm>
            <a:off x="7390638" y="4727448"/>
            <a:ext cx="1280160" cy="310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27425" spcFirstLastPara="1" rIns="27425" wrap="square" tIns="1827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0" i="0" lang="en-US" sz="900" u="none" cap="none" strike="noStrike">
                <a:solidFill>
                  <a:srgbClr val="5C6778"/>
                </a:solidFill>
                <a:latin typeface="Arial"/>
                <a:ea typeface="Arial"/>
                <a:cs typeface="Arial"/>
                <a:sym typeface="Arial"/>
              </a:rPr>
              <a:t>P(fake) 1.000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40" name="Google Shape;540;p19"/>
          <p:cNvSpPr txBox="1"/>
          <p:nvPr/>
        </p:nvSpPr>
        <p:spPr>
          <a:xfrm>
            <a:off x="8727947" y="1719072"/>
            <a:ext cx="1280160" cy="310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27425" spcFirstLastPara="1" rIns="27425" wrap="square" tIns="1827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1" i="0" lang="en-US" sz="1000" u="none" cap="none" strike="noStrike">
                <a:solidFill>
                  <a:srgbClr val="121E34"/>
                </a:solidFill>
                <a:latin typeface="Arial"/>
                <a:ea typeface="Arial"/>
                <a:cs typeface="Arial"/>
                <a:sym typeface="Arial"/>
              </a:rPr>
              <a:t>EfficientNet-B4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r0_c6.png" id="541" name="Google Shape;541;p19"/>
          <p:cNvPicPr preferRelativeResize="0"/>
          <p:nvPr/>
        </p:nvPicPr>
        <p:blipFill rotWithShape="1">
          <a:blip r:embed="rId15">
            <a:alphaModFix/>
          </a:blip>
          <a:srcRect b="0" l="0" r="0" t="0"/>
          <a:stretch/>
        </p:blipFill>
        <p:spPr>
          <a:xfrm>
            <a:off x="8773667" y="2011680"/>
            <a:ext cx="1188720" cy="1188720"/>
          </a:xfrm>
          <a:prstGeom prst="rect">
            <a:avLst/>
          </a:prstGeom>
          <a:noFill/>
          <a:ln>
            <a:noFill/>
          </a:ln>
        </p:spPr>
      </p:pic>
      <p:sp>
        <p:nvSpPr>
          <p:cNvPr id="542" name="Google Shape;542;p19"/>
          <p:cNvSpPr txBox="1"/>
          <p:nvPr/>
        </p:nvSpPr>
        <p:spPr>
          <a:xfrm>
            <a:off x="8727947" y="3218688"/>
            <a:ext cx="1280160" cy="310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27425" spcFirstLastPara="1" rIns="27425" wrap="square" tIns="1827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0" i="0" lang="en-US" sz="900" u="none" cap="none" strike="noStrike">
                <a:solidFill>
                  <a:srgbClr val="5C6778"/>
                </a:solidFill>
                <a:latin typeface="Arial"/>
                <a:ea typeface="Arial"/>
                <a:cs typeface="Arial"/>
                <a:sym typeface="Arial"/>
              </a:rPr>
              <a:t>P(fake) 0.004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r1_c6.png" id="543" name="Google Shape;543;p19"/>
          <p:cNvPicPr preferRelativeResize="0"/>
          <p:nvPr/>
        </p:nvPicPr>
        <p:blipFill rotWithShape="1">
          <a:blip r:embed="rId16">
            <a:alphaModFix/>
          </a:blip>
          <a:srcRect b="0" l="0" r="0" t="0"/>
          <a:stretch/>
        </p:blipFill>
        <p:spPr>
          <a:xfrm>
            <a:off x="8773667" y="3520440"/>
            <a:ext cx="1188720" cy="1188720"/>
          </a:xfrm>
          <a:prstGeom prst="rect">
            <a:avLst/>
          </a:prstGeom>
          <a:noFill/>
          <a:ln>
            <a:noFill/>
          </a:ln>
        </p:spPr>
      </p:pic>
      <p:sp>
        <p:nvSpPr>
          <p:cNvPr id="544" name="Google Shape;544;p19"/>
          <p:cNvSpPr txBox="1"/>
          <p:nvPr/>
        </p:nvSpPr>
        <p:spPr>
          <a:xfrm>
            <a:off x="8727947" y="4727448"/>
            <a:ext cx="1280160" cy="310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27425" spcFirstLastPara="1" rIns="27425" wrap="square" tIns="1827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0" i="0" lang="en-US" sz="900" u="none" cap="none" strike="noStrike">
                <a:solidFill>
                  <a:srgbClr val="5C6778"/>
                </a:solidFill>
                <a:latin typeface="Arial"/>
                <a:ea typeface="Arial"/>
                <a:cs typeface="Arial"/>
                <a:sym typeface="Arial"/>
              </a:rPr>
              <a:t>P(fake) 1.000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45" name="Google Shape;545;p19"/>
          <p:cNvSpPr txBox="1"/>
          <p:nvPr/>
        </p:nvSpPr>
        <p:spPr>
          <a:xfrm>
            <a:off x="10065257" y="1719072"/>
            <a:ext cx="1280160" cy="310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27425" spcFirstLastPara="1" rIns="27425" wrap="square" tIns="1827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1" i="0" lang="en-US" sz="1000" u="none" cap="none" strike="noStrike">
                <a:solidFill>
                  <a:srgbClr val="121E34"/>
                </a:solidFill>
                <a:latin typeface="Arial"/>
                <a:ea typeface="Arial"/>
                <a:cs typeface="Arial"/>
                <a:sym typeface="Arial"/>
              </a:rPr>
              <a:t>CLIP ViT-B/16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r0_c7.png" id="546" name="Google Shape;546;p19"/>
          <p:cNvPicPr preferRelativeResize="0"/>
          <p:nvPr/>
        </p:nvPicPr>
        <p:blipFill rotWithShape="1">
          <a:blip r:embed="rId17">
            <a:alphaModFix/>
          </a:blip>
          <a:srcRect b="0" l="0" r="0" t="0"/>
          <a:stretch/>
        </p:blipFill>
        <p:spPr>
          <a:xfrm>
            <a:off x="10110978" y="2011680"/>
            <a:ext cx="1188720" cy="1188720"/>
          </a:xfrm>
          <a:prstGeom prst="rect">
            <a:avLst/>
          </a:prstGeom>
          <a:noFill/>
          <a:ln>
            <a:noFill/>
          </a:ln>
        </p:spPr>
      </p:pic>
      <p:sp>
        <p:nvSpPr>
          <p:cNvPr id="547" name="Google Shape;547;p19"/>
          <p:cNvSpPr txBox="1"/>
          <p:nvPr/>
        </p:nvSpPr>
        <p:spPr>
          <a:xfrm>
            <a:off x="10065257" y="3218688"/>
            <a:ext cx="1280160" cy="310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27425" spcFirstLastPara="1" rIns="27425" wrap="square" tIns="1827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0" i="0" lang="en-US" sz="900" u="none" cap="none" strike="noStrike">
                <a:solidFill>
                  <a:srgbClr val="5C6778"/>
                </a:solidFill>
                <a:latin typeface="Arial"/>
                <a:ea typeface="Arial"/>
                <a:cs typeface="Arial"/>
                <a:sym typeface="Arial"/>
              </a:rPr>
              <a:t>P(fake) 0.000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r1_c7.png" id="548" name="Google Shape;548;p19"/>
          <p:cNvPicPr preferRelativeResize="0"/>
          <p:nvPr/>
        </p:nvPicPr>
        <p:blipFill rotWithShape="1">
          <a:blip r:embed="rId18">
            <a:alphaModFix/>
          </a:blip>
          <a:srcRect b="0" l="0" r="0" t="0"/>
          <a:stretch/>
        </p:blipFill>
        <p:spPr>
          <a:xfrm>
            <a:off x="10110978" y="3520440"/>
            <a:ext cx="1188720" cy="1188720"/>
          </a:xfrm>
          <a:prstGeom prst="rect">
            <a:avLst/>
          </a:prstGeom>
          <a:noFill/>
          <a:ln>
            <a:noFill/>
          </a:ln>
        </p:spPr>
      </p:pic>
      <p:sp>
        <p:nvSpPr>
          <p:cNvPr id="549" name="Google Shape;549;p19"/>
          <p:cNvSpPr txBox="1"/>
          <p:nvPr/>
        </p:nvSpPr>
        <p:spPr>
          <a:xfrm>
            <a:off x="10065257" y="4727448"/>
            <a:ext cx="1280160" cy="310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27425" spcFirstLastPara="1" rIns="27425" wrap="square" tIns="1827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0" i="0" lang="en-US" sz="900" u="none" cap="none" strike="noStrike">
                <a:solidFill>
                  <a:srgbClr val="5C6778"/>
                </a:solidFill>
                <a:latin typeface="Arial"/>
                <a:ea typeface="Arial"/>
                <a:cs typeface="Arial"/>
                <a:sym typeface="Arial"/>
              </a:rPr>
              <a:t>P(fake) 0.995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553" name="Shape 5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4" name="Google Shape;554;p20"/>
          <p:cNvSpPr txBox="1"/>
          <p:nvPr/>
        </p:nvSpPr>
        <p:spPr>
          <a:xfrm>
            <a:off x="658368" y="237744"/>
            <a:ext cx="36576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27425" spcFirstLastPara="1" rIns="27425" wrap="square" tIns="182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1" i="0" lang="en-US" sz="1100" u="none" cap="none" strike="noStrike">
                <a:solidFill>
                  <a:srgbClr val="F56736"/>
                </a:solidFill>
                <a:latin typeface="Arial"/>
                <a:ea typeface="Arial"/>
                <a:cs typeface="Arial"/>
                <a:sym typeface="Arial"/>
              </a:rPr>
              <a:t>STEP 3 — EVALUATION AND DEMO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55" name="Google Shape;555;p20"/>
          <p:cNvSpPr txBox="1"/>
          <p:nvPr/>
        </p:nvSpPr>
        <p:spPr>
          <a:xfrm>
            <a:off x="658368" y="594360"/>
            <a:ext cx="1078992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27425" spcFirstLastPara="1" rIns="27425" wrap="square" tIns="182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600"/>
              <a:buFont typeface="Arial"/>
              <a:buNone/>
            </a:pPr>
            <a:r>
              <a:rPr b="1" i="0" lang="en-US" sz="2600" u="none" cap="none" strike="noStrike">
                <a:solidFill>
                  <a:srgbClr val="121E34"/>
                </a:solidFill>
                <a:latin typeface="Arial"/>
                <a:ea typeface="Arial"/>
                <a:cs typeface="Arial"/>
                <a:sym typeface="Arial"/>
              </a:rPr>
              <a:t>Full video demo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56" name="Google Shape;556;p20"/>
          <p:cNvSpPr txBox="1"/>
          <p:nvPr/>
        </p:nvSpPr>
        <p:spPr>
          <a:xfrm>
            <a:off x="658368" y="1060704"/>
            <a:ext cx="10789920" cy="310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27425" spcFirstLastPara="1" rIns="27425" wrap="square" tIns="182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0" i="0" lang="en-US" sz="1300" u="none" cap="none" strike="noStrike">
                <a:solidFill>
                  <a:srgbClr val="5C6778"/>
                </a:solidFill>
                <a:latin typeface="Arial"/>
                <a:ea typeface="Arial"/>
                <a:cs typeface="Arial"/>
                <a:sym typeface="Arial"/>
              </a:rPr>
              <a:t>Two complete videos were passed through the final pipeline with ConvNeXt-Tiny.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57" name="Google Shape;557;p20"/>
          <p:cNvSpPr/>
          <p:nvPr/>
        </p:nvSpPr>
        <p:spPr>
          <a:xfrm>
            <a:off x="658368" y="1527048"/>
            <a:ext cx="10881360" cy="16459"/>
          </a:xfrm>
          <a:prstGeom prst="rect">
            <a:avLst/>
          </a:prstGeom>
          <a:solidFill>
            <a:srgbClr val="DCE2EA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58" name="Google Shape;558;p20"/>
          <p:cNvSpPr/>
          <p:nvPr/>
        </p:nvSpPr>
        <p:spPr>
          <a:xfrm>
            <a:off x="658368" y="1828800"/>
            <a:ext cx="6812280" cy="4069080"/>
          </a:xfrm>
          <a:prstGeom prst="roundRect">
            <a:avLst>
              <a:gd fmla="val 16667" name="adj"/>
            </a:avLst>
          </a:prstGeom>
          <a:solidFill>
            <a:srgbClr val="F7F9FC"/>
          </a:solidFill>
          <a:ln cap="flat" cmpd="sng" w="9525">
            <a:solidFill>
              <a:srgbClr val="DCE2EA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59" name="Google Shape;559;p20"/>
          <p:cNvSpPr txBox="1"/>
          <p:nvPr/>
        </p:nvSpPr>
        <p:spPr>
          <a:xfrm>
            <a:off x="914400" y="2048256"/>
            <a:ext cx="18288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27425" spcFirstLastPara="1" rIns="27425" wrap="square" tIns="182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1" i="0" lang="en-US" sz="1100" u="none" cap="none" strike="noStrike">
                <a:solidFill>
                  <a:srgbClr val="F56736"/>
                </a:solidFill>
                <a:latin typeface="Arial"/>
                <a:ea typeface="Arial"/>
                <a:cs typeface="Arial"/>
                <a:sym typeface="Arial"/>
              </a:rPr>
              <a:t>DEMO OUTPUT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60" name="Google Shape;560;p20"/>
          <p:cNvSpPr txBox="1"/>
          <p:nvPr/>
        </p:nvSpPr>
        <p:spPr>
          <a:xfrm>
            <a:off x="914400" y="2359152"/>
            <a:ext cx="598932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27425" spcFirstLastPara="1" rIns="27425" wrap="square" tIns="182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1" i="0" lang="en-US" sz="2000" u="none" cap="none" strike="noStrike">
                <a:solidFill>
                  <a:srgbClr val="121E34"/>
                </a:solidFill>
                <a:latin typeface="Arial"/>
                <a:ea typeface="Arial"/>
                <a:cs typeface="Arial"/>
                <a:sym typeface="Arial"/>
              </a:rPr>
              <a:t>Both sample videos were predicted correctly.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61" name="Google Shape;561;p20"/>
          <p:cNvSpPr/>
          <p:nvPr/>
        </p:nvSpPr>
        <p:spPr>
          <a:xfrm>
            <a:off x="914400" y="2852928"/>
            <a:ext cx="6309360" cy="1078992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9525">
            <a:solidFill>
              <a:srgbClr val="DCE2EA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62" name="Google Shape;562;p20"/>
          <p:cNvSpPr txBox="1"/>
          <p:nvPr/>
        </p:nvSpPr>
        <p:spPr>
          <a:xfrm>
            <a:off x="960120" y="4261104"/>
            <a:ext cx="2651760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27425" spcFirstLastPara="1" rIns="27425" wrap="square" tIns="182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1" i="0" lang="en-US" sz="1400" u="none" cap="none" strike="noStrike">
                <a:solidFill>
                  <a:srgbClr val="1A9769"/>
                </a:solidFill>
                <a:latin typeface="Arial"/>
                <a:ea typeface="Arial"/>
                <a:cs typeface="Arial"/>
                <a:sym typeface="Arial"/>
              </a:rPr>
              <a:t>REAL: 0.00003 → REAL ✓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63" name="Google Shape;563;p20"/>
          <p:cNvSpPr txBox="1"/>
          <p:nvPr/>
        </p:nvSpPr>
        <p:spPr>
          <a:xfrm>
            <a:off x="3913632" y="4261104"/>
            <a:ext cx="2651760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27425" spcFirstLastPara="1" rIns="27425" wrap="square" tIns="182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1" i="0" lang="en-US" sz="1400" u="none" cap="none" strike="noStrike">
                <a:solidFill>
                  <a:srgbClr val="F56736"/>
                </a:solidFill>
                <a:latin typeface="Arial"/>
                <a:ea typeface="Arial"/>
                <a:cs typeface="Arial"/>
                <a:sym typeface="Arial"/>
              </a:rPr>
              <a:t>FAKE: 0.8717 → FAKE ✓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64" name="Google Shape;564;p20"/>
          <p:cNvSpPr txBox="1"/>
          <p:nvPr/>
        </p:nvSpPr>
        <p:spPr>
          <a:xfrm>
            <a:off x="960120" y="4773168"/>
            <a:ext cx="5943600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27425" spcFirstLastPara="1" rIns="27425" wrap="square" tIns="182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0" i="0" lang="en-US" sz="1200" u="none" cap="none" strike="noStrike">
                <a:solidFill>
                  <a:srgbClr val="5C6778"/>
                </a:solidFill>
                <a:latin typeface="Arial"/>
                <a:ea typeface="Arial"/>
                <a:cs typeface="Arial"/>
                <a:sym typeface="Arial"/>
              </a:rPr>
              <a:t>32 evenly spaced frames per video, one face from each; P(fake) is their average. The first video took 18 s because it also loaded the face detector.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65" name="Google Shape;565;p20"/>
          <p:cNvSpPr/>
          <p:nvPr/>
        </p:nvSpPr>
        <p:spPr>
          <a:xfrm>
            <a:off x="7818120" y="1828800"/>
            <a:ext cx="1572768" cy="1024128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9525">
            <a:solidFill>
              <a:srgbClr val="DCE2EA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66" name="Google Shape;566;p20"/>
          <p:cNvSpPr/>
          <p:nvPr/>
        </p:nvSpPr>
        <p:spPr>
          <a:xfrm>
            <a:off x="7818120" y="1828800"/>
            <a:ext cx="64008" cy="1024128"/>
          </a:xfrm>
          <a:prstGeom prst="rect">
            <a:avLst/>
          </a:prstGeom>
          <a:solidFill>
            <a:srgbClr val="1A9769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67" name="Google Shape;567;p20"/>
          <p:cNvSpPr txBox="1"/>
          <p:nvPr/>
        </p:nvSpPr>
        <p:spPr>
          <a:xfrm>
            <a:off x="8037576" y="1938528"/>
            <a:ext cx="1243584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27425" spcFirstLastPara="1" rIns="27425" wrap="square" tIns="182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100"/>
              <a:buFont typeface="Arial"/>
              <a:buNone/>
            </a:pPr>
            <a:r>
              <a:rPr b="1" i="0" lang="en-US" sz="2100" u="none" cap="none" strike="noStrike">
                <a:solidFill>
                  <a:srgbClr val="121E34"/>
                </a:solidFill>
                <a:latin typeface="Arial"/>
                <a:ea typeface="Arial"/>
                <a:cs typeface="Arial"/>
                <a:sym typeface="Arial"/>
              </a:rPr>
              <a:t>REAL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68" name="Google Shape;568;p20"/>
          <p:cNvSpPr txBox="1"/>
          <p:nvPr/>
        </p:nvSpPr>
        <p:spPr>
          <a:xfrm>
            <a:off x="8037576" y="2340864"/>
            <a:ext cx="1243584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18275" lIns="27425" spcFirstLastPara="1" rIns="27425" wrap="square" tIns="182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0" i="0" lang="en-US" sz="1100" u="none" cap="none" strike="noStrike">
                <a:solidFill>
                  <a:srgbClr val="5C6778"/>
                </a:solidFill>
                <a:latin typeface="Arial"/>
                <a:ea typeface="Arial"/>
                <a:cs typeface="Arial"/>
                <a:sym typeface="Arial"/>
              </a:rPr>
              <a:t>demo 1 correct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69" name="Google Shape;569;p20"/>
          <p:cNvSpPr/>
          <p:nvPr/>
        </p:nvSpPr>
        <p:spPr>
          <a:xfrm>
            <a:off x="9646920" y="1828800"/>
            <a:ext cx="1572768" cy="1024128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9525">
            <a:solidFill>
              <a:srgbClr val="DCE2EA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70" name="Google Shape;570;p20"/>
          <p:cNvSpPr/>
          <p:nvPr/>
        </p:nvSpPr>
        <p:spPr>
          <a:xfrm>
            <a:off x="9646920" y="1828800"/>
            <a:ext cx="64008" cy="1024128"/>
          </a:xfrm>
          <a:prstGeom prst="rect">
            <a:avLst/>
          </a:prstGeom>
          <a:solidFill>
            <a:srgbClr val="F56736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71" name="Google Shape;571;p20"/>
          <p:cNvSpPr txBox="1"/>
          <p:nvPr/>
        </p:nvSpPr>
        <p:spPr>
          <a:xfrm>
            <a:off x="9866376" y="1938528"/>
            <a:ext cx="1243584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27425" spcFirstLastPara="1" rIns="27425" wrap="square" tIns="182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100"/>
              <a:buFont typeface="Arial"/>
              <a:buNone/>
            </a:pPr>
            <a:r>
              <a:rPr b="1" i="0" lang="en-US" sz="2100" u="none" cap="none" strike="noStrike">
                <a:solidFill>
                  <a:srgbClr val="121E34"/>
                </a:solidFill>
                <a:latin typeface="Arial"/>
                <a:ea typeface="Arial"/>
                <a:cs typeface="Arial"/>
                <a:sym typeface="Arial"/>
              </a:rPr>
              <a:t>FAKE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72" name="Google Shape;572;p20"/>
          <p:cNvSpPr txBox="1"/>
          <p:nvPr/>
        </p:nvSpPr>
        <p:spPr>
          <a:xfrm>
            <a:off x="9866376" y="2340864"/>
            <a:ext cx="1243584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18275" lIns="27425" spcFirstLastPara="1" rIns="27425" wrap="square" tIns="182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0" i="0" lang="en-US" sz="1100" u="none" cap="none" strike="noStrike">
                <a:solidFill>
                  <a:srgbClr val="5C6778"/>
                </a:solidFill>
                <a:latin typeface="Arial"/>
                <a:ea typeface="Arial"/>
                <a:cs typeface="Arial"/>
                <a:sym typeface="Arial"/>
              </a:rPr>
              <a:t>demo 2 correct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73" name="Google Shape;573;p20"/>
          <p:cNvSpPr/>
          <p:nvPr/>
        </p:nvSpPr>
        <p:spPr>
          <a:xfrm>
            <a:off x="7818120" y="3108960"/>
            <a:ext cx="1572768" cy="1024128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9525">
            <a:solidFill>
              <a:srgbClr val="DCE2EA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74" name="Google Shape;574;p20"/>
          <p:cNvSpPr/>
          <p:nvPr/>
        </p:nvSpPr>
        <p:spPr>
          <a:xfrm>
            <a:off x="7818120" y="3108960"/>
            <a:ext cx="64008" cy="1024128"/>
          </a:xfrm>
          <a:prstGeom prst="rect">
            <a:avLst/>
          </a:prstGeom>
          <a:solidFill>
            <a:srgbClr val="3769BE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75" name="Google Shape;575;p20"/>
          <p:cNvSpPr txBox="1"/>
          <p:nvPr/>
        </p:nvSpPr>
        <p:spPr>
          <a:xfrm>
            <a:off x="8037576" y="3218688"/>
            <a:ext cx="1243584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27425" spcFirstLastPara="1" rIns="27425" wrap="square" tIns="182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100"/>
              <a:buFont typeface="Arial"/>
              <a:buNone/>
            </a:pPr>
            <a:r>
              <a:rPr b="1" i="0" lang="en-US" sz="2100" u="none" cap="none" strike="noStrike">
                <a:solidFill>
                  <a:srgbClr val="121E34"/>
                </a:solidFill>
                <a:latin typeface="Arial"/>
                <a:ea typeface="Arial"/>
                <a:cs typeface="Arial"/>
                <a:sym typeface="Arial"/>
              </a:rPr>
              <a:t>32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76" name="Google Shape;576;p20"/>
          <p:cNvSpPr txBox="1"/>
          <p:nvPr/>
        </p:nvSpPr>
        <p:spPr>
          <a:xfrm>
            <a:off x="8037576" y="3621024"/>
            <a:ext cx="1243584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18275" lIns="27425" spcFirstLastPara="1" rIns="27425" wrap="square" tIns="182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0" i="0" lang="en-US" sz="1100" u="none" cap="none" strike="noStrike">
                <a:solidFill>
                  <a:srgbClr val="5C6778"/>
                </a:solidFill>
                <a:latin typeface="Arial"/>
                <a:ea typeface="Arial"/>
                <a:cs typeface="Arial"/>
                <a:sym typeface="Arial"/>
              </a:rPr>
              <a:t>frames checked per video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77" name="Google Shape;577;p20"/>
          <p:cNvSpPr/>
          <p:nvPr/>
        </p:nvSpPr>
        <p:spPr>
          <a:xfrm>
            <a:off x="9646920" y="3108960"/>
            <a:ext cx="1572768" cy="1024128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9525">
            <a:solidFill>
              <a:srgbClr val="DCE2EA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78" name="Google Shape;578;p20"/>
          <p:cNvSpPr/>
          <p:nvPr/>
        </p:nvSpPr>
        <p:spPr>
          <a:xfrm>
            <a:off x="9646920" y="3108960"/>
            <a:ext cx="64008" cy="1024128"/>
          </a:xfrm>
          <a:prstGeom prst="rect">
            <a:avLst/>
          </a:prstGeom>
          <a:solidFill>
            <a:srgbClr val="2A96A0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79" name="Google Shape;579;p20"/>
          <p:cNvSpPr txBox="1"/>
          <p:nvPr/>
        </p:nvSpPr>
        <p:spPr>
          <a:xfrm>
            <a:off x="9866376" y="3218688"/>
            <a:ext cx="1243584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27425" spcFirstLastPara="1" rIns="27425" wrap="square" tIns="182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1" i="0" lang="en-US" sz="2000" u="none" cap="none" strike="noStrike">
                <a:solidFill>
                  <a:srgbClr val="121E34"/>
                </a:solidFill>
                <a:latin typeface="Arial"/>
                <a:ea typeface="Arial"/>
                <a:cs typeface="Arial"/>
                <a:sym typeface="Arial"/>
              </a:rPr>
              <a:t>1.6 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80" name="Google Shape;580;p20"/>
          <p:cNvSpPr txBox="1"/>
          <p:nvPr/>
        </p:nvSpPr>
        <p:spPr>
          <a:xfrm>
            <a:off x="9866376" y="3621024"/>
            <a:ext cx="1243584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18275" lIns="27425" spcFirstLastPara="1" rIns="27425" wrap="square" tIns="182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0" i="0" lang="en-US" sz="1100" u="none" cap="none" strike="noStrike">
                <a:solidFill>
                  <a:srgbClr val="5C6778"/>
                </a:solidFill>
                <a:latin typeface="Arial"/>
                <a:ea typeface="Arial"/>
                <a:cs typeface="Arial"/>
                <a:sym typeface="Arial"/>
              </a:rPr>
              <a:t>per video after warm-up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81" name="Google Shape;581;p20"/>
          <p:cNvSpPr/>
          <p:nvPr/>
        </p:nvSpPr>
        <p:spPr>
          <a:xfrm>
            <a:off x="7818120" y="4480560"/>
            <a:ext cx="3401568" cy="141732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9525">
            <a:solidFill>
              <a:srgbClr val="DCE2EA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82" name="Google Shape;582;p20"/>
          <p:cNvSpPr txBox="1"/>
          <p:nvPr/>
        </p:nvSpPr>
        <p:spPr>
          <a:xfrm>
            <a:off x="8065008" y="4700016"/>
            <a:ext cx="2286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27425" spcFirstLastPara="1" rIns="27425" wrap="square" tIns="182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1" i="0" lang="en-US" sz="1100" u="none" cap="none" strike="noStrike">
                <a:solidFill>
                  <a:srgbClr val="F56736"/>
                </a:solidFill>
                <a:latin typeface="Arial"/>
                <a:ea typeface="Arial"/>
                <a:cs typeface="Arial"/>
                <a:sym typeface="Arial"/>
              </a:rPr>
              <a:t>PROCESSING FLOW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83" name="Google Shape;583;p20"/>
          <p:cNvSpPr txBox="1"/>
          <p:nvPr/>
        </p:nvSpPr>
        <p:spPr>
          <a:xfrm>
            <a:off x="8065008" y="5029200"/>
            <a:ext cx="27432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27425" spcFirstLastPara="1" rIns="27425" wrap="square" tIns="182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0" lang="en-US" sz="1300" u="none" cap="none" strike="noStrike">
                <a:solidFill>
                  <a:srgbClr val="121E34"/>
                </a:solidFill>
                <a:latin typeface="Arial"/>
                <a:ea typeface="Arial"/>
                <a:cs typeface="Arial"/>
                <a:sym typeface="Arial"/>
              </a:rPr>
              <a:t>Video → faces → scores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84" name="Google Shape;584;p20"/>
          <p:cNvSpPr txBox="1"/>
          <p:nvPr/>
        </p:nvSpPr>
        <p:spPr>
          <a:xfrm>
            <a:off x="8065008" y="5330952"/>
            <a:ext cx="27432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27425" spcFirstLastPara="1" rIns="27425" wrap="square" tIns="182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0" lang="en-US" sz="1300" u="none" cap="none" strike="noStrike">
                <a:solidFill>
                  <a:srgbClr val="121E34"/>
                </a:solidFill>
                <a:latin typeface="Arial"/>
                <a:ea typeface="Arial"/>
                <a:cs typeface="Arial"/>
                <a:sym typeface="Arial"/>
              </a:rPr>
              <a:t>→ average → REAL / FAKE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aphicFrame>
        <p:nvGraphicFramePr>
          <p:cNvPr id="585" name="Google Shape;585;p20"/>
          <p:cNvGraphicFramePr/>
          <p:nvPr/>
        </p:nvGraphicFramePr>
        <p:xfrm>
          <a:off x="1024128" y="296265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{7818308C-96FD-40AC-9B7E-A86C079216B4}</a:tableStyleId>
              </a:tblPr>
              <a:tblGrid>
                <a:gridCol w="1920250"/>
                <a:gridCol w="777250"/>
                <a:gridCol w="731525"/>
                <a:gridCol w="960125"/>
                <a:gridCol w="1005850"/>
                <a:gridCol w="731525"/>
              </a:tblGrid>
              <a:tr h="2834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rPr b="1" lang="en-US" sz="1000" u="none" cap="none" strike="noStrik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Video</a:t>
                      </a:r>
                      <a:endParaRPr sz="1400" u="none" cap="none" strike="noStrike"/>
                    </a:p>
                  </a:txBody>
                  <a:tcPr marT="27425" marB="27425" marR="91450" marL="9145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CE2E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CE2E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21E34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rPr b="1" lang="en-US" sz="1000" u="none" cap="none" strike="noStrik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Truth</a:t>
                      </a:r>
                      <a:endParaRPr sz="1400" u="none" cap="none" strike="noStrike"/>
                    </a:p>
                  </a:txBody>
                  <a:tcPr marT="27425" marB="27425" marR="91450" marL="9145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CE2E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CE2E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21E34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rPr b="1" lang="en-US" sz="1000" u="none" cap="none" strike="noStrik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Faces</a:t>
                      </a:r>
                      <a:endParaRPr sz="1400" u="none" cap="none" strike="noStrike"/>
                    </a:p>
                  </a:txBody>
                  <a:tcPr marT="27425" marB="27425" marR="91450" marL="9145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CE2E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CE2E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21E34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rPr b="1" lang="en-US" sz="1000" u="none" cap="none" strike="noStrik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P(fake)</a:t>
                      </a:r>
                      <a:endParaRPr sz="1400" u="none" cap="none" strike="noStrike"/>
                    </a:p>
                  </a:txBody>
                  <a:tcPr marT="27425" marB="27425" marR="91450" marL="9145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CE2E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CE2E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21E34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rPr b="1" lang="en-US" sz="1000" u="none" cap="none" strike="noStrik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Prediction</a:t>
                      </a:r>
                      <a:endParaRPr sz="1400" u="none" cap="none" strike="noStrike"/>
                    </a:p>
                  </a:txBody>
                  <a:tcPr marT="27425" marB="27425" marR="91450" marL="9145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CE2E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CE2E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21E34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rPr b="1" lang="en-US" sz="1000" u="none" cap="none" strike="noStrik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Time</a:t>
                      </a:r>
                      <a:endParaRPr sz="1400" u="none" cap="none" strike="noStrike"/>
                    </a:p>
                  </a:txBody>
                  <a:tcPr marT="27425" marB="27425" marR="91450" marL="9145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CE2E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CE2E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21E34"/>
                    </a:solidFill>
                  </a:tcPr>
                </a:tc>
              </a:tr>
              <a:tr h="2834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rPr b="0" lang="en-US" sz="1100" u="none" cap="none" strike="noStrike">
                          <a:solidFill>
                            <a:srgbClr val="121E34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id49_0000.mp4</a:t>
                      </a:r>
                      <a:endParaRPr sz="1400" u="none" cap="none" strike="noStrike"/>
                    </a:p>
                  </a:txBody>
                  <a:tcPr marT="27425" marB="27425" marR="91450" marL="9145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CE2E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CE2E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rPr b="0" lang="en-US" sz="1100" u="none" cap="none" strike="noStrike">
                          <a:solidFill>
                            <a:srgbClr val="121E34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REAL</a:t>
                      </a:r>
                      <a:endParaRPr sz="1400" u="none" cap="none" strike="noStrike"/>
                    </a:p>
                  </a:txBody>
                  <a:tcPr marT="27425" marB="27425" marR="91450" marL="9145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CE2E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CE2E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rPr b="0" lang="en-US" sz="1100" u="none" cap="none" strike="noStrike">
                          <a:solidFill>
                            <a:srgbClr val="121E34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32</a:t>
                      </a:r>
                      <a:endParaRPr sz="1400" u="none" cap="none" strike="noStrike"/>
                    </a:p>
                  </a:txBody>
                  <a:tcPr marT="27425" marB="27425" marR="91450" marL="9145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CE2E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CE2E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rPr b="0" lang="en-US" sz="1100" u="none" cap="none" strike="noStrike">
                          <a:solidFill>
                            <a:srgbClr val="121E34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0.00003</a:t>
                      </a:r>
                      <a:endParaRPr sz="1400" u="none" cap="none" strike="noStrike"/>
                    </a:p>
                  </a:txBody>
                  <a:tcPr marT="27425" marB="27425" marR="91450" marL="9145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CE2E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CE2E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rPr b="0" lang="en-US" sz="1100" u="none" cap="none" strike="noStrike">
                          <a:solidFill>
                            <a:srgbClr val="121E34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REAL</a:t>
                      </a:r>
                      <a:endParaRPr sz="1400" u="none" cap="none" strike="noStrike"/>
                    </a:p>
                  </a:txBody>
                  <a:tcPr marT="27425" marB="27425" marR="91450" marL="9145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CE2E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CE2E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rPr b="0" lang="en-US" sz="1100" u="none" cap="none" strike="noStrike">
                          <a:solidFill>
                            <a:srgbClr val="121E34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18.0 s</a:t>
                      </a:r>
                      <a:endParaRPr sz="1400" u="none" cap="none" strike="noStrike"/>
                    </a:p>
                  </a:txBody>
                  <a:tcPr marT="27425" marB="27425" marR="91450" marL="9145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CE2E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CE2E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</a:tr>
              <a:tr h="2834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rPr b="0" lang="en-US" sz="1100" u="none" cap="none" strike="noStrike">
                          <a:solidFill>
                            <a:srgbClr val="121E34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id49_id50_0000.mp4</a:t>
                      </a:r>
                      <a:endParaRPr sz="1400" u="none" cap="none" strike="noStrike"/>
                    </a:p>
                  </a:txBody>
                  <a:tcPr marT="27425" marB="27425" marR="91450" marL="9145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CE2E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CE2E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rPr b="0" lang="en-US" sz="1100" u="none" cap="none" strike="noStrike">
                          <a:solidFill>
                            <a:srgbClr val="121E34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FAKE</a:t>
                      </a:r>
                      <a:endParaRPr sz="1400" u="none" cap="none" strike="noStrike"/>
                    </a:p>
                  </a:txBody>
                  <a:tcPr marT="27425" marB="27425" marR="91450" marL="9145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CE2E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CE2E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rPr b="0" lang="en-US" sz="1100" u="none" cap="none" strike="noStrike">
                          <a:solidFill>
                            <a:srgbClr val="121E34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32</a:t>
                      </a:r>
                      <a:endParaRPr sz="1400" u="none" cap="none" strike="noStrike"/>
                    </a:p>
                  </a:txBody>
                  <a:tcPr marT="27425" marB="27425" marR="91450" marL="9145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CE2E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CE2E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rPr b="0" lang="en-US" sz="1100" u="none" cap="none" strike="noStrike">
                          <a:solidFill>
                            <a:srgbClr val="121E34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0.8717</a:t>
                      </a:r>
                      <a:endParaRPr sz="1400" u="none" cap="none" strike="noStrike"/>
                    </a:p>
                  </a:txBody>
                  <a:tcPr marT="27425" marB="27425" marR="91450" marL="9145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CE2E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CE2E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rPr b="0" lang="en-US" sz="1100" u="none" cap="none" strike="noStrike">
                          <a:solidFill>
                            <a:srgbClr val="121E34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FAKE</a:t>
                      </a:r>
                      <a:endParaRPr sz="1400" u="none" cap="none" strike="noStrike"/>
                    </a:p>
                  </a:txBody>
                  <a:tcPr marT="27425" marB="27425" marR="91450" marL="9145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CE2E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CE2E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rPr b="0" lang="en-US" sz="1100" u="none" cap="none" strike="noStrike">
                          <a:solidFill>
                            <a:srgbClr val="121E34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1.6 s</a:t>
                      </a:r>
                      <a:endParaRPr sz="1400" u="none" cap="none" strike="noStrike"/>
                    </a:p>
                  </a:txBody>
                  <a:tcPr marT="27425" marB="27425" marR="91450" marL="9145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CE2E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CE2E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589" name="Shape 5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0" name="Google Shape;590;p21"/>
          <p:cNvSpPr txBox="1"/>
          <p:nvPr/>
        </p:nvSpPr>
        <p:spPr>
          <a:xfrm>
            <a:off x="658368" y="237744"/>
            <a:ext cx="36576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27425" spcFirstLastPara="1" rIns="27425" wrap="square" tIns="182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1" i="0" lang="en-US" sz="1100" u="none" cap="none" strike="noStrike">
                <a:solidFill>
                  <a:srgbClr val="F56736"/>
                </a:solidFill>
                <a:latin typeface="Arial"/>
                <a:ea typeface="Arial"/>
                <a:cs typeface="Arial"/>
                <a:sym typeface="Arial"/>
              </a:rPr>
              <a:t>STEP 3 — EVALUATION AND DEMO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91" name="Google Shape;591;p21"/>
          <p:cNvSpPr txBox="1"/>
          <p:nvPr/>
        </p:nvSpPr>
        <p:spPr>
          <a:xfrm>
            <a:off x="658368" y="594360"/>
            <a:ext cx="1078992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27425" spcFirstLastPara="1" rIns="27425" wrap="square" tIns="182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600"/>
              <a:buFont typeface="Arial"/>
              <a:buNone/>
            </a:pPr>
            <a:r>
              <a:rPr b="1" i="0" lang="en-US" sz="2600" u="none" cap="none" strike="noStrike">
                <a:solidFill>
                  <a:srgbClr val="121E34"/>
                </a:solidFill>
                <a:latin typeface="Arial"/>
                <a:ea typeface="Arial"/>
                <a:cs typeface="Arial"/>
                <a:sym typeface="Arial"/>
              </a:rPr>
              <a:t>Speed check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92" name="Google Shape;592;p21"/>
          <p:cNvSpPr txBox="1"/>
          <p:nvPr/>
        </p:nvSpPr>
        <p:spPr>
          <a:xfrm>
            <a:off x="658368" y="1060704"/>
            <a:ext cx="10789920" cy="310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27425" spcFirstLastPara="1" rIns="27425" wrap="square" tIns="182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0" i="0" lang="en-US" sz="1300" u="none" cap="none" strike="noStrike">
                <a:solidFill>
                  <a:srgbClr val="5C6778"/>
                </a:solidFill>
                <a:latin typeface="Arial"/>
                <a:ea typeface="Arial"/>
                <a:cs typeface="Arial"/>
                <a:sym typeface="Arial"/>
              </a:rPr>
              <a:t>Model speed and complete-video time are measured separately.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93" name="Google Shape;593;p21"/>
          <p:cNvSpPr/>
          <p:nvPr/>
        </p:nvSpPr>
        <p:spPr>
          <a:xfrm>
            <a:off x="658368" y="1527048"/>
            <a:ext cx="10881360" cy="16459"/>
          </a:xfrm>
          <a:prstGeom prst="rect">
            <a:avLst/>
          </a:prstGeom>
          <a:solidFill>
            <a:srgbClr val="DCE2EA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94" name="Google Shape;594;p21"/>
          <p:cNvSpPr/>
          <p:nvPr/>
        </p:nvSpPr>
        <p:spPr>
          <a:xfrm>
            <a:off x="914400" y="2011680"/>
            <a:ext cx="4709160" cy="137160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9525">
            <a:solidFill>
              <a:srgbClr val="DCE2EA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95" name="Google Shape;595;p21"/>
          <p:cNvSpPr/>
          <p:nvPr/>
        </p:nvSpPr>
        <p:spPr>
          <a:xfrm>
            <a:off x="914400" y="2011680"/>
            <a:ext cx="64008" cy="1371600"/>
          </a:xfrm>
          <a:prstGeom prst="rect">
            <a:avLst/>
          </a:prstGeom>
          <a:solidFill>
            <a:srgbClr val="3769BE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96" name="Google Shape;596;p21"/>
          <p:cNvSpPr txBox="1"/>
          <p:nvPr/>
        </p:nvSpPr>
        <p:spPr>
          <a:xfrm>
            <a:off x="1133856" y="2121408"/>
            <a:ext cx="4379976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27425" spcFirstLastPara="1" rIns="27425" wrap="square" tIns="182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700"/>
              <a:buFont typeface="Arial"/>
              <a:buNone/>
            </a:pPr>
            <a:r>
              <a:rPr b="1" i="0" lang="en-US" sz="2700" u="none" cap="none" strike="noStrike">
                <a:solidFill>
                  <a:srgbClr val="121E34"/>
                </a:solidFill>
                <a:latin typeface="Arial"/>
                <a:ea typeface="Arial"/>
                <a:cs typeface="Arial"/>
                <a:sym typeface="Arial"/>
              </a:rPr>
              <a:t>575 images/sec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97" name="Google Shape;597;p21"/>
          <p:cNvSpPr txBox="1"/>
          <p:nvPr/>
        </p:nvSpPr>
        <p:spPr>
          <a:xfrm>
            <a:off x="1133856" y="2523744"/>
            <a:ext cx="4379976" cy="804672"/>
          </a:xfrm>
          <a:prstGeom prst="rect">
            <a:avLst/>
          </a:prstGeom>
          <a:noFill/>
          <a:ln>
            <a:noFill/>
          </a:ln>
        </p:spPr>
        <p:txBody>
          <a:bodyPr anchorCtr="0" anchor="t" bIns="18275" lIns="27425" spcFirstLastPara="1" rIns="27425" wrap="square" tIns="182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0" i="0" lang="en-US" sz="1100" u="none" cap="none" strike="noStrike">
                <a:solidFill>
                  <a:srgbClr val="5C6778"/>
                </a:solidFill>
                <a:latin typeface="Arial"/>
                <a:ea typeface="Arial"/>
                <a:cs typeface="Arial"/>
                <a:sym typeface="Arial"/>
              </a:rPr>
              <a:t>ConvNeXt-Tiny alone on an NVIDIA T4 GPU (Colab): batches of 64 face images of 224 × 224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98" name="Google Shape;598;p21"/>
          <p:cNvSpPr/>
          <p:nvPr/>
        </p:nvSpPr>
        <p:spPr>
          <a:xfrm>
            <a:off x="6565392" y="2011680"/>
            <a:ext cx="4709160" cy="137160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9525">
            <a:solidFill>
              <a:srgbClr val="DCE2EA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99" name="Google Shape;599;p21"/>
          <p:cNvSpPr/>
          <p:nvPr/>
        </p:nvSpPr>
        <p:spPr>
          <a:xfrm>
            <a:off x="6565392" y="2011680"/>
            <a:ext cx="64008" cy="1371600"/>
          </a:xfrm>
          <a:prstGeom prst="rect">
            <a:avLst/>
          </a:prstGeom>
          <a:solidFill>
            <a:srgbClr val="1A9769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00" name="Google Shape;600;p21"/>
          <p:cNvSpPr txBox="1"/>
          <p:nvPr/>
        </p:nvSpPr>
        <p:spPr>
          <a:xfrm>
            <a:off x="6784848" y="2121408"/>
            <a:ext cx="4379976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27425" spcFirstLastPara="1" rIns="27425" wrap="square" tIns="182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700"/>
              <a:buFont typeface="Arial"/>
              <a:buNone/>
            </a:pPr>
            <a:r>
              <a:rPr b="1" i="0" lang="en-US" sz="2700" u="none" cap="none" strike="noStrike">
                <a:solidFill>
                  <a:srgbClr val="121E34"/>
                </a:solidFill>
                <a:latin typeface="Arial"/>
                <a:ea typeface="Arial"/>
                <a:cs typeface="Arial"/>
                <a:sym typeface="Arial"/>
              </a:rPr>
              <a:t>~1.6 sec/video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01" name="Google Shape;601;p21"/>
          <p:cNvSpPr txBox="1"/>
          <p:nvPr/>
        </p:nvSpPr>
        <p:spPr>
          <a:xfrm>
            <a:off x="6784848" y="2523744"/>
            <a:ext cx="4379976" cy="804672"/>
          </a:xfrm>
          <a:prstGeom prst="rect">
            <a:avLst/>
          </a:prstGeom>
          <a:noFill/>
          <a:ln>
            <a:noFill/>
          </a:ln>
        </p:spPr>
        <p:txBody>
          <a:bodyPr anchorCtr="0" anchor="t" bIns="18275" lIns="27425" spcFirstLastPara="1" rIns="27425" wrap="square" tIns="182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0" i="0" lang="en-US" sz="1100" u="none" cap="none" strike="noStrike">
                <a:solidFill>
                  <a:srgbClr val="5C6778"/>
                </a:solidFill>
                <a:latin typeface="Arial"/>
                <a:ea typeface="Arial"/>
                <a:cs typeface="Arial"/>
                <a:sym typeface="Arial"/>
              </a:rPr>
              <a:t>856 × 478 video, 9.3 s long, 32 frames scored; face detection and model on an NVIDIA T4 GPU (Colab)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02" name="Google Shape;602;p21"/>
          <p:cNvSpPr/>
          <p:nvPr/>
        </p:nvSpPr>
        <p:spPr>
          <a:xfrm>
            <a:off x="914400" y="3931920"/>
            <a:ext cx="10360152" cy="1417320"/>
          </a:xfrm>
          <a:prstGeom prst="roundRect">
            <a:avLst>
              <a:gd fmla="val 16667" name="adj"/>
            </a:avLst>
          </a:prstGeom>
          <a:solidFill>
            <a:srgbClr val="F7F9FC"/>
          </a:solidFill>
          <a:ln cap="flat" cmpd="sng" w="9525">
            <a:solidFill>
              <a:srgbClr val="DCE2EA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03" name="Google Shape;603;p21"/>
          <p:cNvSpPr txBox="1"/>
          <p:nvPr/>
        </p:nvSpPr>
        <p:spPr>
          <a:xfrm>
            <a:off x="1170432" y="4169663"/>
            <a:ext cx="13716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27425" spcFirstLastPara="1" rIns="27425" wrap="square" tIns="182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1" i="0" lang="en-US" sz="1100" u="none" cap="none" strike="noStrike">
                <a:solidFill>
                  <a:srgbClr val="F56736"/>
                </a:solidFill>
                <a:latin typeface="Arial"/>
                <a:ea typeface="Arial"/>
                <a:cs typeface="Arial"/>
                <a:sym typeface="Arial"/>
              </a:rPr>
              <a:t>RUNTIME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04" name="Google Shape;604;p21"/>
          <p:cNvSpPr txBox="1"/>
          <p:nvPr/>
        </p:nvSpPr>
        <p:spPr>
          <a:xfrm>
            <a:off x="1170432" y="4498848"/>
            <a:ext cx="9509760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27425" spcFirstLastPara="1" rIns="27425" wrap="square" tIns="182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1" i="0" lang="en-US" sz="2000" u="none" cap="none" strike="noStrike">
                <a:solidFill>
                  <a:srgbClr val="121E34"/>
                </a:solidFill>
                <a:latin typeface="Arial"/>
                <a:ea typeface="Arial"/>
                <a:cs typeface="Arial"/>
                <a:sym typeface="Arial"/>
              </a:rPr>
              <a:t>Python timers measure the processing duration.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05" name="Google Shape;605;p21"/>
          <p:cNvSpPr txBox="1"/>
          <p:nvPr/>
        </p:nvSpPr>
        <p:spPr>
          <a:xfrm>
            <a:off x="1170432" y="4937760"/>
            <a:ext cx="9509760" cy="310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27425" spcFirstLastPara="1" rIns="27425" wrap="square" tIns="182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0" i="0" lang="en-US" sz="1200" u="none" cap="none" strike="noStrike">
                <a:solidFill>
                  <a:srgbClr val="5C6778"/>
                </a:solidFill>
                <a:latin typeface="Arial"/>
                <a:ea typeface="Arial"/>
                <a:cs typeface="Arial"/>
                <a:sym typeface="Arial"/>
              </a:rPr>
              <a:t>Model speed excludes face detection (318 to 1,440 images/sec across the seven models). Full-video times by size, frames and hardware: next slide.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589" name="Shape 5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0" name="Google Shape;590;p21"/>
          <p:cNvSpPr txBox="1"/>
          <p:nvPr/>
        </p:nvSpPr>
        <p:spPr>
          <a:xfrm>
            <a:off x="658368" y="237744"/>
            <a:ext cx="36576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27425" spcFirstLastPara="1" rIns="27425" wrap="square" tIns="182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1" i="0" lang="en-US" sz="1100" u="none" cap="none" strike="noStrike">
                <a:solidFill>
                  <a:srgbClr val="F56736"/>
                </a:solidFill>
                <a:latin typeface="Arial"/>
                <a:ea typeface="Arial"/>
                <a:cs typeface="Arial"/>
                <a:sym typeface="Arial"/>
              </a:rPr>
              <a:t>STEP 3 — EVALUATION AND DEMO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91" name="Google Shape;591;p21"/>
          <p:cNvSpPr txBox="1"/>
          <p:nvPr/>
        </p:nvSpPr>
        <p:spPr>
          <a:xfrm>
            <a:off x="658368" y="594360"/>
            <a:ext cx="1078992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27425" spcFirstLastPara="1" rIns="27425" wrap="square" tIns="182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600"/>
              <a:buFont typeface="Arial"/>
              <a:buNone/>
            </a:pPr>
            <a:r>
              <a:rPr b="1" i="0" lang="en-US" sz="2600" u="none" cap="none" strike="noStrike">
                <a:solidFill>
                  <a:srgbClr val="121E34"/>
                </a:solidFill>
                <a:latin typeface="Arial"/>
                <a:ea typeface="Arial"/>
                <a:cs typeface="Arial"/>
                <a:sym typeface="Arial"/>
              </a:rPr>
              <a:t>Speed test: video size, frames and hardware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92" name="Google Shape;592;p21"/>
          <p:cNvSpPr txBox="1"/>
          <p:nvPr/>
        </p:nvSpPr>
        <p:spPr>
          <a:xfrm>
            <a:off x="658368" y="1060704"/>
            <a:ext cx="10789920" cy="310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27425" spcFirstLastPara="1" rIns="27425" wrap="square" tIns="182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0" i="0" lang="en-US" sz="1300" u="none" cap="none" strike="noStrike">
                <a:solidFill>
                  <a:srgbClr val="5C6778"/>
                </a:solidFill>
                <a:latin typeface="Arial"/>
                <a:ea typeface="Arial"/>
                <a:cs typeface="Arial"/>
                <a:sym typeface="Arial"/>
              </a:rPr>
              <a:t>Time to score one video end to end: read frames, find and align faces, score them, average. Models already loaded.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93" name="Google Shape;593;p21"/>
          <p:cNvSpPr/>
          <p:nvPr/>
        </p:nvSpPr>
        <p:spPr>
          <a:xfrm>
            <a:off x="658368" y="1527048"/>
            <a:ext cx="10881360" cy="16459"/>
          </a:xfrm>
          <a:prstGeom prst="rect">
            <a:avLst/>
          </a:prstGeom>
          <a:solidFill>
            <a:srgbClr val="DCE2EA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02" name="Google Shape;602;p21"/>
          <p:cNvSpPr/>
          <p:nvPr/>
        </p:nvSpPr>
        <p:spPr>
          <a:xfrm>
            <a:off x="749808" y="4572000"/>
            <a:ext cx="10698480" cy="1298448"/>
          </a:xfrm>
          <a:prstGeom prst="roundRect">
            <a:avLst>
              <a:gd fmla="val 16667" name="adj"/>
            </a:avLst>
          </a:prstGeom>
          <a:solidFill>
            <a:srgbClr val="F7F9FC"/>
          </a:solidFill>
          <a:ln cap="flat" cmpd="sng" w="9525">
            <a:solidFill>
              <a:srgbClr val="DCE2EA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03" name="Google Shape;603;p21"/>
          <p:cNvSpPr txBox="1"/>
          <p:nvPr/>
        </p:nvSpPr>
        <p:spPr>
          <a:xfrm>
            <a:off x="987552" y="4754880"/>
            <a:ext cx="36576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27425" spcFirstLastPara="1" rIns="27425" wrap="square" tIns="182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1" i="0" lang="en-US" sz="1100" u="none" cap="none" strike="noStrike">
                <a:solidFill>
                  <a:srgbClr val="F56736"/>
                </a:solidFill>
                <a:latin typeface="Arial"/>
                <a:ea typeface="Arial"/>
                <a:cs typeface="Arial"/>
                <a:sym typeface="Arial"/>
              </a:rPr>
              <a:t>WHAT DRIVES THE TIME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04" name="Google Shape;604;p21"/>
          <p:cNvSpPr txBox="1"/>
          <p:nvPr/>
        </p:nvSpPr>
        <p:spPr>
          <a:xfrm>
            <a:off x="987552" y="5001768"/>
            <a:ext cx="1024128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27425" spcFirstLastPara="1" rIns="27425" wrap="square" tIns="182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1" i="0" lang="en-US" sz="1900" u="none" cap="none" strike="noStrike">
                <a:solidFill>
                  <a:srgbClr val="121E34"/>
                </a:solidFill>
                <a:latin typeface="Arial"/>
                <a:ea typeface="Arial"/>
                <a:cs typeface="Arial"/>
                <a:sym typeface="Arial"/>
              </a:rPr>
              <a:t>Frames scored and where face detection runs, not video size or length.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05" name="Google Shape;605;p21"/>
          <p:cNvSpPr txBox="1"/>
          <p:nvPr/>
        </p:nvSpPr>
        <p:spPr>
          <a:xfrm>
            <a:off x="987552" y="5376672"/>
            <a:ext cx="1024128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27425" spcFirstLastPara="1" rIns="27425" wrap="square" tIns="182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0" i="0" lang="en-US" sz="1200" u="none" cap="none" strike="noStrike">
                <a:solidFill>
                  <a:srgbClr val="5C6778"/>
                </a:solidFill>
                <a:latin typeface="Arial"/>
                <a:ea typeface="Arial"/>
                <a:cs typeface="Arial"/>
                <a:sym typeface="Arial"/>
              </a:rPr>
              <a:t>Face detection on the T4 GPU took 1.6 s instead of about 6 s on CPU. Doubling the frames doubles the time; 360p to 1080p only adds decoding; a 6× longer video takes the same time because frames are sampled.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aphicFrame>
        <p:nvGraphicFramePr>
          <p:cNvPr id="606" name="Google Shape;396;p14"/>
          <p:cNvGraphicFramePr/>
          <p:nvPr/>
        </p:nvGraphicFramePr>
        <p:xfrm>
          <a:off x="749808" y="1783080"/>
          <a:ext cx="10698480" cy="2560320"/>
        </p:xfrm>
        <a:graphic>
          <a:graphicData uri="http://schemas.openxmlformats.org/drawingml/2006/table">
            <a:tbl>
              <a:tblPr bandRow="1" firstRow="1">
                <a:noFill/>
                <a:tableStyleId>{7818308C-96FD-40AC-9B7E-A86C079216B4}</a:tableStyleId>
              </a:tblPr>
              <a:tblGrid>
                <a:gridCol w="2514600"/>
                <a:gridCol w="1691640"/>
                <a:gridCol w="2926080"/>
                <a:gridCol w="1463040"/>
                <a:gridCol w="2103120"/>
              </a:tblGrid>
              <a:tr h="36576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b="1" lang="en-US" sz="1200" u="none" cap="none" strike="noStrik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Hardware</a:t>
                      </a:r>
                      <a:endParaRPr sz="1400" u="none" cap="none" strike="noStrike"/>
                    </a:p>
                  </a:txBody>
                  <a:tcPr marT="27425" marB="27425" marR="91450" marL="9145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CE2E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CE2E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21E34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b="1" lang="en-US" sz="1200" u="none" cap="none" strike="noStrik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Face detection on</a:t>
                      </a:r>
                      <a:endParaRPr sz="1400" u="none" cap="none" strike="noStrike"/>
                    </a:p>
                  </a:txBody>
                  <a:tcPr marT="27425" marB="27425" marR="91450" marL="9145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CE2E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CE2E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21E34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b="1" lang="en-US" sz="1200" u="none" cap="none" strike="noStrik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Video size and length</a:t>
                      </a:r>
                      <a:endParaRPr sz="1400" u="none" cap="none" strike="noStrike"/>
                    </a:p>
                  </a:txBody>
                  <a:tcPr marT="27425" marB="27425" marR="91450" marL="9145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CE2E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CE2E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21E34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b="1" lang="en-US" sz="1200" u="none" cap="none" strike="noStrik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Frames scored</a:t>
                      </a:r>
                      <a:endParaRPr sz="1400" u="none" cap="none" strike="noStrike"/>
                    </a:p>
                  </a:txBody>
                  <a:tcPr marT="27425" marB="27425" marR="91450" marL="9145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CE2E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CE2E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21E34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b="1" lang="en-US" sz="1200" u="none" cap="none" strike="noStrik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Time per video</a:t>
                      </a:r>
                      <a:endParaRPr sz="1400" u="none" cap="none" strike="noStrike"/>
                    </a:p>
                  </a:txBody>
                  <a:tcPr marT="27425" marB="27425" marR="91450" marL="9145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CE2E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CE2E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21E34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300"/>
                        <a:buFont typeface="Arial"/>
                        <a:buNone/>
                      </a:pPr>
                      <a:r>
                        <a:rPr b="1" lang="en-US" sz="1250" u="none" cap="none" strike="noStrike">
                          <a:solidFill>
                            <a:srgbClr val="121E34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NVIDIA T4 GPU (Colab)</a:t>
                      </a:r>
                      <a:endParaRPr sz="1400" u="none" cap="none" strike="noStrike"/>
                    </a:p>
                  </a:txBody>
                  <a:tcPr marT="27425" marB="27425" marR="91450" marL="9145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CE2E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CE2E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1F9F6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300"/>
                        <a:buFont typeface="Arial"/>
                        <a:buNone/>
                      </a:pPr>
                      <a:r>
                        <a:rPr b="1" lang="en-US" sz="1250" u="none" cap="none" strike="noStrike">
                          <a:solidFill>
                            <a:srgbClr val="121E34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GPU</a:t>
                      </a:r>
                      <a:endParaRPr sz="1400" u="none" cap="none" strike="noStrike"/>
                    </a:p>
                  </a:txBody>
                  <a:tcPr marT="27425" marB="27425" marR="91450" marL="9145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CE2E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CE2E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1F9F6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300"/>
                        <a:buFont typeface="Arial"/>
                        <a:buNone/>
                      </a:pPr>
                      <a:r>
                        <a:rPr b="1" lang="en-US" sz="1250" u="none" cap="none" strike="noStrike">
                          <a:solidFill>
                            <a:srgbClr val="121E34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856 × 478, 9.3 s</a:t>
                      </a:r>
                      <a:endParaRPr sz="1400" u="none" cap="none" strike="noStrike"/>
                    </a:p>
                  </a:txBody>
                  <a:tcPr marT="27425" marB="27425" marR="91450" marL="9145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CE2E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CE2E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1F9F6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300"/>
                        <a:buFont typeface="Arial"/>
                        <a:buNone/>
                      </a:pPr>
                      <a:r>
                        <a:rPr b="1" lang="en-US" sz="1250" u="none" cap="none" strike="noStrike">
                          <a:solidFill>
                            <a:srgbClr val="121E34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32</a:t>
                      </a:r>
                      <a:endParaRPr sz="1400" u="none" cap="none" strike="noStrike"/>
                    </a:p>
                  </a:txBody>
                  <a:tcPr marT="27425" marB="27425" marR="91450" marL="9145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CE2E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CE2E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1F9F6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300"/>
                        <a:buFont typeface="Arial"/>
                        <a:buNone/>
                      </a:pPr>
                      <a:r>
                        <a:rPr b="1" lang="en-US" sz="1250" u="none" cap="none" strike="noStrike">
                          <a:solidFill>
                            <a:srgbClr val="121E34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1.6 s</a:t>
                      </a:r>
                      <a:endParaRPr sz="1400" u="none" cap="none" strike="noStrike"/>
                    </a:p>
                  </a:txBody>
                  <a:tcPr marT="27425" marB="27425" marR="91450" marL="9145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CE2E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CE2E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1F9F6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300"/>
                        <a:buFont typeface="Arial"/>
                        <a:buNone/>
                      </a:pPr>
                      <a:r>
                        <a:rPr b="1" lang="en-US" sz="1250" u="none" cap="none" strike="noStrike">
                          <a:solidFill>
                            <a:srgbClr val="121E34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NVIDIA T4 GPU (Kaggle)</a:t>
                      </a:r>
                      <a:endParaRPr sz="1400" u="none" cap="none" strike="noStrike"/>
                    </a:p>
                  </a:txBody>
                  <a:tcPr marT="27425" marB="27425" marR="91450" marL="9145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CE2E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CE2E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300"/>
                        <a:buFont typeface="Arial"/>
                        <a:buNone/>
                      </a:pPr>
                      <a:r>
                        <a:rPr b="0" lang="en-US" sz="1250" u="none" cap="none" strike="noStrike">
                          <a:solidFill>
                            <a:srgbClr val="121E34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CPU</a:t>
                      </a:r>
                      <a:endParaRPr sz="1400" u="none" cap="none" strike="noStrike"/>
                    </a:p>
                  </a:txBody>
                  <a:tcPr marT="27425" marB="27425" marR="91450" marL="9145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CE2E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CE2E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300"/>
                        <a:buFont typeface="Arial"/>
                        <a:buNone/>
                      </a:pPr>
                      <a:r>
                        <a:rPr b="0" lang="en-US" sz="1250" u="none" cap="none" strike="noStrike">
                          <a:solidFill>
                            <a:srgbClr val="121E34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974 × 500, 10.3 s</a:t>
                      </a:r>
                      <a:endParaRPr sz="1400" u="none" cap="none" strike="noStrike"/>
                    </a:p>
                  </a:txBody>
                  <a:tcPr marT="27425" marB="27425" marR="91450" marL="9145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CE2E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CE2E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300"/>
                        <a:buFont typeface="Arial"/>
                        <a:buNone/>
                      </a:pPr>
                      <a:r>
                        <a:rPr b="0" lang="en-US" sz="1250" u="none" cap="none" strike="noStrike">
                          <a:solidFill>
                            <a:srgbClr val="121E34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32</a:t>
                      </a:r>
                      <a:endParaRPr sz="1400" u="none" cap="none" strike="noStrike"/>
                    </a:p>
                  </a:txBody>
                  <a:tcPr marT="27425" marB="27425" marR="91450" marL="9145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CE2E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CE2E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300"/>
                        <a:buFont typeface="Arial"/>
                        <a:buNone/>
                      </a:pPr>
                      <a:r>
                        <a:rPr b="0" lang="en-US" sz="1250" u="none" cap="none" strike="noStrike">
                          <a:solidFill>
                            <a:srgbClr val="121E34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6.1 s</a:t>
                      </a:r>
                      <a:endParaRPr sz="1400" u="none" cap="none" strike="noStrike"/>
                    </a:p>
                  </a:txBody>
                  <a:tcPr marT="27425" marB="27425" marR="91450" marL="9145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CE2E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CE2E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300"/>
                        <a:buFont typeface="Arial"/>
                        <a:buNone/>
                      </a:pPr>
                      <a:r>
                        <a:rPr b="1" lang="en-US" sz="1250" u="none" cap="none" strike="noStrike">
                          <a:solidFill>
                            <a:srgbClr val="121E34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NVIDIA T4 GPU (Kaggle)</a:t>
                      </a:r>
                      <a:endParaRPr sz="1400" u="none" cap="none" strike="noStrike"/>
                    </a:p>
                  </a:txBody>
                  <a:tcPr marT="27425" marB="27425" marR="91450" marL="9145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CE2E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CE2E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300"/>
                        <a:buFont typeface="Arial"/>
                        <a:buNone/>
                      </a:pPr>
                      <a:r>
                        <a:rPr b="0" lang="en-US" sz="1250" u="none" cap="none" strike="noStrike">
                          <a:solidFill>
                            <a:srgbClr val="121E34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CPU</a:t>
                      </a:r>
                      <a:endParaRPr sz="1400" u="none" cap="none" strike="noStrike"/>
                    </a:p>
                  </a:txBody>
                  <a:tcPr marT="27425" marB="27425" marR="91450" marL="9145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CE2E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CE2E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300"/>
                        <a:buFont typeface="Arial"/>
                        <a:buNone/>
                      </a:pPr>
                      <a:r>
                        <a:rPr b="0" lang="en-US" sz="1250" u="none" cap="none" strike="noStrike">
                          <a:solidFill>
                            <a:srgbClr val="121E34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286 × 300, 10.6 s</a:t>
                      </a:r>
                      <a:endParaRPr sz="1400" u="none" cap="none" strike="noStrike"/>
                    </a:p>
                  </a:txBody>
                  <a:tcPr marT="27425" marB="27425" marR="91450" marL="9145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CE2E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CE2E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300"/>
                        <a:buFont typeface="Arial"/>
                        <a:buNone/>
                      </a:pPr>
                      <a:r>
                        <a:rPr b="0" lang="en-US" sz="1250" u="none" cap="none" strike="noStrike">
                          <a:solidFill>
                            <a:srgbClr val="121E34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32</a:t>
                      </a:r>
                      <a:endParaRPr sz="1400" u="none" cap="none" strike="noStrike"/>
                    </a:p>
                  </a:txBody>
                  <a:tcPr marT="27425" marB="27425" marR="91450" marL="9145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CE2E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CE2E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300"/>
                        <a:buFont typeface="Arial"/>
                        <a:buNone/>
                      </a:pPr>
                      <a:r>
                        <a:rPr b="0" lang="en-US" sz="1250" u="none" cap="none" strike="noStrike">
                          <a:solidFill>
                            <a:srgbClr val="121E34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5.9 s</a:t>
                      </a:r>
                      <a:endParaRPr sz="1400" u="none" cap="none" strike="noStrike"/>
                    </a:p>
                  </a:txBody>
                  <a:tcPr marT="27425" marB="27425" marR="91450" marL="9145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CE2E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CE2E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300"/>
                        <a:buFont typeface="Arial"/>
                        <a:buNone/>
                      </a:pPr>
                      <a:r>
                        <a:rPr b="1" lang="en-US" sz="1250" u="none" cap="none" strike="noStrike">
                          <a:solidFill>
                            <a:srgbClr val="121E34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Apple M2 Pro, CPU only</a:t>
                      </a:r>
                      <a:endParaRPr sz="1400" u="none" cap="none" strike="noStrike"/>
                    </a:p>
                  </a:txBody>
                  <a:tcPr marT="27425" marB="27425" marR="91450" marL="9145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CE2E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CE2E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300"/>
                        <a:buFont typeface="Arial"/>
                        <a:buNone/>
                      </a:pPr>
                      <a:r>
                        <a:rPr b="0" lang="en-US" sz="1250" u="none" cap="none" strike="noStrike">
                          <a:solidFill>
                            <a:srgbClr val="121E34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CPU</a:t>
                      </a:r>
                      <a:endParaRPr sz="1400" u="none" cap="none" strike="noStrike"/>
                    </a:p>
                  </a:txBody>
                  <a:tcPr marT="27425" marB="27425" marR="91450" marL="9145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CE2E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CE2E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300"/>
                        <a:buFont typeface="Arial"/>
                        <a:buNone/>
                      </a:pPr>
                      <a:r>
                        <a:rPr b="0" lang="en-US" sz="1250" u="none" cap="none" strike="noStrike">
                          <a:solidFill>
                            <a:srgbClr val="121E34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856 × 478, 9.3 s</a:t>
                      </a:r>
                      <a:endParaRPr sz="1400" u="none" cap="none" strike="noStrike"/>
                    </a:p>
                  </a:txBody>
                  <a:tcPr marT="27425" marB="27425" marR="91450" marL="9145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CE2E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CE2E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300"/>
                        <a:buFont typeface="Arial"/>
                        <a:buNone/>
                      </a:pPr>
                      <a:r>
                        <a:rPr b="0" lang="en-US" sz="1250" u="none" cap="none" strike="noStrike">
                          <a:solidFill>
                            <a:srgbClr val="121E34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 / 16 / 32 / 64</a:t>
                      </a:r>
                      <a:endParaRPr sz="1400" u="none" cap="none" strike="noStrike"/>
                    </a:p>
                  </a:txBody>
                  <a:tcPr marT="27425" marB="27425" marR="91450" marL="9145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CE2E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CE2E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300"/>
                        <a:buFont typeface="Arial"/>
                        <a:buNone/>
                      </a:pPr>
                      <a:r>
                        <a:rPr b="0" lang="en-US" sz="1250" u="none" cap="none" strike="noStrike">
                          <a:solidFill>
                            <a:srgbClr val="121E34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2.3 / 2.4 / 4.4 / 8.8 s</a:t>
                      </a:r>
                      <a:endParaRPr sz="1400" u="none" cap="none" strike="noStrike"/>
                    </a:p>
                  </a:txBody>
                  <a:tcPr marT="27425" marB="27425" marR="91450" marL="9145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CE2E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CE2E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300"/>
                        <a:buFont typeface="Arial"/>
                        <a:buNone/>
                      </a:pPr>
                      <a:r>
                        <a:rPr b="1" lang="en-US" sz="1250" u="none" cap="none" strike="noStrike">
                          <a:solidFill>
                            <a:srgbClr val="121E34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Apple M2 Pro, CPU only</a:t>
                      </a:r>
                      <a:endParaRPr sz="1400" u="none" cap="none" strike="noStrike"/>
                    </a:p>
                  </a:txBody>
                  <a:tcPr marT="27425" marB="27425" marR="91450" marL="9145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CE2E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CE2E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300"/>
                        <a:buFont typeface="Arial"/>
                        <a:buNone/>
                      </a:pPr>
                      <a:r>
                        <a:rPr b="0" lang="en-US" sz="1250" u="none" cap="none" strike="noStrike">
                          <a:solidFill>
                            <a:srgbClr val="121E34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CPU</a:t>
                      </a:r>
                      <a:endParaRPr sz="1400" u="none" cap="none" strike="noStrike"/>
                    </a:p>
                  </a:txBody>
                  <a:tcPr marT="27425" marB="27425" marR="91450" marL="9145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CE2E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CE2E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300"/>
                        <a:buFont typeface="Arial"/>
                        <a:buNone/>
                      </a:pPr>
                      <a:r>
                        <a:rPr b="0" lang="en-US" sz="1250" u="none" cap="none" strike="noStrike">
                          <a:solidFill>
                            <a:srgbClr val="121E34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640 × 360 → 1920 × 1080, 9.3 s</a:t>
                      </a:r>
                      <a:endParaRPr sz="1400" u="none" cap="none" strike="noStrike"/>
                    </a:p>
                  </a:txBody>
                  <a:tcPr marT="27425" marB="27425" marR="91450" marL="9145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CE2E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CE2E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300"/>
                        <a:buFont typeface="Arial"/>
                        <a:buNone/>
                      </a:pPr>
                      <a:r>
                        <a:rPr b="0" lang="en-US" sz="1250" u="none" cap="none" strike="noStrike">
                          <a:solidFill>
                            <a:srgbClr val="121E34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32</a:t>
                      </a:r>
                      <a:endParaRPr sz="1400" u="none" cap="none" strike="noStrike"/>
                    </a:p>
                  </a:txBody>
                  <a:tcPr marT="27425" marB="27425" marR="91450" marL="9145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CE2E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CE2E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300"/>
                        <a:buFont typeface="Arial"/>
                        <a:buNone/>
                      </a:pPr>
                      <a:r>
                        <a:rPr b="0" lang="en-US" sz="1250" u="none" cap="none" strike="noStrike">
                          <a:solidFill>
                            <a:srgbClr val="121E34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4.3 → 4.8 s</a:t>
                      </a:r>
                      <a:endParaRPr sz="1400" u="none" cap="none" strike="noStrike"/>
                    </a:p>
                  </a:txBody>
                  <a:tcPr marT="27425" marB="27425" marR="91450" marL="9145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CE2E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CE2E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300"/>
                        <a:buFont typeface="Arial"/>
                        <a:buNone/>
                      </a:pPr>
                      <a:r>
                        <a:rPr b="1" lang="en-US" sz="1250" u="none" cap="none" strike="noStrike">
                          <a:solidFill>
                            <a:srgbClr val="121E34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Apple M2 Pro, CPU only</a:t>
                      </a:r>
                      <a:endParaRPr sz="1400" u="none" cap="none" strike="noStrike"/>
                    </a:p>
                  </a:txBody>
                  <a:tcPr marT="27425" marB="27425" marR="91450" marL="9145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CE2E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CE2E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300"/>
                        <a:buFont typeface="Arial"/>
                        <a:buNone/>
                      </a:pPr>
                      <a:r>
                        <a:rPr b="0" lang="en-US" sz="1250" u="none" cap="none" strike="noStrike">
                          <a:solidFill>
                            <a:srgbClr val="121E34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CPU</a:t>
                      </a:r>
                      <a:endParaRPr sz="1400" u="none" cap="none" strike="noStrike"/>
                    </a:p>
                  </a:txBody>
                  <a:tcPr marT="27425" marB="27425" marR="91450" marL="9145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CE2E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CE2E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300"/>
                        <a:buFont typeface="Arial"/>
                        <a:buNone/>
                      </a:pPr>
                      <a:r>
                        <a:rPr b="0" lang="en-US" sz="1250" u="none" cap="none" strike="noStrike">
                          <a:solidFill>
                            <a:srgbClr val="121E34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856 × 478, 55.6 s (looped)</a:t>
                      </a:r>
                      <a:endParaRPr sz="1400" u="none" cap="none" strike="noStrike"/>
                    </a:p>
                  </a:txBody>
                  <a:tcPr marT="27425" marB="27425" marR="91450" marL="9145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CE2E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CE2E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300"/>
                        <a:buFont typeface="Arial"/>
                        <a:buNone/>
                      </a:pPr>
                      <a:r>
                        <a:rPr b="0" lang="en-US" sz="1250" u="none" cap="none" strike="noStrike">
                          <a:solidFill>
                            <a:srgbClr val="121E34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32</a:t>
                      </a:r>
                      <a:endParaRPr sz="1400" u="none" cap="none" strike="noStrike"/>
                    </a:p>
                  </a:txBody>
                  <a:tcPr marT="27425" marB="27425" marR="91450" marL="9145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CE2E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CE2E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300"/>
                        <a:buFont typeface="Arial"/>
                        <a:buNone/>
                      </a:pPr>
                      <a:r>
                        <a:rPr b="0" lang="en-US" sz="1250" u="none" cap="none" strike="noStrike">
                          <a:solidFill>
                            <a:srgbClr val="121E34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4.5 s</a:t>
                      </a:r>
                      <a:endParaRPr sz="1400" u="none" cap="none" strike="noStrike"/>
                    </a:p>
                  </a:txBody>
                  <a:tcPr marT="27425" marB="27425" marR="91450" marL="9145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CE2E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CE2E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07" name="TextBox 606"/>
          <p:cNvSpPr txBox="1"/>
          <p:nvPr/>
        </p:nvSpPr>
        <p:spPr>
          <a:xfrm>
            <a:off x="749808" y="6016752"/>
            <a:ext cx="106984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>
                <a:solidFill>
                  <a:srgbClr val="5C6778"/>
                </a:solidFill>
                <a:latin typeface="Arial"/>
              </a:rPr>
              <a:t>T4 rows: timings recorded by the Colab and Kaggle training notebooks (detector on CPU in Kaggle). M2 Pro rows: median of 3 runs after a warm-up, 4 CPU threads as in the app; below 16 faces PyTorch uses a slower path on this CPU, so 8 frames take as long as 16.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609" name="Shape 6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0" name="Google Shape;610;p22"/>
          <p:cNvSpPr txBox="1"/>
          <p:nvPr/>
        </p:nvSpPr>
        <p:spPr>
          <a:xfrm>
            <a:off x="658368" y="237744"/>
            <a:ext cx="36576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27425" spcFirstLastPara="1" rIns="27425" wrap="square" tIns="182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1" i="0" lang="en-US" sz="1100" u="none" cap="none" strike="noStrike">
                <a:solidFill>
                  <a:srgbClr val="F56736"/>
                </a:solidFill>
                <a:latin typeface="Arial"/>
                <a:ea typeface="Arial"/>
                <a:cs typeface="Arial"/>
                <a:sym typeface="Arial"/>
              </a:rPr>
              <a:t>PROJECT STATUS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11" name="Google Shape;611;p22"/>
          <p:cNvSpPr txBox="1"/>
          <p:nvPr/>
        </p:nvSpPr>
        <p:spPr>
          <a:xfrm>
            <a:off x="658368" y="594360"/>
            <a:ext cx="1078992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27425" spcFirstLastPara="1" rIns="27425" wrap="square" tIns="182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600"/>
              <a:buFont typeface="Arial"/>
              <a:buNone/>
            </a:pPr>
            <a:r>
              <a:rPr b="1" i="0" lang="en-US" sz="2600" u="none" cap="none" strike="noStrike">
                <a:solidFill>
                  <a:srgbClr val="121E34"/>
                </a:solidFill>
                <a:latin typeface="Arial"/>
                <a:ea typeface="Arial"/>
                <a:cs typeface="Arial"/>
                <a:sym typeface="Arial"/>
              </a:rPr>
              <a:t>Completed work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12" name="Google Shape;612;p22"/>
          <p:cNvSpPr txBox="1"/>
          <p:nvPr/>
        </p:nvSpPr>
        <p:spPr>
          <a:xfrm>
            <a:off x="658368" y="1060704"/>
            <a:ext cx="10789920" cy="310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27425" spcFirstLastPara="1" rIns="27425" wrap="square" tIns="182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0" i="0" lang="en-US" sz="1300" u="none" cap="none" strike="noStrike">
                <a:solidFill>
                  <a:srgbClr val="5C6778"/>
                </a:solidFill>
                <a:latin typeface="Arial"/>
                <a:ea typeface="Arial"/>
                <a:cs typeface="Arial"/>
                <a:sym typeface="Arial"/>
              </a:rPr>
              <a:t>The implementation covers the full pipeline and a seven-model comparison.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13" name="Google Shape;613;p22"/>
          <p:cNvSpPr/>
          <p:nvPr/>
        </p:nvSpPr>
        <p:spPr>
          <a:xfrm>
            <a:off x="658368" y="1527048"/>
            <a:ext cx="10881360" cy="16459"/>
          </a:xfrm>
          <a:prstGeom prst="rect">
            <a:avLst/>
          </a:prstGeom>
          <a:solidFill>
            <a:srgbClr val="DCE2EA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14" name="Google Shape;614;p22"/>
          <p:cNvSpPr/>
          <p:nvPr/>
        </p:nvSpPr>
        <p:spPr>
          <a:xfrm>
            <a:off x="749808" y="1856231"/>
            <a:ext cx="3337560" cy="1078992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9525">
            <a:solidFill>
              <a:srgbClr val="DCE2EA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15" name="Google Shape;615;p22"/>
          <p:cNvSpPr/>
          <p:nvPr/>
        </p:nvSpPr>
        <p:spPr>
          <a:xfrm>
            <a:off x="950976" y="2130551"/>
            <a:ext cx="420624" cy="420624"/>
          </a:xfrm>
          <a:prstGeom prst="ellipse">
            <a:avLst/>
          </a:prstGeom>
          <a:solidFill>
            <a:srgbClr val="3769BE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16" name="Google Shape;616;p22"/>
          <p:cNvSpPr txBox="1"/>
          <p:nvPr/>
        </p:nvSpPr>
        <p:spPr>
          <a:xfrm>
            <a:off x="950976" y="2130551"/>
            <a:ext cx="420624" cy="420624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27425" spcFirstLastPara="1" rIns="27425" wrap="square" tIns="1827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1" i="0" lang="en-US" sz="12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17" name="Google Shape;617;p22"/>
          <p:cNvSpPr txBox="1"/>
          <p:nvPr/>
        </p:nvSpPr>
        <p:spPr>
          <a:xfrm>
            <a:off x="1536192" y="2039112"/>
            <a:ext cx="2286000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27425" spcFirstLastPara="1" rIns="27425" wrap="square" tIns="182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1" i="0" lang="en-US" sz="1500" u="none" cap="none" strike="noStrike">
                <a:solidFill>
                  <a:srgbClr val="121E34"/>
                </a:solidFill>
                <a:latin typeface="Arial"/>
                <a:ea typeface="Arial"/>
                <a:cs typeface="Arial"/>
                <a:sym typeface="Arial"/>
              </a:rPr>
              <a:t>Dataset prepared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18" name="Google Shape;618;p22"/>
          <p:cNvSpPr txBox="1"/>
          <p:nvPr/>
        </p:nvSpPr>
        <p:spPr>
          <a:xfrm>
            <a:off x="1536192" y="2377439"/>
            <a:ext cx="22860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27425" spcFirstLastPara="1" rIns="27425" wrap="square" tIns="182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0" i="0" lang="en-US" sz="1100" u="none" cap="none" strike="noStrike">
                <a:solidFill>
                  <a:srgbClr val="5C6778"/>
                </a:solidFill>
                <a:latin typeface="Arial"/>
                <a:ea typeface="Arial"/>
                <a:cs typeface="Arial"/>
                <a:sym typeface="Arial"/>
              </a:rPr>
              <a:t>6,529 videos checked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19" name="Google Shape;619;p22"/>
          <p:cNvSpPr/>
          <p:nvPr/>
        </p:nvSpPr>
        <p:spPr>
          <a:xfrm>
            <a:off x="4407408" y="1856231"/>
            <a:ext cx="3337560" cy="1078992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9525">
            <a:solidFill>
              <a:srgbClr val="DCE2EA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20" name="Google Shape;620;p22"/>
          <p:cNvSpPr/>
          <p:nvPr/>
        </p:nvSpPr>
        <p:spPr>
          <a:xfrm>
            <a:off x="4608576" y="2130551"/>
            <a:ext cx="420624" cy="420624"/>
          </a:xfrm>
          <a:prstGeom prst="ellipse">
            <a:avLst/>
          </a:prstGeom>
          <a:solidFill>
            <a:srgbClr val="2A96A0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21" name="Google Shape;621;p22"/>
          <p:cNvSpPr txBox="1"/>
          <p:nvPr/>
        </p:nvSpPr>
        <p:spPr>
          <a:xfrm>
            <a:off x="4608576" y="2130551"/>
            <a:ext cx="420624" cy="420624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27425" spcFirstLastPara="1" rIns="27425" wrap="square" tIns="1827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1" i="0" lang="en-US" sz="12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22" name="Google Shape;622;p22"/>
          <p:cNvSpPr txBox="1"/>
          <p:nvPr/>
        </p:nvSpPr>
        <p:spPr>
          <a:xfrm>
            <a:off x="5193792" y="2039112"/>
            <a:ext cx="2286000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27425" spcFirstLastPara="1" rIns="27425" wrap="square" tIns="182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1" i="0" lang="en-US" sz="1500" u="none" cap="none" strike="noStrike">
                <a:solidFill>
                  <a:srgbClr val="121E34"/>
                </a:solidFill>
                <a:latin typeface="Arial"/>
                <a:ea typeface="Arial"/>
                <a:cs typeface="Arial"/>
                <a:sym typeface="Arial"/>
              </a:rPr>
              <a:t>Faces prepared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23" name="Google Shape;623;p22"/>
          <p:cNvSpPr txBox="1"/>
          <p:nvPr/>
        </p:nvSpPr>
        <p:spPr>
          <a:xfrm>
            <a:off x="5193792" y="2377439"/>
            <a:ext cx="22860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27425" spcFirstLastPara="1" rIns="27425" wrap="square" tIns="182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0" i="0" lang="en-US" sz="1100" u="none" cap="none" strike="noStrike">
                <a:solidFill>
                  <a:srgbClr val="5C6778"/>
                </a:solidFill>
                <a:latin typeface="Arial"/>
                <a:ea typeface="Arial"/>
                <a:cs typeface="Arial"/>
                <a:sym typeface="Arial"/>
              </a:rPr>
              <a:t>73,429 face images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24" name="Google Shape;624;p22"/>
          <p:cNvSpPr/>
          <p:nvPr/>
        </p:nvSpPr>
        <p:spPr>
          <a:xfrm>
            <a:off x="8065008" y="1856231"/>
            <a:ext cx="3337560" cy="1078992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9525">
            <a:solidFill>
              <a:srgbClr val="DCE2EA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25" name="Google Shape;625;p22"/>
          <p:cNvSpPr/>
          <p:nvPr/>
        </p:nvSpPr>
        <p:spPr>
          <a:xfrm>
            <a:off x="8266176" y="2130551"/>
            <a:ext cx="420624" cy="420624"/>
          </a:xfrm>
          <a:prstGeom prst="ellipse">
            <a:avLst/>
          </a:prstGeom>
          <a:solidFill>
            <a:srgbClr val="F56736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26" name="Google Shape;626;p22"/>
          <p:cNvSpPr txBox="1"/>
          <p:nvPr/>
        </p:nvSpPr>
        <p:spPr>
          <a:xfrm>
            <a:off x="8266176" y="2130551"/>
            <a:ext cx="420624" cy="420624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27425" spcFirstLastPara="1" rIns="27425" wrap="square" tIns="1827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1" i="0" lang="en-US" sz="12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27" name="Google Shape;627;p22"/>
          <p:cNvSpPr txBox="1"/>
          <p:nvPr/>
        </p:nvSpPr>
        <p:spPr>
          <a:xfrm>
            <a:off x="8851392" y="2039112"/>
            <a:ext cx="2286000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27425" spcFirstLastPara="1" rIns="27425" wrap="square" tIns="182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1" i="0" lang="en-US" sz="1500" u="none" cap="none" strike="noStrike">
                <a:solidFill>
                  <a:srgbClr val="121E34"/>
                </a:solidFill>
                <a:latin typeface="Arial"/>
                <a:ea typeface="Arial"/>
                <a:cs typeface="Arial"/>
                <a:sym typeface="Arial"/>
              </a:rPr>
              <a:t>Models trained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28" name="Google Shape;628;p22"/>
          <p:cNvSpPr txBox="1"/>
          <p:nvPr/>
        </p:nvSpPr>
        <p:spPr>
          <a:xfrm>
            <a:off x="8851392" y="2377439"/>
            <a:ext cx="22860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27425" spcFirstLastPara="1" rIns="27425" wrap="square" tIns="182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0" i="0" lang="en-US" sz="1100" u="none" cap="none" strike="noStrike">
                <a:solidFill>
                  <a:srgbClr val="5C6778"/>
                </a:solidFill>
                <a:latin typeface="Arial"/>
                <a:ea typeface="Arial"/>
                <a:cs typeface="Arial"/>
                <a:sym typeface="Arial"/>
              </a:rPr>
              <a:t>7 models compared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29" name="Google Shape;629;p22"/>
          <p:cNvSpPr/>
          <p:nvPr/>
        </p:nvSpPr>
        <p:spPr>
          <a:xfrm>
            <a:off x="749808" y="3273552"/>
            <a:ext cx="3337560" cy="1078992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9525">
            <a:solidFill>
              <a:srgbClr val="DCE2EA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30" name="Google Shape;630;p22"/>
          <p:cNvSpPr/>
          <p:nvPr/>
        </p:nvSpPr>
        <p:spPr>
          <a:xfrm>
            <a:off x="950976" y="3547872"/>
            <a:ext cx="420624" cy="420624"/>
          </a:xfrm>
          <a:prstGeom prst="ellipse">
            <a:avLst/>
          </a:prstGeom>
          <a:solidFill>
            <a:srgbClr val="1A9769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31" name="Google Shape;631;p22"/>
          <p:cNvSpPr txBox="1"/>
          <p:nvPr/>
        </p:nvSpPr>
        <p:spPr>
          <a:xfrm>
            <a:off x="950976" y="3547872"/>
            <a:ext cx="420624" cy="420624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27425" spcFirstLastPara="1" rIns="27425" wrap="square" tIns="1827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1" i="0" lang="en-US" sz="12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32" name="Google Shape;632;p22"/>
          <p:cNvSpPr txBox="1"/>
          <p:nvPr/>
        </p:nvSpPr>
        <p:spPr>
          <a:xfrm>
            <a:off x="1536192" y="3456432"/>
            <a:ext cx="2286000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27425" spcFirstLastPara="1" rIns="27425" wrap="square" tIns="182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1" i="0" lang="en-US" sz="1500" u="none" cap="none" strike="noStrike">
                <a:solidFill>
                  <a:srgbClr val="121E34"/>
                </a:solidFill>
                <a:latin typeface="Arial"/>
                <a:ea typeface="Arial"/>
                <a:cs typeface="Arial"/>
                <a:sym typeface="Arial"/>
              </a:rPr>
              <a:t>Models evaluated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33" name="Google Shape;633;p22"/>
          <p:cNvSpPr txBox="1"/>
          <p:nvPr/>
        </p:nvSpPr>
        <p:spPr>
          <a:xfrm>
            <a:off x="1536192" y="3794760"/>
            <a:ext cx="22860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27425" spcFirstLastPara="1" rIns="27425" wrap="square" tIns="182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0" i="0" lang="en-US" sz="1100" u="none" cap="none" strike="noStrike">
                <a:solidFill>
                  <a:srgbClr val="5C6778"/>
                </a:solidFill>
                <a:latin typeface="Arial"/>
                <a:ea typeface="Arial"/>
                <a:cs typeface="Arial"/>
                <a:sym typeface="Arial"/>
              </a:rPr>
              <a:t>809 + 518 videos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34" name="Google Shape;634;p22"/>
          <p:cNvSpPr/>
          <p:nvPr/>
        </p:nvSpPr>
        <p:spPr>
          <a:xfrm>
            <a:off x="4407408" y="3273552"/>
            <a:ext cx="3337560" cy="1078992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9525">
            <a:solidFill>
              <a:srgbClr val="DCE2EA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35" name="Google Shape;635;p22"/>
          <p:cNvSpPr/>
          <p:nvPr/>
        </p:nvSpPr>
        <p:spPr>
          <a:xfrm>
            <a:off x="4608576" y="3547872"/>
            <a:ext cx="420624" cy="420624"/>
          </a:xfrm>
          <a:prstGeom prst="ellipse">
            <a:avLst/>
          </a:prstGeom>
          <a:solidFill>
            <a:srgbClr val="3769BE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36" name="Google Shape;636;p22"/>
          <p:cNvSpPr txBox="1"/>
          <p:nvPr/>
        </p:nvSpPr>
        <p:spPr>
          <a:xfrm>
            <a:off x="4608576" y="3547872"/>
            <a:ext cx="420624" cy="420624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27425" spcFirstLastPara="1" rIns="27425" wrap="square" tIns="1827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1" i="0" lang="en-US" sz="12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37" name="Google Shape;637;p22"/>
          <p:cNvSpPr txBox="1"/>
          <p:nvPr/>
        </p:nvSpPr>
        <p:spPr>
          <a:xfrm>
            <a:off x="5193792" y="3456432"/>
            <a:ext cx="2286000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27425" spcFirstLastPara="1" rIns="27425" wrap="square" tIns="182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1" i="0" lang="en-US" sz="1500" u="none" cap="none" strike="noStrike">
                <a:solidFill>
                  <a:srgbClr val="121E34"/>
                </a:solidFill>
                <a:latin typeface="Arial"/>
                <a:ea typeface="Arial"/>
                <a:cs typeface="Arial"/>
                <a:sym typeface="Arial"/>
              </a:rPr>
              <a:t>Results reviewed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38" name="Google Shape;638;p22"/>
          <p:cNvSpPr txBox="1"/>
          <p:nvPr/>
        </p:nvSpPr>
        <p:spPr>
          <a:xfrm>
            <a:off x="5193792" y="3794760"/>
            <a:ext cx="22860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27425" spcFirstLastPara="1" rIns="27425" wrap="square" tIns="182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0" i="0" lang="en-US" sz="1100" u="none" cap="none" strike="noStrike">
                <a:solidFill>
                  <a:srgbClr val="5C6778"/>
                </a:solidFill>
                <a:latin typeface="Arial"/>
                <a:ea typeface="Arial"/>
                <a:cs typeface="Arial"/>
                <a:sym typeface="Arial"/>
              </a:rPr>
              <a:t>AUC + robustness + Grad-CAM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39" name="Google Shape;639;p22"/>
          <p:cNvSpPr/>
          <p:nvPr/>
        </p:nvSpPr>
        <p:spPr>
          <a:xfrm>
            <a:off x="8065008" y="3273552"/>
            <a:ext cx="3337560" cy="1078992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9525">
            <a:solidFill>
              <a:srgbClr val="DCE2EA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40" name="Google Shape;640;p22"/>
          <p:cNvSpPr/>
          <p:nvPr/>
        </p:nvSpPr>
        <p:spPr>
          <a:xfrm>
            <a:off x="8266176" y="3547872"/>
            <a:ext cx="420624" cy="420624"/>
          </a:xfrm>
          <a:prstGeom prst="ellipse">
            <a:avLst/>
          </a:prstGeom>
          <a:solidFill>
            <a:srgbClr val="1A9769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41" name="Google Shape;641;p22"/>
          <p:cNvSpPr txBox="1"/>
          <p:nvPr/>
        </p:nvSpPr>
        <p:spPr>
          <a:xfrm>
            <a:off x="8266176" y="3547872"/>
            <a:ext cx="420624" cy="420624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27425" spcFirstLastPara="1" rIns="27425" wrap="square" tIns="1827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1" i="0" lang="en-US" sz="12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42" name="Google Shape;642;p22"/>
          <p:cNvSpPr txBox="1"/>
          <p:nvPr/>
        </p:nvSpPr>
        <p:spPr>
          <a:xfrm>
            <a:off x="8851392" y="3456432"/>
            <a:ext cx="2286000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27425" spcFirstLastPara="1" rIns="27425" wrap="square" tIns="182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1" i="0" lang="en-US" sz="1500" u="none" cap="none" strike="noStrike">
                <a:solidFill>
                  <a:srgbClr val="121E34"/>
                </a:solidFill>
                <a:latin typeface="Arial"/>
                <a:ea typeface="Arial"/>
                <a:cs typeface="Arial"/>
                <a:sym typeface="Arial"/>
              </a:rPr>
              <a:t>Demo completed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43" name="Google Shape;643;p22"/>
          <p:cNvSpPr txBox="1"/>
          <p:nvPr/>
        </p:nvSpPr>
        <p:spPr>
          <a:xfrm>
            <a:off x="8851392" y="3794760"/>
            <a:ext cx="22860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27425" spcFirstLastPara="1" rIns="27425" wrap="square" tIns="182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0" i="0" lang="en-US" sz="1100" u="none" cap="none" strike="noStrike">
                <a:solidFill>
                  <a:srgbClr val="5C6778"/>
                </a:solidFill>
                <a:latin typeface="Arial"/>
                <a:ea typeface="Arial"/>
                <a:cs typeface="Arial"/>
                <a:sym typeface="Arial"/>
              </a:rPr>
              <a:t>ConvNeXt-Tiny: video → result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44" name="Google Shape;644;p22"/>
          <p:cNvSpPr/>
          <p:nvPr/>
        </p:nvSpPr>
        <p:spPr>
          <a:xfrm>
            <a:off x="749808" y="4965192"/>
            <a:ext cx="10652760" cy="868680"/>
          </a:xfrm>
          <a:prstGeom prst="roundRect">
            <a:avLst>
              <a:gd fmla="val 16667" name="adj"/>
            </a:avLst>
          </a:prstGeom>
          <a:solidFill>
            <a:srgbClr val="121E34"/>
          </a:solidFill>
          <a:ln cap="flat" cmpd="sng" w="9525">
            <a:solidFill>
              <a:srgbClr val="DCE2EA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45" name="Google Shape;645;p22"/>
          <p:cNvSpPr txBox="1"/>
          <p:nvPr/>
        </p:nvSpPr>
        <p:spPr>
          <a:xfrm>
            <a:off x="1005840" y="5166360"/>
            <a:ext cx="18288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27425" spcFirstLastPara="1" rIns="27425" wrap="square" tIns="182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1" i="0" lang="en-US" sz="1000" u="none" cap="none" strike="noStrike">
                <a:solidFill>
                  <a:srgbClr val="F56736"/>
                </a:solidFill>
                <a:latin typeface="Arial"/>
                <a:ea typeface="Arial"/>
                <a:cs typeface="Arial"/>
                <a:sym typeface="Arial"/>
              </a:rPr>
              <a:t>CONVNEXT-TINY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46" name="Google Shape;646;p22"/>
          <p:cNvSpPr txBox="1"/>
          <p:nvPr/>
        </p:nvSpPr>
        <p:spPr>
          <a:xfrm>
            <a:off x="2880360" y="5074920"/>
            <a:ext cx="301752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27425" spcFirstLastPara="1" rIns="27425" wrap="square" tIns="182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1" i="0" lang="en-US" sz="2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0.9999 holdout AUC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47" name="Google Shape;647;p22"/>
          <p:cNvSpPr txBox="1"/>
          <p:nvPr/>
        </p:nvSpPr>
        <p:spPr>
          <a:xfrm>
            <a:off x="6510528" y="5074920"/>
            <a:ext cx="384048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27425" spcFirstLastPara="1" rIns="27425" wrap="square" tIns="182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1" i="0" lang="en-US" sz="2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98.15% holdout accuracy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51" name="Shape 6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2" name="Google Shape;652;p35"/>
          <p:cNvSpPr txBox="1"/>
          <p:nvPr/>
        </p:nvSpPr>
        <p:spPr>
          <a:xfrm>
            <a:off x="329184" y="73152"/>
            <a:ext cx="45720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36575" spcFirstLastPara="1" rIns="36575" wrap="square" tIns="182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50" u="none" cap="none" strike="noStrike">
                <a:solidFill>
                  <a:srgbClr val="FF5B37"/>
                </a:solidFill>
                <a:latin typeface="Arial"/>
                <a:ea typeface="Arial"/>
                <a:cs typeface="Arial"/>
                <a:sym typeface="Arial"/>
              </a:rPr>
              <a:t>MY UPDATE</a:t>
            </a:r>
            <a:endParaRPr/>
          </a:p>
        </p:txBody>
      </p:sp>
      <p:sp>
        <p:nvSpPr>
          <p:cNvPr id="653" name="Google Shape;653;p35"/>
          <p:cNvSpPr txBox="1"/>
          <p:nvPr/>
        </p:nvSpPr>
        <p:spPr>
          <a:xfrm>
            <a:off x="329184" y="310896"/>
            <a:ext cx="11247120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36575" spcFirstLastPara="1" rIns="36575" wrap="square" tIns="182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300" u="none" cap="none" strike="noStrike">
                <a:solidFill>
                  <a:srgbClr val="11233C"/>
                </a:solidFill>
                <a:latin typeface="Arial"/>
                <a:ea typeface="Arial"/>
                <a:cs typeface="Arial"/>
                <a:sym typeface="Arial"/>
              </a:rPr>
              <a:t>What I changed for the low-resolution test</a:t>
            </a:r>
            <a:endParaRPr/>
          </a:p>
        </p:txBody>
      </p:sp>
      <p:sp>
        <p:nvSpPr>
          <p:cNvPr id="654" name="Google Shape;654;p35"/>
          <p:cNvSpPr txBox="1"/>
          <p:nvPr/>
        </p:nvSpPr>
        <p:spPr>
          <a:xfrm>
            <a:off x="329184" y="749808"/>
            <a:ext cx="1124712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36575" spcFirstLastPara="1" rIns="36575" wrap="square" tIns="182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495E79"/>
                </a:solidFill>
                <a:latin typeface="Arial"/>
                <a:ea typeface="Arial"/>
                <a:cs typeface="Arial"/>
                <a:sym typeface="Arial"/>
              </a:rPr>
              <a:t>The goal was simple: use more frames and check whether enhancement actually improves low-quality videos.</a:t>
            </a:r>
            <a:endParaRPr/>
          </a:p>
        </p:txBody>
      </p:sp>
      <p:sp>
        <p:nvSpPr>
          <p:cNvPr id="655" name="Google Shape;655;p35"/>
          <p:cNvSpPr/>
          <p:nvPr/>
        </p:nvSpPr>
        <p:spPr>
          <a:xfrm>
            <a:off x="329184" y="1042415"/>
            <a:ext cx="11503152" cy="32004"/>
          </a:xfrm>
          <a:prstGeom prst="rect">
            <a:avLst/>
          </a:prstGeom>
          <a:solidFill>
            <a:srgbClr val="CFD8E1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aphicFrame>
        <p:nvGraphicFramePr>
          <p:cNvPr id="656" name="Google Shape;656;p35"/>
          <p:cNvGraphicFramePr/>
          <p:nvPr/>
        </p:nvGraphicFramePr>
        <p:xfrm>
          <a:off x="594360" y="1307592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{2338D9DC-F09C-46F0-9EA9-D6A716EAE88F}</a:tableStyleId>
              </a:tblPr>
              <a:tblGrid>
                <a:gridCol w="2518800"/>
                <a:gridCol w="3663700"/>
                <a:gridCol w="4808600"/>
              </a:tblGrid>
              <a:tr h="5632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160" u="none" cap="none" strike="noStrik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Test area</a:t>
                      </a:r>
                      <a:endParaRPr/>
                    </a:p>
                  </a:txBody>
                  <a:tcPr marT="9150" marB="9150" marR="27425" marL="27425" anchor="ctr">
                    <a:solidFill>
                      <a:srgbClr val="11233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160" u="none" cap="none" strike="noStrik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Previous approach</a:t>
                      </a:r>
                      <a:endParaRPr/>
                    </a:p>
                  </a:txBody>
                  <a:tcPr marT="9150" marB="9150" marR="27425" marL="27425" anchor="ctr">
                    <a:solidFill>
                      <a:srgbClr val="11233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160" u="none" cap="none" strike="noStrik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Updated test</a:t>
                      </a:r>
                      <a:endParaRPr/>
                    </a:p>
                  </a:txBody>
                  <a:tcPr marT="9150" marB="9150" marR="27425" marL="27425" anchor="ctr">
                    <a:solidFill>
                      <a:srgbClr val="11233C"/>
                    </a:solidFill>
                  </a:tcPr>
                </a:tc>
              </a:tr>
              <a:tr h="5632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130" u="none" cap="none" strike="noStrike">
                          <a:solidFill>
                            <a:srgbClr val="1E252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Frames checked</a:t>
                      </a:r>
                      <a:endParaRPr/>
                    </a:p>
                  </a:txBody>
                  <a:tcPr marT="9150" marB="9150" marR="27425" marL="274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130" u="none" cap="none" strike="noStrike">
                          <a:solidFill>
                            <a:srgbClr val="1E252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32 frames</a:t>
                      </a:r>
                      <a:endParaRPr/>
                    </a:p>
                  </a:txBody>
                  <a:tcPr marT="9150" marB="9150" marR="27425" marL="274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130" u="none" cap="none" strike="noStrike">
                          <a:solidFill>
                            <a:srgbClr val="14A069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64 frames per video</a:t>
                      </a:r>
                      <a:endParaRPr/>
                    </a:p>
                  </a:txBody>
                  <a:tcPr marT="9150" marB="9150" marR="27425" marL="27425" anchor="ctr">
                    <a:solidFill>
                      <a:srgbClr val="FFFFFF"/>
                    </a:solidFill>
                  </a:tcPr>
                </a:tc>
              </a:tr>
              <a:tr h="5632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130" u="none" cap="none" strike="noStrike">
                          <a:solidFill>
                            <a:srgbClr val="1E252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Video quality</a:t>
                      </a:r>
                      <a:endParaRPr/>
                    </a:p>
                  </a:txBody>
                  <a:tcPr marT="9150" marB="9150" marR="27425" marL="27425" anchor="ctr">
                    <a:solidFill>
                      <a:srgbClr val="F5F8F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130" u="none" cap="none" strike="noStrike">
                          <a:solidFill>
                            <a:srgbClr val="1E252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Normal / high quality</a:t>
                      </a:r>
                      <a:endParaRPr/>
                    </a:p>
                  </a:txBody>
                  <a:tcPr marT="9150" marB="9150" marR="27425" marL="27425" anchor="ctr">
                    <a:solidFill>
                      <a:srgbClr val="F5F8F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130" u="none" cap="none" strike="noStrike">
                          <a:solidFill>
                            <a:srgbClr val="14A069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Low-resolution videos included</a:t>
                      </a:r>
                      <a:endParaRPr/>
                    </a:p>
                  </a:txBody>
                  <a:tcPr marT="9150" marB="9150" marR="27425" marL="27425" anchor="ctr">
                    <a:solidFill>
                      <a:srgbClr val="F5F8FA"/>
                    </a:solidFill>
                  </a:tcPr>
                </a:tc>
              </a:tr>
              <a:tr h="5632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130" u="none" cap="none" strike="noStrike">
                          <a:solidFill>
                            <a:srgbClr val="1E252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Enhancement check</a:t>
                      </a:r>
                      <a:endParaRPr/>
                    </a:p>
                  </a:txBody>
                  <a:tcPr marT="9150" marB="9150" marR="27425" marL="274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130" u="none" cap="none" strike="noStrike">
                          <a:solidFill>
                            <a:srgbClr val="1E252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Limited comparison</a:t>
                      </a:r>
                      <a:endParaRPr/>
                    </a:p>
                  </a:txBody>
                  <a:tcPr marT="9150" marB="9150" marR="27425" marL="274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130" u="none" cap="none" strike="noStrike">
                          <a:solidFill>
                            <a:srgbClr val="14A069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Original vs Enhanced</a:t>
                      </a:r>
                      <a:endParaRPr/>
                    </a:p>
                  </a:txBody>
                  <a:tcPr marT="9150" marB="9150" marR="27425" marL="27425" anchor="ctr">
                    <a:solidFill>
                      <a:srgbClr val="FFFFFF"/>
                    </a:solidFill>
                  </a:tcPr>
                </a:tc>
              </a:tr>
              <a:tr h="5632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130" u="none" cap="none" strike="noStrike">
                          <a:solidFill>
                            <a:srgbClr val="1E252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Kaggle test</a:t>
                      </a:r>
                      <a:endParaRPr/>
                    </a:p>
                  </a:txBody>
                  <a:tcPr marT="9150" marB="9150" marR="27425" marL="27425" anchor="ctr">
                    <a:solidFill>
                      <a:srgbClr val="F5F8F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130" u="none" cap="none" strike="noStrike">
                          <a:solidFill>
                            <a:srgbClr val="1E252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Single example</a:t>
                      </a:r>
                      <a:endParaRPr/>
                    </a:p>
                  </a:txBody>
                  <a:tcPr marT="9150" marB="9150" marR="27425" marL="27425" anchor="ctr">
                    <a:solidFill>
                      <a:srgbClr val="F5F8F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130" u="none" cap="none" strike="noStrike">
                          <a:solidFill>
                            <a:srgbClr val="14A069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 different REAL low-resolution videos</a:t>
                      </a:r>
                      <a:endParaRPr/>
                    </a:p>
                  </a:txBody>
                  <a:tcPr marT="9150" marB="9150" marR="27425" marL="27425" anchor="ctr">
                    <a:solidFill>
                      <a:srgbClr val="F5F8FA"/>
                    </a:solidFill>
                  </a:tcPr>
                </a:tc>
              </a:tr>
            </a:tbl>
          </a:graphicData>
        </a:graphic>
      </p:graphicFrame>
      <p:sp>
        <p:nvSpPr>
          <p:cNvPr id="657" name="Google Shape;657;p35"/>
          <p:cNvSpPr/>
          <p:nvPr/>
        </p:nvSpPr>
        <p:spPr>
          <a:xfrm>
            <a:off x="658368" y="4370832"/>
            <a:ext cx="3273552" cy="987552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9525">
            <a:solidFill>
              <a:srgbClr val="CFD8E1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58" name="Google Shape;658;p35"/>
          <p:cNvSpPr/>
          <p:nvPr/>
        </p:nvSpPr>
        <p:spPr>
          <a:xfrm>
            <a:off x="658368" y="4370832"/>
            <a:ext cx="64008" cy="987552"/>
          </a:xfrm>
          <a:prstGeom prst="rect">
            <a:avLst/>
          </a:prstGeom>
          <a:solidFill>
            <a:srgbClr val="26AEA5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59" name="Google Shape;659;p35"/>
          <p:cNvSpPr txBox="1"/>
          <p:nvPr/>
        </p:nvSpPr>
        <p:spPr>
          <a:xfrm>
            <a:off x="822959" y="4425696"/>
            <a:ext cx="3017520" cy="146304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36575" spcFirstLastPara="1" rIns="36575" wrap="square" tIns="182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30" u="none" cap="none" strike="noStrike">
                <a:solidFill>
                  <a:srgbClr val="495E79"/>
                </a:solidFill>
                <a:latin typeface="Arial"/>
                <a:ea typeface="Arial"/>
                <a:cs typeface="Arial"/>
                <a:sym typeface="Arial"/>
              </a:rPr>
              <a:t>WHY 64 FRAMES</a:t>
            </a:r>
            <a:endParaRPr/>
          </a:p>
        </p:txBody>
      </p:sp>
      <p:sp>
        <p:nvSpPr>
          <p:cNvPr id="660" name="Google Shape;660;p35"/>
          <p:cNvSpPr txBox="1"/>
          <p:nvPr/>
        </p:nvSpPr>
        <p:spPr>
          <a:xfrm>
            <a:off x="822959" y="4608576"/>
            <a:ext cx="301752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36575" spcFirstLastPara="1" rIns="36575" wrap="square" tIns="182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50" u="none" cap="none" strike="noStrike">
                <a:solidFill>
                  <a:srgbClr val="11233C"/>
                </a:solidFill>
                <a:latin typeface="Arial"/>
                <a:ea typeface="Arial"/>
                <a:cs typeface="Arial"/>
                <a:sym typeface="Arial"/>
              </a:rPr>
              <a:t>More coverage</a:t>
            </a:r>
            <a:endParaRPr/>
          </a:p>
        </p:txBody>
      </p:sp>
      <p:sp>
        <p:nvSpPr>
          <p:cNvPr id="661" name="Google Shape;661;p35"/>
          <p:cNvSpPr txBox="1"/>
          <p:nvPr/>
        </p:nvSpPr>
        <p:spPr>
          <a:xfrm>
            <a:off x="822959" y="4892040"/>
            <a:ext cx="3017520" cy="429768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36575" spcFirstLastPara="1" rIns="36575" wrap="square" tIns="182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60" u="none" cap="none" strike="noStrike">
                <a:solidFill>
                  <a:srgbClr val="495E79"/>
                </a:solidFill>
                <a:latin typeface="Arial"/>
                <a:ea typeface="Arial"/>
                <a:cs typeface="Arial"/>
                <a:sym typeface="Arial"/>
              </a:rPr>
              <a:t>More moments from each video are reviewed</a:t>
            </a:r>
            <a:endParaRPr/>
          </a:p>
        </p:txBody>
      </p:sp>
      <p:sp>
        <p:nvSpPr>
          <p:cNvPr id="662" name="Google Shape;662;p35"/>
          <p:cNvSpPr/>
          <p:nvPr/>
        </p:nvSpPr>
        <p:spPr>
          <a:xfrm>
            <a:off x="4462272" y="4370832"/>
            <a:ext cx="3273552" cy="987552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9525">
            <a:solidFill>
              <a:srgbClr val="CFD8E1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63" name="Google Shape;663;p35"/>
          <p:cNvSpPr/>
          <p:nvPr/>
        </p:nvSpPr>
        <p:spPr>
          <a:xfrm>
            <a:off x="4462272" y="4370832"/>
            <a:ext cx="64008" cy="987552"/>
          </a:xfrm>
          <a:prstGeom prst="rect">
            <a:avLst/>
          </a:prstGeom>
          <a:solidFill>
            <a:srgbClr val="FF5B37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64" name="Google Shape;664;p35"/>
          <p:cNvSpPr txBox="1"/>
          <p:nvPr/>
        </p:nvSpPr>
        <p:spPr>
          <a:xfrm>
            <a:off x="4626864" y="4425696"/>
            <a:ext cx="3017520" cy="146304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36575" spcFirstLastPara="1" rIns="36575" wrap="square" tIns="182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30" u="none" cap="none" strike="noStrike">
                <a:solidFill>
                  <a:srgbClr val="495E79"/>
                </a:solidFill>
                <a:latin typeface="Arial"/>
                <a:ea typeface="Arial"/>
                <a:cs typeface="Arial"/>
                <a:sym typeface="Arial"/>
              </a:rPr>
              <a:t>WHY LOW RESOLUTION</a:t>
            </a:r>
            <a:endParaRPr/>
          </a:p>
        </p:txBody>
      </p:sp>
      <p:sp>
        <p:nvSpPr>
          <p:cNvPr id="665" name="Google Shape;665;p35"/>
          <p:cNvSpPr txBox="1"/>
          <p:nvPr/>
        </p:nvSpPr>
        <p:spPr>
          <a:xfrm>
            <a:off x="4626864" y="4608576"/>
            <a:ext cx="301752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36575" spcFirstLastPara="1" rIns="36575" wrap="square" tIns="182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50" u="none" cap="none" strike="noStrike">
                <a:solidFill>
                  <a:srgbClr val="11233C"/>
                </a:solidFill>
                <a:latin typeface="Arial"/>
                <a:ea typeface="Arial"/>
                <a:cs typeface="Arial"/>
                <a:sym typeface="Arial"/>
              </a:rPr>
              <a:t>Harder input</a:t>
            </a:r>
            <a:endParaRPr/>
          </a:p>
        </p:txBody>
      </p:sp>
      <p:sp>
        <p:nvSpPr>
          <p:cNvPr id="666" name="Google Shape;666;p35"/>
          <p:cNvSpPr txBox="1"/>
          <p:nvPr/>
        </p:nvSpPr>
        <p:spPr>
          <a:xfrm>
            <a:off x="4626864" y="4892040"/>
            <a:ext cx="3017520" cy="429768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36575" spcFirstLastPara="1" rIns="36575" wrap="square" tIns="182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60" u="none" cap="none" strike="noStrike">
                <a:solidFill>
                  <a:srgbClr val="495E79"/>
                </a:solidFill>
                <a:latin typeface="Arial"/>
                <a:ea typeface="Arial"/>
                <a:cs typeface="Arial"/>
                <a:sym typeface="Arial"/>
              </a:rPr>
              <a:t>Checks performance on poorer video quality</a:t>
            </a:r>
            <a:endParaRPr/>
          </a:p>
        </p:txBody>
      </p:sp>
      <p:sp>
        <p:nvSpPr>
          <p:cNvPr id="667" name="Google Shape;667;p35"/>
          <p:cNvSpPr/>
          <p:nvPr/>
        </p:nvSpPr>
        <p:spPr>
          <a:xfrm>
            <a:off x="8266175" y="4370832"/>
            <a:ext cx="3273552" cy="987552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9525">
            <a:solidFill>
              <a:srgbClr val="CFD8E1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68" name="Google Shape;668;p35"/>
          <p:cNvSpPr/>
          <p:nvPr/>
        </p:nvSpPr>
        <p:spPr>
          <a:xfrm>
            <a:off x="8266175" y="4370832"/>
            <a:ext cx="64008" cy="987552"/>
          </a:xfrm>
          <a:prstGeom prst="rect">
            <a:avLst/>
          </a:prstGeom>
          <a:solidFill>
            <a:srgbClr val="14A069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69" name="Google Shape;669;p35"/>
          <p:cNvSpPr txBox="1"/>
          <p:nvPr/>
        </p:nvSpPr>
        <p:spPr>
          <a:xfrm>
            <a:off x="8430767" y="4425696"/>
            <a:ext cx="3017520" cy="146304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36575" spcFirstLastPara="1" rIns="36575" wrap="square" tIns="182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30" u="none" cap="none" strike="noStrike">
                <a:solidFill>
                  <a:srgbClr val="495E79"/>
                </a:solidFill>
                <a:latin typeface="Arial"/>
                <a:ea typeface="Arial"/>
                <a:cs typeface="Arial"/>
                <a:sym typeface="Arial"/>
              </a:rPr>
              <a:t>WHY ENHANCE</a:t>
            </a:r>
            <a:endParaRPr/>
          </a:p>
        </p:txBody>
      </p:sp>
      <p:sp>
        <p:nvSpPr>
          <p:cNvPr id="670" name="Google Shape;670;p35"/>
          <p:cNvSpPr txBox="1"/>
          <p:nvPr/>
        </p:nvSpPr>
        <p:spPr>
          <a:xfrm>
            <a:off x="8430767" y="4608576"/>
            <a:ext cx="301752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36575" spcFirstLastPara="1" rIns="36575" wrap="square" tIns="182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50" u="none" cap="none" strike="noStrike">
                <a:solidFill>
                  <a:srgbClr val="11233C"/>
                </a:solidFill>
                <a:latin typeface="Arial"/>
                <a:ea typeface="Arial"/>
                <a:cs typeface="Arial"/>
                <a:sym typeface="Arial"/>
              </a:rPr>
              <a:t>Measure benefit</a:t>
            </a:r>
            <a:endParaRPr/>
          </a:p>
        </p:txBody>
      </p:sp>
      <p:sp>
        <p:nvSpPr>
          <p:cNvPr id="671" name="Google Shape;671;p35"/>
          <p:cNvSpPr txBox="1"/>
          <p:nvPr/>
        </p:nvSpPr>
        <p:spPr>
          <a:xfrm>
            <a:off x="8430767" y="4892040"/>
            <a:ext cx="3017520" cy="429768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36575" spcFirstLastPara="1" rIns="36575" wrap="square" tIns="182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60" u="none" cap="none" strike="noStrike">
                <a:solidFill>
                  <a:srgbClr val="495E79"/>
                </a:solidFill>
                <a:latin typeface="Arial"/>
                <a:ea typeface="Arial"/>
                <a:cs typeface="Arial"/>
                <a:sym typeface="Arial"/>
              </a:rPr>
              <a:t>Compare confidence before and after</a:t>
            </a:r>
            <a:endParaRPr/>
          </a:p>
        </p:txBody>
      </p:sp>
      <p:sp>
        <p:nvSpPr>
          <p:cNvPr id="672" name="Google Shape;672;p35"/>
          <p:cNvSpPr/>
          <p:nvPr/>
        </p:nvSpPr>
        <p:spPr>
          <a:xfrm>
            <a:off x="502920" y="5559552"/>
            <a:ext cx="11183112" cy="621792"/>
          </a:xfrm>
          <a:prstGeom prst="roundRect">
            <a:avLst>
              <a:gd fmla="val 16667" name="adj"/>
            </a:avLst>
          </a:prstGeom>
          <a:solidFill>
            <a:srgbClr val="EBF8F3"/>
          </a:solidFill>
          <a:ln cap="flat" cmpd="sng" w="9525">
            <a:solidFill>
              <a:srgbClr val="CFD8E1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73" name="Google Shape;673;p35"/>
          <p:cNvSpPr txBox="1"/>
          <p:nvPr/>
        </p:nvSpPr>
        <p:spPr>
          <a:xfrm>
            <a:off x="713232" y="5632704"/>
            <a:ext cx="10762488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36575" spcFirstLastPara="1" rIns="36575" wrap="square" tIns="1827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70" u="none" cap="none" strike="noStrike">
                <a:solidFill>
                  <a:srgbClr val="11233C"/>
                </a:solidFill>
                <a:latin typeface="Arial"/>
                <a:ea typeface="Arial"/>
                <a:cs typeface="Arial"/>
                <a:sym typeface="Arial"/>
              </a:rPr>
              <a:t>Main question: does enhancement improve the result, or is the original low-resolution video already sufficient?</a:t>
            </a:r>
            <a:endParaRPr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77" name="Shape 6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8" name="Google Shape;678;p36"/>
          <p:cNvSpPr txBox="1"/>
          <p:nvPr/>
        </p:nvSpPr>
        <p:spPr>
          <a:xfrm>
            <a:off x="329184" y="73152"/>
            <a:ext cx="45720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36575" spcFirstLastPara="1" rIns="36575" wrap="square" tIns="182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50" u="none" cap="none" strike="noStrike">
                <a:solidFill>
                  <a:srgbClr val="FF5B37"/>
                </a:solidFill>
                <a:latin typeface="Arial"/>
                <a:ea typeface="Arial"/>
                <a:cs typeface="Arial"/>
                <a:sym typeface="Arial"/>
              </a:rPr>
              <a:t>FACE OUTPUT</a:t>
            </a:r>
            <a:endParaRPr/>
          </a:p>
        </p:txBody>
      </p:sp>
      <p:sp>
        <p:nvSpPr>
          <p:cNvPr id="679" name="Google Shape;679;p36"/>
          <p:cNvSpPr txBox="1"/>
          <p:nvPr/>
        </p:nvSpPr>
        <p:spPr>
          <a:xfrm>
            <a:off x="329184" y="310896"/>
            <a:ext cx="11247120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36575" spcFirstLastPara="1" rIns="36575" wrap="square" tIns="182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300" u="none" cap="none" strike="noStrike">
                <a:solidFill>
                  <a:srgbClr val="11233C"/>
                </a:solidFill>
                <a:latin typeface="Arial"/>
                <a:ea typeface="Arial"/>
                <a:cs typeface="Arial"/>
                <a:sym typeface="Arial"/>
              </a:rPr>
              <a:t>What the model actually saw</a:t>
            </a:r>
            <a:endParaRPr/>
          </a:p>
        </p:txBody>
      </p:sp>
      <p:sp>
        <p:nvSpPr>
          <p:cNvPr id="680" name="Google Shape;680;p36"/>
          <p:cNvSpPr txBox="1"/>
          <p:nvPr/>
        </p:nvSpPr>
        <p:spPr>
          <a:xfrm>
            <a:off x="329184" y="749808"/>
            <a:ext cx="1124712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36575" spcFirstLastPara="1" rIns="36575" wrap="square" tIns="182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495E79"/>
                </a:solidFill>
                <a:latin typeface="Arial"/>
                <a:ea typeface="Arial"/>
                <a:cs typeface="Arial"/>
                <a:sym typeface="Arial"/>
              </a:rPr>
              <a:t>Example extracted face frames from each low-resolution REAL video, before and after enhancement.</a:t>
            </a:r>
            <a:endParaRPr/>
          </a:p>
        </p:txBody>
      </p:sp>
      <p:sp>
        <p:nvSpPr>
          <p:cNvPr id="681" name="Google Shape;681;p36"/>
          <p:cNvSpPr/>
          <p:nvPr/>
        </p:nvSpPr>
        <p:spPr>
          <a:xfrm>
            <a:off x="329184" y="1042415"/>
            <a:ext cx="11503152" cy="32004"/>
          </a:xfrm>
          <a:prstGeom prst="rect">
            <a:avLst/>
          </a:prstGeom>
          <a:solidFill>
            <a:srgbClr val="CFD8E1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82" name="Google Shape;682;p36"/>
          <p:cNvSpPr txBox="1"/>
          <p:nvPr/>
        </p:nvSpPr>
        <p:spPr>
          <a:xfrm>
            <a:off x="502920" y="1234440"/>
            <a:ext cx="3154680" cy="237744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36575" spcFirstLastPara="1" rIns="36575" wrap="square" tIns="1827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50" u="none" cap="none" strike="noStrike">
                <a:solidFill>
                  <a:srgbClr val="11233C"/>
                </a:solidFill>
                <a:latin typeface="Arial"/>
                <a:ea typeface="Arial"/>
                <a:cs typeface="Arial"/>
                <a:sym typeface="Arial"/>
              </a:rPr>
              <a:t>REAL Low 1  •  348 × 500</a:t>
            </a:r>
            <a:endParaRPr/>
          </a:p>
        </p:txBody>
      </p:sp>
      <p:sp>
        <p:nvSpPr>
          <p:cNvPr id="683" name="Google Shape;683;p36"/>
          <p:cNvSpPr txBox="1"/>
          <p:nvPr/>
        </p:nvSpPr>
        <p:spPr>
          <a:xfrm>
            <a:off x="502920" y="1517904"/>
            <a:ext cx="1517904" cy="182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36575" spcFirstLastPara="1" rIns="36575" wrap="square" tIns="1827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69" u="none" cap="none" strike="noStrike">
                <a:solidFill>
                  <a:srgbClr val="495E79"/>
                </a:solidFill>
                <a:latin typeface="Arial"/>
                <a:ea typeface="Arial"/>
                <a:cs typeface="Arial"/>
                <a:sym typeface="Arial"/>
              </a:rPr>
              <a:t>ORIGINAL</a:t>
            </a:r>
            <a:endParaRPr/>
          </a:p>
        </p:txBody>
      </p:sp>
      <p:sp>
        <p:nvSpPr>
          <p:cNvPr id="684" name="Google Shape;684;p36"/>
          <p:cNvSpPr txBox="1"/>
          <p:nvPr/>
        </p:nvSpPr>
        <p:spPr>
          <a:xfrm>
            <a:off x="2139696" y="1517904"/>
            <a:ext cx="1517904" cy="182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36575" spcFirstLastPara="1" rIns="36575" wrap="square" tIns="1827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69" u="none" cap="none" strike="noStrike">
                <a:solidFill>
                  <a:srgbClr val="495E79"/>
                </a:solidFill>
                <a:latin typeface="Arial"/>
                <a:ea typeface="Arial"/>
                <a:cs typeface="Arial"/>
                <a:sym typeface="Arial"/>
              </a:rPr>
              <a:t>ENHANCED</a:t>
            </a:r>
            <a:endParaRPr/>
          </a:p>
        </p:txBody>
      </p:sp>
      <p:sp>
        <p:nvSpPr>
          <p:cNvPr id="685" name="Google Shape;685;p36"/>
          <p:cNvSpPr/>
          <p:nvPr/>
        </p:nvSpPr>
        <p:spPr>
          <a:xfrm>
            <a:off x="502920" y="1746504"/>
            <a:ext cx="1517904" cy="1975104"/>
          </a:xfrm>
          <a:prstGeom prst="roundRect">
            <a:avLst>
              <a:gd fmla="val 16667" name="adj"/>
            </a:avLst>
          </a:prstGeom>
          <a:solidFill>
            <a:srgbClr val="F5F8FA"/>
          </a:solidFill>
          <a:ln cap="flat" cmpd="sng" w="9525">
            <a:solidFill>
              <a:srgbClr val="CFD8E1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image.png" id="686" name="Google Shape;686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6072" y="1828800"/>
            <a:ext cx="1371600" cy="1737360"/>
          </a:xfrm>
          <a:prstGeom prst="rect">
            <a:avLst/>
          </a:prstGeom>
          <a:noFill/>
          <a:ln>
            <a:noFill/>
          </a:ln>
        </p:spPr>
      </p:pic>
      <p:sp>
        <p:nvSpPr>
          <p:cNvPr id="687" name="Google Shape;687;p36"/>
          <p:cNvSpPr/>
          <p:nvPr/>
        </p:nvSpPr>
        <p:spPr>
          <a:xfrm>
            <a:off x="2139696" y="1746504"/>
            <a:ext cx="1517904" cy="1975104"/>
          </a:xfrm>
          <a:prstGeom prst="roundRect">
            <a:avLst>
              <a:gd fmla="val 16667" name="adj"/>
            </a:avLst>
          </a:prstGeom>
          <a:solidFill>
            <a:srgbClr val="F5F8FA"/>
          </a:solidFill>
          <a:ln cap="flat" cmpd="sng" w="9525">
            <a:solidFill>
              <a:srgbClr val="CFD8E1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image.png" id="688" name="Google Shape;688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212848" y="1828800"/>
            <a:ext cx="1371600" cy="1737360"/>
          </a:xfrm>
          <a:prstGeom prst="rect">
            <a:avLst/>
          </a:prstGeom>
          <a:noFill/>
          <a:ln>
            <a:noFill/>
          </a:ln>
        </p:spPr>
      </p:pic>
      <p:sp>
        <p:nvSpPr>
          <p:cNvPr id="689" name="Google Shape;689;p36"/>
          <p:cNvSpPr txBox="1"/>
          <p:nvPr/>
        </p:nvSpPr>
        <p:spPr>
          <a:xfrm>
            <a:off x="502920" y="3803904"/>
            <a:ext cx="3154680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36575" spcFirstLastPara="1" rIns="36575" wrap="square" tIns="1827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10" u="none" cap="none" strike="noStrike">
                <a:solidFill>
                  <a:srgbClr val="495E79"/>
                </a:solidFill>
                <a:latin typeface="Arial"/>
                <a:ea typeface="Arial"/>
                <a:cs typeface="Arial"/>
                <a:sym typeface="Arial"/>
              </a:rPr>
              <a:t>64 / 64 faces found in Original and Enhanced</a:t>
            </a:r>
            <a:endParaRPr/>
          </a:p>
        </p:txBody>
      </p:sp>
      <p:sp>
        <p:nvSpPr>
          <p:cNvPr id="690" name="Google Shape;690;p36"/>
          <p:cNvSpPr txBox="1"/>
          <p:nvPr/>
        </p:nvSpPr>
        <p:spPr>
          <a:xfrm>
            <a:off x="4178808" y="1234440"/>
            <a:ext cx="3154680" cy="237744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36575" spcFirstLastPara="1" rIns="36575" wrap="square" tIns="1827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50" u="none" cap="none" strike="noStrike">
                <a:solidFill>
                  <a:srgbClr val="11233C"/>
                </a:solidFill>
                <a:latin typeface="Arial"/>
                <a:ea typeface="Arial"/>
                <a:cs typeface="Arial"/>
                <a:sym typeface="Arial"/>
              </a:rPr>
              <a:t>REAL Low 2  •  456 × 500</a:t>
            </a:r>
            <a:endParaRPr/>
          </a:p>
        </p:txBody>
      </p:sp>
      <p:sp>
        <p:nvSpPr>
          <p:cNvPr id="691" name="Google Shape;691;p36"/>
          <p:cNvSpPr txBox="1"/>
          <p:nvPr/>
        </p:nvSpPr>
        <p:spPr>
          <a:xfrm>
            <a:off x="4178808" y="1517904"/>
            <a:ext cx="1517904" cy="182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36575" spcFirstLastPara="1" rIns="36575" wrap="square" tIns="1827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69" u="none" cap="none" strike="noStrike">
                <a:solidFill>
                  <a:srgbClr val="495E79"/>
                </a:solidFill>
                <a:latin typeface="Arial"/>
                <a:ea typeface="Arial"/>
                <a:cs typeface="Arial"/>
                <a:sym typeface="Arial"/>
              </a:rPr>
              <a:t>ORIGINAL</a:t>
            </a:r>
            <a:endParaRPr/>
          </a:p>
        </p:txBody>
      </p:sp>
      <p:sp>
        <p:nvSpPr>
          <p:cNvPr id="692" name="Google Shape;692;p36"/>
          <p:cNvSpPr txBox="1"/>
          <p:nvPr/>
        </p:nvSpPr>
        <p:spPr>
          <a:xfrm>
            <a:off x="5815584" y="1517904"/>
            <a:ext cx="1517904" cy="182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36575" spcFirstLastPara="1" rIns="36575" wrap="square" tIns="1827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69" u="none" cap="none" strike="noStrike">
                <a:solidFill>
                  <a:srgbClr val="495E79"/>
                </a:solidFill>
                <a:latin typeface="Arial"/>
                <a:ea typeface="Arial"/>
                <a:cs typeface="Arial"/>
                <a:sym typeface="Arial"/>
              </a:rPr>
              <a:t>ENHANCED</a:t>
            </a:r>
            <a:endParaRPr/>
          </a:p>
        </p:txBody>
      </p:sp>
      <p:sp>
        <p:nvSpPr>
          <p:cNvPr id="693" name="Google Shape;693;p36"/>
          <p:cNvSpPr/>
          <p:nvPr/>
        </p:nvSpPr>
        <p:spPr>
          <a:xfrm>
            <a:off x="4178808" y="1746504"/>
            <a:ext cx="1517904" cy="1975104"/>
          </a:xfrm>
          <a:prstGeom prst="roundRect">
            <a:avLst>
              <a:gd fmla="val 16667" name="adj"/>
            </a:avLst>
          </a:prstGeom>
          <a:solidFill>
            <a:srgbClr val="F5F8FA"/>
          </a:solidFill>
          <a:ln cap="flat" cmpd="sng" w="9525">
            <a:solidFill>
              <a:srgbClr val="CFD8E1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image.png" id="694" name="Google Shape;694;p36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4251960" y="1828800"/>
            <a:ext cx="1371600" cy="1737360"/>
          </a:xfrm>
          <a:prstGeom prst="rect">
            <a:avLst/>
          </a:prstGeom>
          <a:noFill/>
          <a:ln>
            <a:noFill/>
          </a:ln>
        </p:spPr>
      </p:pic>
      <p:sp>
        <p:nvSpPr>
          <p:cNvPr id="695" name="Google Shape;695;p36"/>
          <p:cNvSpPr/>
          <p:nvPr/>
        </p:nvSpPr>
        <p:spPr>
          <a:xfrm>
            <a:off x="5815584" y="1746504"/>
            <a:ext cx="1517904" cy="1975104"/>
          </a:xfrm>
          <a:prstGeom prst="roundRect">
            <a:avLst>
              <a:gd fmla="val 16667" name="adj"/>
            </a:avLst>
          </a:prstGeom>
          <a:solidFill>
            <a:srgbClr val="F5F8FA"/>
          </a:solidFill>
          <a:ln cap="flat" cmpd="sng" w="9525">
            <a:solidFill>
              <a:srgbClr val="CFD8E1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image.png" id="696" name="Google Shape;696;p36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5888736" y="1828800"/>
            <a:ext cx="1371600" cy="1737360"/>
          </a:xfrm>
          <a:prstGeom prst="rect">
            <a:avLst/>
          </a:prstGeom>
          <a:noFill/>
          <a:ln>
            <a:noFill/>
          </a:ln>
        </p:spPr>
      </p:pic>
      <p:sp>
        <p:nvSpPr>
          <p:cNvPr id="697" name="Google Shape;697;p36"/>
          <p:cNvSpPr txBox="1"/>
          <p:nvPr/>
        </p:nvSpPr>
        <p:spPr>
          <a:xfrm>
            <a:off x="4178808" y="3803904"/>
            <a:ext cx="3154680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36575" spcFirstLastPara="1" rIns="36575" wrap="square" tIns="1827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10" u="none" cap="none" strike="noStrike">
                <a:solidFill>
                  <a:srgbClr val="495E79"/>
                </a:solidFill>
                <a:latin typeface="Arial"/>
                <a:ea typeface="Arial"/>
                <a:cs typeface="Arial"/>
                <a:sym typeface="Arial"/>
              </a:rPr>
              <a:t>64 / 64 faces found in Original and Enhanced</a:t>
            </a:r>
            <a:endParaRPr/>
          </a:p>
        </p:txBody>
      </p:sp>
      <p:sp>
        <p:nvSpPr>
          <p:cNvPr id="698" name="Google Shape;698;p36"/>
          <p:cNvSpPr txBox="1"/>
          <p:nvPr/>
        </p:nvSpPr>
        <p:spPr>
          <a:xfrm>
            <a:off x="7854696" y="1234440"/>
            <a:ext cx="3154680" cy="237744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36575" spcFirstLastPara="1" rIns="36575" wrap="square" tIns="1827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50" u="none" cap="none" strike="noStrike">
                <a:solidFill>
                  <a:srgbClr val="11233C"/>
                </a:solidFill>
                <a:latin typeface="Arial"/>
                <a:ea typeface="Arial"/>
                <a:cs typeface="Arial"/>
                <a:sym typeface="Arial"/>
              </a:rPr>
              <a:t>REAL Low 3  •  476 × 482</a:t>
            </a:r>
            <a:endParaRPr/>
          </a:p>
        </p:txBody>
      </p:sp>
      <p:sp>
        <p:nvSpPr>
          <p:cNvPr id="699" name="Google Shape;699;p36"/>
          <p:cNvSpPr txBox="1"/>
          <p:nvPr/>
        </p:nvSpPr>
        <p:spPr>
          <a:xfrm>
            <a:off x="7854696" y="1517904"/>
            <a:ext cx="1517904" cy="182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36575" spcFirstLastPara="1" rIns="36575" wrap="square" tIns="1827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69" u="none" cap="none" strike="noStrike">
                <a:solidFill>
                  <a:srgbClr val="495E79"/>
                </a:solidFill>
                <a:latin typeface="Arial"/>
                <a:ea typeface="Arial"/>
                <a:cs typeface="Arial"/>
                <a:sym typeface="Arial"/>
              </a:rPr>
              <a:t>ORIGINAL</a:t>
            </a:r>
            <a:endParaRPr/>
          </a:p>
        </p:txBody>
      </p:sp>
      <p:sp>
        <p:nvSpPr>
          <p:cNvPr id="700" name="Google Shape;700;p36"/>
          <p:cNvSpPr txBox="1"/>
          <p:nvPr/>
        </p:nvSpPr>
        <p:spPr>
          <a:xfrm>
            <a:off x="9491472" y="1517904"/>
            <a:ext cx="1517904" cy="182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36575" spcFirstLastPara="1" rIns="36575" wrap="square" tIns="1827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69" u="none" cap="none" strike="noStrike">
                <a:solidFill>
                  <a:srgbClr val="495E79"/>
                </a:solidFill>
                <a:latin typeface="Arial"/>
                <a:ea typeface="Arial"/>
                <a:cs typeface="Arial"/>
                <a:sym typeface="Arial"/>
              </a:rPr>
              <a:t>ENHANCED</a:t>
            </a:r>
            <a:endParaRPr/>
          </a:p>
        </p:txBody>
      </p:sp>
      <p:sp>
        <p:nvSpPr>
          <p:cNvPr id="701" name="Google Shape;701;p36"/>
          <p:cNvSpPr/>
          <p:nvPr/>
        </p:nvSpPr>
        <p:spPr>
          <a:xfrm>
            <a:off x="7854696" y="1746504"/>
            <a:ext cx="1517904" cy="1975104"/>
          </a:xfrm>
          <a:prstGeom prst="roundRect">
            <a:avLst>
              <a:gd fmla="val 16667" name="adj"/>
            </a:avLst>
          </a:prstGeom>
          <a:solidFill>
            <a:srgbClr val="F5F8FA"/>
          </a:solidFill>
          <a:ln cap="flat" cmpd="sng" w="9525">
            <a:solidFill>
              <a:srgbClr val="CFD8E1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image.png" id="702" name="Google Shape;702;p36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7927848" y="1828800"/>
            <a:ext cx="1371600" cy="1737360"/>
          </a:xfrm>
          <a:prstGeom prst="rect">
            <a:avLst/>
          </a:prstGeom>
          <a:noFill/>
          <a:ln>
            <a:noFill/>
          </a:ln>
        </p:spPr>
      </p:pic>
      <p:sp>
        <p:nvSpPr>
          <p:cNvPr id="703" name="Google Shape;703;p36"/>
          <p:cNvSpPr/>
          <p:nvPr/>
        </p:nvSpPr>
        <p:spPr>
          <a:xfrm>
            <a:off x="9491472" y="1746504"/>
            <a:ext cx="1517904" cy="1975104"/>
          </a:xfrm>
          <a:prstGeom prst="roundRect">
            <a:avLst>
              <a:gd fmla="val 16667" name="adj"/>
            </a:avLst>
          </a:prstGeom>
          <a:solidFill>
            <a:srgbClr val="F5F8FA"/>
          </a:solidFill>
          <a:ln cap="flat" cmpd="sng" w="9525">
            <a:solidFill>
              <a:srgbClr val="CFD8E1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image.png" id="704" name="Google Shape;704;p36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9564624" y="1828800"/>
            <a:ext cx="1371600" cy="1737360"/>
          </a:xfrm>
          <a:prstGeom prst="rect">
            <a:avLst/>
          </a:prstGeom>
          <a:noFill/>
          <a:ln>
            <a:noFill/>
          </a:ln>
        </p:spPr>
      </p:pic>
      <p:sp>
        <p:nvSpPr>
          <p:cNvPr id="705" name="Google Shape;705;p36"/>
          <p:cNvSpPr txBox="1"/>
          <p:nvPr/>
        </p:nvSpPr>
        <p:spPr>
          <a:xfrm>
            <a:off x="7854696" y="3803904"/>
            <a:ext cx="3154680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36575" spcFirstLastPara="1" rIns="36575" wrap="square" tIns="1827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10" u="none" cap="none" strike="noStrike">
                <a:solidFill>
                  <a:srgbClr val="495E79"/>
                </a:solidFill>
                <a:latin typeface="Arial"/>
                <a:ea typeface="Arial"/>
                <a:cs typeface="Arial"/>
                <a:sym typeface="Arial"/>
              </a:rPr>
              <a:t>64 / 64 faces found in Original and Enhanced</a:t>
            </a:r>
            <a:endParaRPr/>
          </a:p>
        </p:txBody>
      </p:sp>
      <p:sp>
        <p:nvSpPr>
          <p:cNvPr id="706" name="Google Shape;706;p36"/>
          <p:cNvSpPr/>
          <p:nvPr/>
        </p:nvSpPr>
        <p:spPr>
          <a:xfrm>
            <a:off x="621792" y="4315968"/>
            <a:ext cx="3429000" cy="91440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9525">
            <a:solidFill>
              <a:srgbClr val="CFD8E1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07" name="Google Shape;707;p36"/>
          <p:cNvSpPr/>
          <p:nvPr/>
        </p:nvSpPr>
        <p:spPr>
          <a:xfrm>
            <a:off x="621792" y="4315968"/>
            <a:ext cx="64008" cy="914400"/>
          </a:xfrm>
          <a:prstGeom prst="rect">
            <a:avLst/>
          </a:prstGeom>
          <a:solidFill>
            <a:srgbClr val="26AEA5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08" name="Google Shape;708;p36"/>
          <p:cNvSpPr txBox="1"/>
          <p:nvPr/>
        </p:nvSpPr>
        <p:spPr>
          <a:xfrm>
            <a:off x="786384" y="4370831"/>
            <a:ext cx="3172968" cy="146304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36575" spcFirstLastPara="1" rIns="36575" wrap="square" tIns="182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30" u="none" cap="none" strike="noStrike">
                <a:solidFill>
                  <a:srgbClr val="495E79"/>
                </a:solidFill>
                <a:latin typeface="Arial"/>
                <a:ea typeface="Arial"/>
                <a:cs typeface="Arial"/>
                <a:sym typeface="Arial"/>
              </a:rPr>
              <a:t>FACE DETECTION</a:t>
            </a:r>
            <a:endParaRPr/>
          </a:p>
        </p:txBody>
      </p:sp>
      <p:sp>
        <p:nvSpPr>
          <p:cNvPr id="709" name="Google Shape;709;p36"/>
          <p:cNvSpPr txBox="1"/>
          <p:nvPr/>
        </p:nvSpPr>
        <p:spPr>
          <a:xfrm>
            <a:off x="786384" y="4553712"/>
            <a:ext cx="3172968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36575" spcFirstLastPara="1" rIns="36575" wrap="square" tIns="182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50" u="none" cap="none" strike="noStrike">
                <a:solidFill>
                  <a:srgbClr val="11233C"/>
                </a:solidFill>
                <a:latin typeface="Arial"/>
                <a:ea typeface="Arial"/>
                <a:cs typeface="Arial"/>
                <a:sym typeface="Arial"/>
              </a:rPr>
              <a:t>No issue</a:t>
            </a:r>
            <a:endParaRPr/>
          </a:p>
        </p:txBody>
      </p:sp>
      <p:sp>
        <p:nvSpPr>
          <p:cNvPr id="710" name="Google Shape;710;p36"/>
          <p:cNvSpPr txBox="1"/>
          <p:nvPr/>
        </p:nvSpPr>
        <p:spPr>
          <a:xfrm>
            <a:off x="786384" y="4837176"/>
            <a:ext cx="3172968" cy="356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36575" spcFirstLastPara="1" rIns="36575" wrap="square" tIns="182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60" u="none" cap="none" strike="noStrike">
                <a:solidFill>
                  <a:srgbClr val="495E79"/>
                </a:solidFill>
                <a:latin typeface="Arial"/>
                <a:ea typeface="Arial"/>
                <a:cs typeface="Arial"/>
                <a:sym typeface="Arial"/>
              </a:rPr>
              <a:t>64 / 64 faces found for all 3 videos</a:t>
            </a:r>
            <a:endParaRPr/>
          </a:p>
        </p:txBody>
      </p:sp>
      <p:sp>
        <p:nvSpPr>
          <p:cNvPr id="711" name="Google Shape;711;p36"/>
          <p:cNvSpPr/>
          <p:nvPr/>
        </p:nvSpPr>
        <p:spPr>
          <a:xfrm>
            <a:off x="4389120" y="4315968"/>
            <a:ext cx="3429000" cy="91440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9525">
            <a:solidFill>
              <a:srgbClr val="CFD8E1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12" name="Google Shape;712;p36"/>
          <p:cNvSpPr/>
          <p:nvPr/>
        </p:nvSpPr>
        <p:spPr>
          <a:xfrm>
            <a:off x="4389120" y="4315968"/>
            <a:ext cx="64008" cy="914400"/>
          </a:xfrm>
          <a:prstGeom prst="rect">
            <a:avLst/>
          </a:prstGeom>
          <a:solidFill>
            <a:srgbClr val="FF5B37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13" name="Google Shape;713;p36"/>
          <p:cNvSpPr txBox="1"/>
          <p:nvPr/>
        </p:nvSpPr>
        <p:spPr>
          <a:xfrm>
            <a:off x="4553712" y="4370831"/>
            <a:ext cx="3172968" cy="146304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36575" spcFirstLastPara="1" rIns="36575" wrap="square" tIns="182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30" u="none" cap="none" strike="noStrike">
                <a:solidFill>
                  <a:srgbClr val="495E79"/>
                </a:solidFill>
                <a:latin typeface="Arial"/>
                <a:ea typeface="Arial"/>
                <a:cs typeface="Arial"/>
                <a:sym typeface="Arial"/>
              </a:rPr>
              <a:t>VISUAL CHANGE</a:t>
            </a:r>
            <a:endParaRPr/>
          </a:p>
        </p:txBody>
      </p:sp>
      <p:sp>
        <p:nvSpPr>
          <p:cNvPr id="714" name="Google Shape;714;p36"/>
          <p:cNvSpPr txBox="1"/>
          <p:nvPr/>
        </p:nvSpPr>
        <p:spPr>
          <a:xfrm>
            <a:off x="4553712" y="4553712"/>
            <a:ext cx="3172968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36575" spcFirstLastPara="1" rIns="36575" wrap="square" tIns="182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50" u="none" cap="none" strike="noStrike">
                <a:solidFill>
                  <a:srgbClr val="11233C"/>
                </a:solidFill>
                <a:latin typeface="Arial"/>
                <a:ea typeface="Arial"/>
                <a:cs typeface="Arial"/>
                <a:sym typeface="Arial"/>
              </a:rPr>
              <a:t>Faces look clearer</a:t>
            </a:r>
            <a:endParaRPr/>
          </a:p>
        </p:txBody>
      </p:sp>
      <p:sp>
        <p:nvSpPr>
          <p:cNvPr id="715" name="Google Shape;715;p36"/>
          <p:cNvSpPr txBox="1"/>
          <p:nvPr/>
        </p:nvSpPr>
        <p:spPr>
          <a:xfrm>
            <a:off x="4553712" y="4837176"/>
            <a:ext cx="3172968" cy="356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36575" spcFirstLastPara="1" rIns="36575" wrap="square" tIns="182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60" u="none" cap="none" strike="noStrike">
                <a:solidFill>
                  <a:srgbClr val="495E79"/>
                </a:solidFill>
                <a:latin typeface="Arial"/>
                <a:ea typeface="Arial"/>
                <a:cs typeface="Arial"/>
                <a:sym typeface="Arial"/>
              </a:rPr>
              <a:t>Enhancement changes appearance, not the label</a:t>
            </a:r>
            <a:endParaRPr/>
          </a:p>
        </p:txBody>
      </p:sp>
      <p:sp>
        <p:nvSpPr>
          <p:cNvPr id="716" name="Google Shape;716;p36"/>
          <p:cNvSpPr/>
          <p:nvPr/>
        </p:nvSpPr>
        <p:spPr>
          <a:xfrm>
            <a:off x="8156448" y="4315968"/>
            <a:ext cx="3429000" cy="91440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9525">
            <a:solidFill>
              <a:srgbClr val="CFD8E1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17" name="Google Shape;717;p36"/>
          <p:cNvSpPr/>
          <p:nvPr/>
        </p:nvSpPr>
        <p:spPr>
          <a:xfrm>
            <a:off x="8156448" y="4315968"/>
            <a:ext cx="64008" cy="914400"/>
          </a:xfrm>
          <a:prstGeom prst="rect">
            <a:avLst/>
          </a:prstGeom>
          <a:solidFill>
            <a:srgbClr val="14A069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18" name="Google Shape;718;p36"/>
          <p:cNvSpPr txBox="1"/>
          <p:nvPr/>
        </p:nvSpPr>
        <p:spPr>
          <a:xfrm>
            <a:off x="8321040" y="4370831"/>
            <a:ext cx="3172968" cy="146304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36575" spcFirstLastPara="1" rIns="36575" wrap="square" tIns="182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30" u="none" cap="none" strike="noStrike">
                <a:solidFill>
                  <a:srgbClr val="495E79"/>
                </a:solidFill>
                <a:latin typeface="Arial"/>
                <a:ea typeface="Arial"/>
                <a:cs typeface="Arial"/>
                <a:sym typeface="Arial"/>
              </a:rPr>
              <a:t>NEXT CHECK</a:t>
            </a:r>
            <a:endParaRPr/>
          </a:p>
        </p:txBody>
      </p:sp>
      <p:sp>
        <p:nvSpPr>
          <p:cNvPr id="719" name="Google Shape;719;p36"/>
          <p:cNvSpPr txBox="1"/>
          <p:nvPr/>
        </p:nvSpPr>
        <p:spPr>
          <a:xfrm>
            <a:off x="8321040" y="4553712"/>
            <a:ext cx="3172968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36575" spcFirstLastPara="1" rIns="36575" wrap="square" tIns="182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50" u="none" cap="none" strike="noStrike">
                <a:solidFill>
                  <a:srgbClr val="11233C"/>
                </a:solidFill>
                <a:latin typeface="Arial"/>
                <a:ea typeface="Arial"/>
                <a:cs typeface="Arial"/>
                <a:sym typeface="Arial"/>
              </a:rPr>
              <a:t>Compare confidence</a:t>
            </a:r>
            <a:endParaRPr/>
          </a:p>
        </p:txBody>
      </p:sp>
      <p:sp>
        <p:nvSpPr>
          <p:cNvPr id="720" name="Google Shape;720;p36"/>
          <p:cNvSpPr txBox="1"/>
          <p:nvPr/>
        </p:nvSpPr>
        <p:spPr>
          <a:xfrm>
            <a:off x="8321040" y="4837176"/>
            <a:ext cx="3172968" cy="356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36575" spcFirstLastPara="1" rIns="36575" wrap="square" tIns="182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60" u="none" cap="none" strike="noStrike">
                <a:solidFill>
                  <a:srgbClr val="495E79"/>
                </a:solidFill>
                <a:latin typeface="Arial"/>
                <a:ea typeface="Arial"/>
                <a:cs typeface="Arial"/>
                <a:sym typeface="Arial"/>
              </a:rPr>
              <a:t>The next slide shows whether this helped</a:t>
            </a:r>
            <a:endParaRPr/>
          </a:p>
        </p:txBody>
      </p:sp>
      <p:sp>
        <p:nvSpPr>
          <p:cNvPr id="721" name="Google Shape;721;p36"/>
          <p:cNvSpPr/>
          <p:nvPr/>
        </p:nvSpPr>
        <p:spPr>
          <a:xfrm>
            <a:off x="502920" y="5468112"/>
            <a:ext cx="11183112" cy="621792"/>
          </a:xfrm>
          <a:prstGeom prst="roundRect">
            <a:avLst>
              <a:gd fmla="val 16667" name="adj"/>
            </a:avLst>
          </a:prstGeom>
          <a:solidFill>
            <a:srgbClr val="EBF8F3"/>
          </a:solidFill>
          <a:ln cap="flat" cmpd="sng" w="9525">
            <a:solidFill>
              <a:srgbClr val="CFD8E1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22" name="Google Shape;722;p36"/>
          <p:cNvSpPr txBox="1"/>
          <p:nvPr/>
        </p:nvSpPr>
        <p:spPr>
          <a:xfrm>
            <a:off x="713232" y="5541264"/>
            <a:ext cx="10762488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36575" spcFirstLastPara="1" rIns="36575" wrap="square" tIns="1827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70" u="none" cap="none" strike="noStrike">
                <a:solidFill>
                  <a:srgbClr val="11233C"/>
                </a:solidFill>
                <a:latin typeface="Arial"/>
                <a:ea typeface="Arial"/>
                <a:cs typeface="Arial"/>
                <a:sym typeface="Arial"/>
              </a:rPr>
              <a:t>Observation: enhancement changed the appearance of the extracted faces, but face detection was already complete before enhancement.</a:t>
            </a:r>
            <a:endParaRPr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26" name="Shape 7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7" name="Google Shape;727;p37"/>
          <p:cNvSpPr txBox="1"/>
          <p:nvPr/>
        </p:nvSpPr>
        <p:spPr>
          <a:xfrm>
            <a:off x="283464" y="73152"/>
            <a:ext cx="45720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9125" lIns="27425" spcFirstLastPara="1" rIns="27425" wrap="square" tIns="912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19" u="none" cap="none" strike="noStrike">
                <a:solidFill>
                  <a:srgbClr val="FF5B37"/>
                </a:solidFill>
                <a:latin typeface="Arial"/>
                <a:ea typeface="Arial"/>
                <a:cs typeface="Arial"/>
                <a:sym typeface="Arial"/>
              </a:rPr>
              <a:t>ENHANCEMENT CHECK + FINAL RESULT</a:t>
            </a:r>
            <a:endParaRPr/>
          </a:p>
        </p:txBody>
      </p:sp>
      <p:sp>
        <p:nvSpPr>
          <p:cNvPr id="728" name="Google Shape;728;p37"/>
          <p:cNvSpPr txBox="1"/>
          <p:nvPr/>
        </p:nvSpPr>
        <p:spPr>
          <a:xfrm>
            <a:off x="283464" y="310896"/>
            <a:ext cx="11338560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9125" lIns="27425" spcFirstLastPara="1" rIns="27425" wrap="square" tIns="912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250" u="none" cap="none" strike="noStrike">
                <a:solidFill>
                  <a:srgbClr val="11233C"/>
                </a:solidFill>
                <a:latin typeface="Arial"/>
                <a:ea typeface="Arial"/>
                <a:cs typeface="Arial"/>
                <a:sym typeface="Arial"/>
              </a:rPr>
              <a:t>REAL low-resolution: original vs enhanced</a:t>
            </a:r>
            <a:endParaRPr/>
          </a:p>
        </p:txBody>
      </p:sp>
      <p:sp>
        <p:nvSpPr>
          <p:cNvPr id="729" name="Google Shape;729;p37"/>
          <p:cNvSpPr txBox="1"/>
          <p:nvPr/>
        </p:nvSpPr>
        <p:spPr>
          <a:xfrm>
            <a:off x="283464" y="731520"/>
            <a:ext cx="11338560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9125" lIns="27425" spcFirstLastPara="1" rIns="27425" wrap="square" tIns="912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70" u="none" cap="none" strike="noStrike">
                <a:solidFill>
                  <a:srgbClr val="495E79"/>
                </a:solidFill>
                <a:latin typeface="Arial"/>
                <a:ea typeface="Arial"/>
                <a:cs typeface="Arial"/>
                <a:sym typeface="Arial"/>
              </a:rPr>
              <a:t>The same 3 low-resolution REAL videos were tested before and after enhancement, giving 6 outputs in total.</a:t>
            </a:r>
            <a:endParaRPr/>
          </a:p>
        </p:txBody>
      </p:sp>
      <p:sp>
        <p:nvSpPr>
          <p:cNvPr id="730" name="Google Shape;730;p37"/>
          <p:cNvSpPr/>
          <p:nvPr/>
        </p:nvSpPr>
        <p:spPr>
          <a:xfrm>
            <a:off x="283464" y="1014984"/>
            <a:ext cx="11612880" cy="32004"/>
          </a:xfrm>
          <a:prstGeom prst="rect">
            <a:avLst/>
          </a:prstGeom>
          <a:solidFill>
            <a:srgbClr val="CFD8E1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aphicFrame>
        <p:nvGraphicFramePr>
          <p:cNvPr id="731" name="Google Shape;731;p37"/>
          <p:cNvGraphicFramePr/>
          <p:nvPr/>
        </p:nvGraphicFramePr>
        <p:xfrm>
          <a:off x="228600" y="1234440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{2338D9DC-F09C-46F0-9EA9-D6A716EAE88F}</a:tableStyleId>
              </a:tblPr>
              <a:tblGrid>
                <a:gridCol w="2884050"/>
                <a:gridCol w="1808650"/>
                <a:gridCol w="1613125"/>
                <a:gridCol w="1710875"/>
                <a:gridCol w="1759750"/>
                <a:gridCol w="1955300"/>
              </a:tblGrid>
              <a:tr h="4376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400" u="none" cap="none" strike="noStrike"/>
                        <a:t>Video / version</a:t>
                      </a:r>
                      <a:endParaRPr/>
                    </a:p>
                  </a:txBody>
                  <a:tcPr marT="4575" marB="4575" marR="22850" marL="22850" anchor="ctr">
                    <a:solidFill>
                      <a:srgbClr val="11233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019" u="none" cap="none" strike="noStrik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Resolution</a:t>
                      </a:r>
                      <a:endParaRPr/>
                    </a:p>
                  </a:txBody>
                  <a:tcPr marT="4575" marB="4575" marR="22850" marL="22850" anchor="ctr">
                    <a:solidFill>
                      <a:srgbClr val="11233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019" u="none" cap="none" strike="noStrik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Faces</a:t>
                      </a:r>
                      <a:endParaRPr/>
                    </a:p>
                  </a:txBody>
                  <a:tcPr marT="4575" marB="4575" marR="22850" marL="22850" anchor="ctr">
                    <a:solidFill>
                      <a:srgbClr val="11233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019" u="none" cap="none" strike="noStrik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Fake score</a:t>
                      </a:r>
                      <a:endParaRPr/>
                    </a:p>
                  </a:txBody>
                  <a:tcPr marT="4575" marB="4575" marR="22850" marL="22850" anchor="ctr">
                    <a:solidFill>
                      <a:srgbClr val="11233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019" u="none" cap="none" strike="noStrik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Confidence</a:t>
                      </a:r>
                      <a:endParaRPr/>
                    </a:p>
                  </a:txBody>
                  <a:tcPr marT="4575" marB="4575" marR="22850" marL="22850" anchor="ctr">
                    <a:solidFill>
                      <a:srgbClr val="11233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019" u="none" cap="none" strike="noStrik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Prediction</a:t>
                      </a:r>
                      <a:endParaRPr/>
                    </a:p>
                  </a:txBody>
                  <a:tcPr marT="4575" marB="4575" marR="22850" marL="22850" anchor="ctr">
                    <a:solidFill>
                      <a:srgbClr val="11233C"/>
                    </a:solidFill>
                  </a:tcPr>
                </a:tc>
              </a:tr>
              <a:tr h="4376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969" u="none" cap="none" strike="noStrike">
                          <a:solidFill>
                            <a:srgbClr val="1E252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REAL Low 1 — Original</a:t>
                      </a:r>
                      <a:endParaRPr/>
                    </a:p>
                  </a:txBody>
                  <a:tcPr marT="4575" marB="4575" marR="22850" marL="228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969" u="none" cap="none" strike="noStrike">
                          <a:solidFill>
                            <a:srgbClr val="1E252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348 × 500</a:t>
                      </a:r>
                      <a:endParaRPr/>
                    </a:p>
                  </a:txBody>
                  <a:tcPr marT="4575" marB="4575" marR="22850" marL="228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969" u="none" cap="none" strike="noStrike">
                          <a:solidFill>
                            <a:srgbClr val="1E252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64 / 64</a:t>
                      </a:r>
                      <a:endParaRPr/>
                    </a:p>
                  </a:txBody>
                  <a:tcPr marT="4575" marB="4575" marR="22850" marL="228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969" u="none" cap="none" strike="noStrike">
                          <a:solidFill>
                            <a:srgbClr val="1E252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0.0000</a:t>
                      </a:r>
                      <a:endParaRPr/>
                    </a:p>
                  </a:txBody>
                  <a:tcPr marT="4575" marB="4575" marR="22850" marL="228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969" u="none" cap="none" strike="noStrike">
                          <a:solidFill>
                            <a:srgbClr val="1E252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100%</a:t>
                      </a:r>
                      <a:endParaRPr/>
                    </a:p>
                  </a:txBody>
                  <a:tcPr marT="4575" marB="4575" marR="22850" marL="228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969" u="none" cap="none" strike="noStrike">
                          <a:solidFill>
                            <a:srgbClr val="14A069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REAL ✓</a:t>
                      </a:r>
                      <a:endParaRPr/>
                    </a:p>
                  </a:txBody>
                  <a:tcPr marT="4575" marB="4575" marR="22850" marL="22850" anchor="ctr">
                    <a:solidFill>
                      <a:srgbClr val="FFFFFF"/>
                    </a:solidFill>
                  </a:tcPr>
                </a:tc>
              </a:tr>
              <a:tr h="4376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969" u="none" cap="none" strike="noStrike">
                          <a:solidFill>
                            <a:srgbClr val="1E252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REAL Low 1 — Enhanced</a:t>
                      </a:r>
                      <a:endParaRPr/>
                    </a:p>
                  </a:txBody>
                  <a:tcPr marT="4575" marB="4575" marR="22850" marL="22850" anchor="ctr">
                    <a:solidFill>
                      <a:srgbClr val="EBF8F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969" u="none" cap="none" strike="noStrike">
                          <a:solidFill>
                            <a:srgbClr val="1E252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348 × 500</a:t>
                      </a:r>
                      <a:endParaRPr/>
                    </a:p>
                  </a:txBody>
                  <a:tcPr marT="4575" marB="4575" marR="22850" marL="22850" anchor="ctr">
                    <a:solidFill>
                      <a:srgbClr val="EBF8F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969" u="none" cap="none" strike="noStrike">
                          <a:solidFill>
                            <a:srgbClr val="1E252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64 / 64</a:t>
                      </a:r>
                      <a:endParaRPr/>
                    </a:p>
                  </a:txBody>
                  <a:tcPr marT="4575" marB="4575" marR="22850" marL="22850" anchor="ctr">
                    <a:solidFill>
                      <a:srgbClr val="EBF8F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969" u="none" cap="none" strike="noStrike">
                          <a:solidFill>
                            <a:srgbClr val="1E252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0.0000</a:t>
                      </a:r>
                      <a:endParaRPr/>
                    </a:p>
                  </a:txBody>
                  <a:tcPr marT="4575" marB="4575" marR="22850" marL="22850" anchor="ctr">
                    <a:solidFill>
                      <a:srgbClr val="EBF8F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969" u="none" cap="none" strike="noStrike">
                          <a:solidFill>
                            <a:srgbClr val="1E252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100%</a:t>
                      </a:r>
                      <a:endParaRPr/>
                    </a:p>
                  </a:txBody>
                  <a:tcPr marT="4575" marB="4575" marR="22850" marL="22850" anchor="ctr">
                    <a:solidFill>
                      <a:srgbClr val="EBF8F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969" u="none" cap="none" strike="noStrike">
                          <a:solidFill>
                            <a:srgbClr val="14A069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REAL ✓</a:t>
                      </a:r>
                      <a:endParaRPr/>
                    </a:p>
                  </a:txBody>
                  <a:tcPr marT="4575" marB="4575" marR="22850" marL="22850" anchor="ctr">
                    <a:solidFill>
                      <a:srgbClr val="EBF8F3"/>
                    </a:solidFill>
                  </a:tcPr>
                </a:tc>
              </a:tr>
              <a:tr h="4376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969" u="none" cap="none" strike="noStrike">
                          <a:solidFill>
                            <a:srgbClr val="1E252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REAL Low 2 — Original</a:t>
                      </a:r>
                      <a:endParaRPr/>
                    </a:p>
                  </a:txBody>
                  <a:tcPr marT="4575" marB="4575" marR="22850" marL="228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969" u="none" cap="none" strike="noStrike">
                          <a:solidFill>
                            <a:srgbClr val="1E252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456 × 500</a:t>
                      </a:r>
                      <a:endParaRPr/>
                    </a:p>
                  </a:txBody>
                  <a:tcPr marT="4575" marB="4575" marR="22850" marL="228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969" u="none" cap="none" strike="noStrike">
                          <a:solidFill>
                            <a:srgbClr val="1E252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64 / 64</a:t>
                      </a:r>
                      <a:endParaRPr/>
                    </a:p>
                  </a:txBody>
                  <a:tcPr marT="4575" marB="4575" marR="22850" marL="228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969" u="none" cap="none" strike="noStrike">
                          <a:solidFill>
                            <a:srgbClr val="1E252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0.0000</a:t>
                      </a:r>
                      <a:endParaRPr/>
                    </a:p>
                  </a:txBody>
                  <a:tcPr marT="4575" marB="4575" marR="22850" marL="228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969" u="none" cap="none" strike="noStrike">
                          <a:solidFill>
                            <a:srgbClr val="1E252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100%</a:t>
                      </a:r>
                      <a:endParaRPr/>
                    </a:p>
                  </a:txBody>
                  <a:tcPr marT="4575" marB="4575" marR="22850" marL="228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969" u="none" cap="none" strike="noStrike">
                          <a:solidFill>
                            <a:srgbClr val="14A069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REAL ✓</a:t>
                      </a:r>
                      <a:endParaRPr/>
                    </a:p>
                  </a:txBody>
                  <a:tcPr marT="4575" marB="4575" marR="22850" marL="22850" anchor="ctr">
                    <a:solidFill>
                      <a:srgbClr val="FFFFFF"/>
                    </a:solidFill>
                  </a:tcPr>
                </a:tc>
              </a:tr>
              <a:tr h="4376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969" u="none" cap="none" strike="noStrike">
                          <a:solidFill>
                            <a:srgbClr val="1E252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REAL Low 2 — Enhanced</a:t>
                      </a:r>
                      <a:endParaRPr/>
                    </a:p>
                  </a:txBody>
                  <a:tcPr marT="4575" marB="4575" marR="22850" marL="22850" anchor="ctr">
                    <a:solidFill>
                      <a:srgbClr val="EBF8F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969" u="none" cap="none" strike="noStrike">
                          <a:solidFill>
                            <a:srgbClr val="1E252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456 × 500</a:t>
                      </a:r>
                      <a:endParaRPr/>
                    </a:p>
                  </a:txBody>
                  <a:tcPr marT="4575" marB="4575" marR="22850" marL="22850" anchor="ctr">
                    <a:solidFill>
                      <a:srgbClr val="EBF8F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969" u="none" cap="none" strike="noStrike">
                          <a:solidFill>
                            <a:srgbClr val="1E252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64 / 64</a:t>
                      </a:r>
                      <a:endParaRPr/>
                    </a:p>
                  </a:txBody>
                  <a:tcPr marT="4575" marB="4575" marR="22850" marL="22850" anchor="ctr">
                    <a:solidFill>
                      <a:srgbClr val="EBF8F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969" u="none" cap="none" strike="noStrike">
                          <a:solidFill>
                            <a:srgbClr val="1E252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0.0000</a:t>
                      </a:r>
                      <a:endParaRPr/>
                    </a:p>
                  </a:txBody>
                  <a:tcPr marT="4575" marB="4575" marR="22850" marL="22850" anchor="ctr">
                    <a:solidFill>
                      <a:srgbClr val="EBF8F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969" u="none" cap="none" strike="noStrike">
                          <a:solidFill>
                            <a:srgbClr val="1E252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100%</a:t>
                      </a:r>
                      <a:endParaRPr/>
                    </a:p>
                  </a:txBody>
                  <a:tcPr marT="4575" marB="4575" marR="22850" marL="22850" anchor="ctr">
                    <a:solidFill>
                      <a:srgbClr val="EBF8F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969" u="none" cap="none" strike="noStrike">
                          <a:solidFill>
                            <a:srgbClr val="14A069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REAL ✓</a:t>
                      </a:r>
                      <a:endParaRPr/>
                    </a:p>
                  </a:txBody>
                  <a:tcPr marT="4575" marB="4575" marR="22850" marL="22850" anchor="ctr">
                    <a:solidFill>
                      <a:srgbClr val="EBF8F3"/>
                    </a:solidFill>
                  </a:tcPr>
                </a:tc>
              </a:tr>
              <a:tr h="4376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969" u="none" cap="none" strike="noStrike">
                          <a:solidFill>
                            <a:srgbClr val="1E252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REAL Low 3 — Original</a:t>
                      </a:r>
                      <a:endParaRPr/>
                    </a:p>
                  </a:txBody>
                  <a:tcPr marT="4575" marB="4575" marR="22850" marL="228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969" u="none" cap="none" strike="noStrike">
                          <a:solidFill>
                            <a:srgbClr val="1E252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476 × 482</a:t>
                      </a:r>
                      <a:endParaRPr/>
                    </a:p>
                  </a:txBody>
                  <a:tcPr marT="4575" marB="4575" marR="22850" marL="228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969" u="none" cap="none" strike="noStrike">
                          <a:solidFill>
                            <a:srgbClr val="1E252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64 / 64</a:t>
                      </a:r>
                      <a:endParaRPr/>
                    </a:p>
                  </a:txBody>
                  <a:tcPr marT="4575" marB="4575" marR="22850" marL="228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969" u="none" cap="none" strike="noStrike">
                          <a:solidFill>
                            <a:srgbClr val="1E252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0.0000</a:t>
                      </a:r>
                      <a:endParaRPr/>
                    </a:p>
                  </a:txBody>
                  <a:tcPr marT="4575" marB="4575" marR="22850" marL="228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969" u="none" cap="none" strike="noStrike">
                          <a:solidFill>
                            <a:srgbClr val="1E252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100%</a:t>
                      </a:r>
                      <a:endParaRPr/>
                    </a:p>
                  </a:txBody>
                  <a:tcPr marT="4575" marB="4575" marR="22850" marL="228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969" u="none" cap="none" strike="noStrike">
                          <a:solidFill>
                            <a:srgbClr val="14A069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REAL ✓</a:t>
                      </a:r>
                      <a:endParaRPr/>
                    </a:p>
                  </a:txBody>
                  <a:tcPr marT="4575" marB="4575" marR="22850" marL="22850" anchor="ctr">
                    <a:solidFill>
                      <a:srgbClr val="FFFFFF"/>
                    </a:solidFill>
                  </a:tcPr>
                </a:tc>
              </a:tr>
              <a:tr h="4376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969" u="none" cap="none" strike="noStrike">
                          <a:solidFill>
                            <a:srgbClr val="1E252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REAL Low 3 — Enhanced</a:t>
                      </a:r>
                      <a:endParaRPr/>
                    </a:p>
                  </a:txBody>
                  <a:tcPr marT="4575" marB="4575" marR="22850" marL="22850" anchor="ctr">
                    <a:solidFill>
                      <a:srgbClr val="EBF8F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969" u="none" cap="none" strike="noStrike">
                          <a:solidFill>
                            <a:srgbClr val="1E252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476 × 482</a:t>
                      </a:r>
                      <a:endParaRPr/>
                    </a:p>
                  </a:txBody>
                  <a:tcPr marT="4575" marB="4575" marR="22850" marL="22850" anchor="ctr">
                    <a:solidFill>
                      <a:srgbClr val="EBF8F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969" u="none" cap="none" strike="noStrike">
                          <a:solidFill>
                            <a:srgbClr val="1E252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64 / 64</a:t>
                      </a:r>
                      <a:endParaRPr/>
                    </a:p>
                  </a:txBody>
                  <a:tcPr marT="4575" marB="4575" marR="22850" marL="22850" anchor="ctr">
                    <a:solidFill>
                      <a:srgbClr val="EBF8F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969" u="none" cap="none" strike="noStrike">
                          <a:solidFill>
                            <a:srgbClr val="1E252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0.0000</a:t>
                      </a:r>
                      <a:endParaRPr/>
                    </a:p>
                  </a:txBody>
                  <a:tcPr marT="4575" marB="4575" marR="22850" marL="22850" anchor="ctr">
                    <a:solidFill>
                      <a:srgbClr val="EBF8F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969" u="none" cap="none" strike="noStrike">
                          <a:solidFill>
                            <a:srgbClr val="1E252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100%</a:t>
                      </a:r>
                      <a:endParaRPr/>
                    </a:p>
                  </a:txBody>
                  <a:tcPr marT="4575" marB="4575" marR="22850" marL="22850" anchor="ctr">
                    <a:solidFill>
                      <a:srgbClr val="EBF8F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969" u="none" cap="none" strike="noStrike">
                          <a:solidFill>
                            <a:srgbClr val="14A069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REAL ✓</a:t>
                      </a:r>
                      <a:endParaRPr/>
                    </a:p>
                  </a:txBody>
                  <a:tcPr marT="4575" marB="4575" marR="22850" marL="22850" anchor="ctr">
                    <a:solidFill>
                      <a:srgbClr val="EBF8F3"/>
                    </a:solidFill>
                  </a:tcPr>
                </a:tc>
              </a:tr>
            </a:tbl>
          </a:graphicData>
        </a:graphic>
      </p:graphicFrame>
      <p:sp>
        <p:nvSpPr>
          <p:cNvPr id="732" name="Google Shape;732;p37"/>
          <p:cNvSpPr/>
          <p:nvPr/>
        </p:nvSpPr>
        <p:spPr>
          <a:xfrm>
            <a:off x="283464" y="4507992"/>
            <a:ext cx="2624328" cy="804672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9525">
            <a:solidFill>
              <a:srgbClr val="CFD8E1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33" name="Google Shape;733;p37"/>
          <p:cNvSpPr/>
          <p:nvPr/>
        </p:nvSpPr>
        <p:spPr>
          <a:xfrm>
            <a:off x="283464" y="4507992"/>
            <a:ext cx="59436" cy="804672"/>
          </a:xfrm>
          <a:prstGeom prst="rect">
            <a:avLst/>
          </a:prstGeom>
          <a:solidFill>
            <a:srgbClr val="14A069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34" name="Google Shape;734;p37"/>
          <p:cNvSpPr txBox="1"/>
          <p:nvPr/>
        </p:nvSpPr>
        <p:spPr>
          <a:xfrm>
            <a:off x="438912" y="4544568"/>
            <a:ext cx="2404872" cy="146304"/>
          </a:xfrm>
          <a:prstGeom prst="rect">
            <a:avLst/>
          </a:prstGeom>
          <a:noFill/>
          <a:ln>
            <a:noFill/>
          </a:ln>
        </p:spPr>
        <p:txBody>
          <a:bodyPr anchorCtr="0" anchor="ctr" bIns="9125" lIns="27425" spcFirstLastPara="1" rIns="27425" wrap="square" tIns="912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495E79"/>
                </a:solidFill>
                <a:latin typeface="Arial"/>
                <a:ea typeface="Arial"/>
                <a:cs typeface="Arial"/>
                <a:sym typeface="Arial"/>
              </a:rPr>
              <a:t>OUTPUTS SHOWN</a:t>
            </a:r>
            <a:endParaRPr/>
          </a:p>
        </p:txBody>
      </p:sp>
      <p:sp>
        <p:nvSpPr>
          <p:cNvPr id="735" name="Google Shape;735;p37"/>
          <p:cNvSpPr txBox="1"/>
          <p:nvPr/>
        </p:nvSpPr>
        <p:spPr>
          <a:xfrm>
            <a:off x="438912" y="4709159"/>
            <a:ext cx="2404872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25" lIns="27425" spcFirstLastPara="1" rIns="27425" wrap="square" tIns="912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50" u="none" cap="none" strike="noStrike">
                <a:solidFill>
                  <a:srgbClr val="11233C"/>
                </a:solidFill>
                <a:latin typeface="Arial"/>
                <a:ea typeface="Arial"/>
                <a:cs typeface="Arial"/>
                <a:sym typeface="Arial"/>
              </a:rPr>
              <a:t>6 outputs</a:t>
            </a:r>
            <a:endParaRPr/>
          </a:p>
        </p:txBody>
      </p:sp>
      <p:sp>
        <p:nvSpPr>
          <p:cNvPr id="736" name="Google Shape;736;p37"/>
          <p:cNvSpPr txBox="1"/>
          <p:nvPr/>
        </p:nvSpPr>
        <p:spPr>
          <a:xfrm>
            <a:off x="438912" y="4956048"/>
            <a:ext cx="2404872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9125" lIns="27425" spcFirstLastPara="1" rIns="27425" wrap="square" tIns="912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19" u="none" cap="none" strike="noStrike">
                <a:solidFill>
                  <a:srgbClr val="495E79"/>
                </a:solidFill>
                <a:latin typeface="Arial"/>
                <a:ea typeface="Arial"/>
                <a:cs typeface="Arial"/>
                <a:sym typeface="Arial"/>
              </a:rPr>
              <a:t>3 Original + 3 Enhanced results</a:t>
            </a:r>
            <a:endParaRPr/>
          </a:p>
        </p:txBody>
      </p:sp>
      <p:sp>
        <p:nvSpPr>
          <p:cNvPr id="737" name="Google Shape;737;p37"/>
          <p:cNvSpPr/>
          <p:nvPr/>
        </p:nvSpPr>
        <p:spPr>
          <a:xfrm>
            <a:off x="3246120" y="4507992"/>
            <a:ext cx="2624328" cy="804672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9525">
            <a:solidFill>
              <a:srgbClr val="CFD8E1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38" name="Google Shape;738;p37"/>
          <p:cNvSpPr/>
          <p:nvPr/>
        </p:nvSpPr>
        <p:spPr>
          <a:xfrm>
            <a:off x="3246120" y="4507992"/>
            <a:ext cx="59436" cy="804672"/>
          </a:xfrm>
          <a:prstGeom prst="rect">
            <a:avLst/>
          </a:prstGeom>
          <a:solidFill>
            <a:srgbClr val="26AEA5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39" name="Google Shape;739;p37"/>
          <p:cNvSpPr txBox="1"/>
          <p:nvPr/>
        </p:nvSpPr>
        <p:spPr>
          <a:xfrm>
            <a:off x="3401568" y="4544568"/>
            <a:ext cx="2404872" cy="146304"/>
          </a:xfrm>
          <a:prstGeom prst="rect">
            <a:avLst/>
          </a:prstGeom>
          <a:noFill/>
          <a:ln>
            <a:noFill/>
          </a:ln>
        </p:spPr>
        <p:txBody>
          <a:bodyPr anchorCtr="0" anchor="ctr" bIns="9125" lIns="27425" spcFirstLastPara="1" rIns="27425" wrap="square" tIns="912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495E79"/>
                </a:solidFill>
                <a:latin typeface="Arial"/>
                <a:ea typeface="Arial"/>
                <a:cs typeface="Arial"/>
                <a:sym typeface="Arial"/>
              </a:rPr>
              <a:t>FACE DETECTION</a:t>
            </a:r>
            <a:endParaRPr/>
          </a:p>
        </p:txBody>
      </p:sp>
      <p:sp>
        <p:nvSpPr>
          <p:cNvPr id="740" name="Google Shape;740;p37"/>
          <p:cNvSpPr txBox="1"/>
          <p:nvPr/>
        </p:nvSpPr>
        <p:spPr>
          <a:xfrm>
            <a:off x="3401568" y="4709159"/>
            <a:ext cx="2404872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25" lIns="27425" spcFirstLastPara="1" rIns="27425" wrap="square" tIns="912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50" u="none" cap="none" strike="noStrike">
                <a:solidFill>
                  <a:srgbClr val="11233C"/>
                </a:solidFill>
                <a:latin typeface="Arial"/>
                <a:ea typeface="Arial"/>
                <a:cs typeface="Arial"/>
                <a:sym typeface="Arial"/>
              </a:rPr>
              <a:t>Same result</a:t>
            </a:r>
            <a:endParaRPr/>
          </a:p>
        </p:txBody>
      </p:sp>
      <p:sp>
        <p:nvSpPr>
          <p:cNvPr id="741" name="Google Shape;741;p37"/>
          <p:cNvSpPr txBox="1"/>
          <p:nvPr/>
        </p:nvSpPr>
        <p:spPr>
          <a:xfrm>
            <a:off x="3401568" y="4956048"/>
            <a:ext cx="2404872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9125" lIns="27425" spcFirstLastPara="1" rIns="27425" wrap="square" tIns="912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19" u="none" cap="none" strike="noStrike">
                <a:solidFill>
                  <a:srgbClr val="495E79"/>
                </a:solidFill>
                <a:latin typeface="Arial"/>
                <a:ea typeface="Arial"/>
                <a:cs typeface="Arial"/>
                <a:sym typeface="Arial"/>
              </a:rPr>
              <a:t>All 64 sampled faces were detected in each test</a:t>
            </a:r>
            <a:endParaRPr/>
          </a:p>
        </p:txBody>
      </p:sp>
      <p:sp>
        <p:nvSpPr>
          <p:cNvPr id="742" name="Google Shape;742;p37"/>
          <p:cNvSpPr/>
          <p:nvPr/>
        </p:nvSpPr>
        <p:spPr>
          <a:xfrm>
            <a:off x="6208776" y="4507992"/>
            <a:ext cx="2624328" cy="804672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9525">
            <a:solidFill>
              <a:srgbClr val="CFD8E1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43" name="Google Shape;743;p37"/>
          <p:cNvSpPr/>
          <p:nvPr/>
        </p:nvSpPr>
        <p:spPr>
          <a:xfrm>
            <a:off x="6208776" y="4507992"/>
            <a:ext cx="59436" cy="804672"/>
          </a:xfrm>
          <a:prstGeom prst="rect">
            <a:avLst/>
          </a:prstGeom>
          <a:solidFill>
            <a:srgbClr val="FF5B37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44" name="Google Shape;744;p37"/>
          <p:cNvSpPr txBox="1"/>
          <p:nvPr/>
        </p:nvSpPr>
        <p:spPr>
          <a:xfrm>
            <a:off x="6364224" y="4544568"/>
            <a:ext cx="2404872" cy="146304"/>
          </a:xfrm>
          <a:prstGeom prst="rect">
            <a:avLst/>
          </a:prstGeom>
          <a:noFill/>
          <a:ln>
            <a:noFill/>
          </a:ln>
        </p:spPr>
        <p:txBody>
          <a:bodyPr anchorCtr="0" anchor="ctr" bIns="9125" lIns="27425" spcFirstLastPara="1" rIns="27425" wrap="square" tIns="912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495E79"/>
                </a:solidFill>
                <a:latin typeface="Arial"/>
                <a:ea typeface="Arial"/>
                <a:cs typeface="Arial"/>
                <a:sym typeface="Arial"/>
              </a:rPr>
              <a:t>CONFIDENCE</a:t>
            </a:r>
            <a:endParaRPr/>
          </a:p>
        </p:txBody>
      </p:sp>
      <p:sp>
        <p:nvSpPr>
          <p:cNvPr id="745" name="Google Shape;745;p37"/>
          <p:cNvSpPr txBox="1"/>
          <p:nvPr/>
        </p:nvSpPr>
        <p:spPr>
          <a:xfrm>
            <a:off x="6364224" y="4709159"/>
            <a:ext cx="2404872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25" lIns="27425" spcFirstLastPara="1" rIns="27425" wrap="square" tIns="912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50" u="none" cap="none" strike="noStrike">
                <a:solidFill>
                  <a:srgbClr val="11233C"/>
                </a:solidFill>
                <a:latin typeface="Arial"/>
                <a:ea typeface="Arial"/>
                <a:cs typeface="Arial"/>
                <a:sym typeface="Arial"/>
              </a:rPr>
              <a:t>Same result</a:t>
            </a:r>
            <a:endParaRPr/>
          </a:p>
        </p:txBody>
      </p:sp>
      <p:sp>
        <p:nvSpPr>
          <p:cNvPr id="746" name="Google Shape;746;p37"/>
          <p:cNvSpPr txBox="1"/>
          <p:nvPr/>
        </p:nvSpPr>
        <p:spPr>
          <a:xfrm>
            <a:off x="6364224" y="4956048"/>
            <a:ext cx="2404872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9125" lIns="27425" spcFirstLastPara="1" rIns="27425" wrap="square" tIns="912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19" u="none" cap="none" strike="noStrike">
                <a:solidFill>
                  <a:srgbClr val="495E79"/>
                </a:solidFill>
                <a:latin typeface="Arial"/>
                <a:ea typeface="Arial"/>
                <a:cs typeface="Arial"/>
                <a:sym typeface="Arial"/>
              </a:rPr>
              <a:t>100% before and after enhancement</a:t>
            </a:r>
            <a:endParaRPr/>
          </a:p>
        </p:txBody>
      </p:sp>
      <p:sp>
        <p:nvSpPr>
          <p:cNvPr id="747" name="Google Shape;747;p37"/>
          <p:cNvSpPr/>
          <p:nvPr/>
        </p:nvSpPr>
        <p:spPr>
          <a:xfrm>
            <a:off x="9171432" y="4507992"/>
            <a:ext cx="2624328" cy="804672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9525">
            <a:solidFill>
              <a:srgbClr val="CFD8E1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48" name="Google Shape;748;p37"/>
          <p:cNvSpPr/>
          <p:nvPr/>
        </p:nvSpPr>
        <p:spPr>
          <a:xfrm>
            <a:off x="9171432" y="4507992"/>
            <a:ext cx="59436" cy="804672"/>
          </a:xfrm>
          <a:prstGeom prst="rect">
            <a:avLst/>
          </a:prstGeom>
          <a:solidFill>
            <a:srgbClr val="14A069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49" name="Google Shape;749;p37"/>
          <p:cNvSpPr txBox="1"/>
          <p:nvPr/>
        </p:nvSpPr>
        <p:spPr>
          <a:xfrm>
            <a:off x="9326880" y="4544568"/>
            <a:ext cx="2404872" cy="146304"/>
          </a:xfrm>
          <a:prstGeom prst="rect">
            <a:avLst/>
          </a:prstGeom>
          <a:noFill/>
          <a:ln>
            <a:noFill/>
          </a:ln>
        </p:spPr>
        <p:txBody>
          <a:bodyPr anchorCtr="0" anchor="ctr" bIns="9125" lIns="27425" spcFirstLastPara="1" rIns="27425" wrap="square" tIns="912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495E79"/>
                </a:solidFill>
                <a:latin typeface="Arial"/>
                <a:ea typeface="Arial"/>
                <a:cs typeface="Arial"/>
                <a:sym typeface="Arial"/>
              </a:rPr>
              <a:t>FINAL RESULT</a:t>
            </a:r>
            <a:endParaRPr/>
          </a:p>
        </p:txBody>
      </p:sp>
      <p:sp>
        <p:nvSpPr>
          <p:cNvPr id="750" name="Google Shape;750;p37"/>
          <p:cNvSpPr txBox="1"/>
          <p:nvPr/>
        </p:nvSpPr>
        <p:spPr>
          <a:xfrm>
            <a:off x="9326880" y="4709159"/>
            <a:ext cx="2404872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25" lIns="27425" spcFirstLastPara="1" rIns="27425" wrap="square" tIns="912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50" u="none" cap="none" strike="noStrike">
                <a:solidFill>
                  <a:srgbClr val="11233C"/>
                </a:solidFill>
                <a:latin typeface="Arial"/>
                <a:ea typeface="Arial"/>
                <a:cs typeface="Arial"/>
                <a:sym typeface="Arial"/>
              </a:rPr>
              <a:t>3 / 3 videos correct</a:t>
            </a:r>
            <a:endParaRPr/>
          </a:p>
        </p:txBody>
      </p:sp>
      <p:sp>
        <p:nvSpPr>
          <p:cNvPr id="751" name="Google Shape;751;p37"/>
          <p:cNvSpPr txBox="1"/>
          <p:nvPr/>
        </p:nvSpPr>
        <p:spPr>
          <a:xfrm>
            <a:off x="9326880" y="4956048"/>
            <a:ext cx="2404872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9125" lIns="27425" spcFirstLastPara="1" rIns="27425" wrap="square" tIns="912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19" u="none" cap="none" strike="noStrike">
                <a:solidFill>
                  <a:srgbClr val="495E79"/>
                </a:solidFill>
                <a:latin typeface="Arial"/>
                <a:ea typeface="Arial"/>
                <a:cs typeface="Arial"/>
                <a:sym typeface="Arial"/>
              </a:rPr>
              <a:t>All 3 were correctly predicted as REAL</a:t>
            </a:r>
            <a:endParaRPr/>
          </a:p>
        </p:txBody>
      </p:sp>
      <p:sp>
        <p:nvSpPr>
          <p:cNvPr id="752" name="Google Shape;752;p37"/>
          <p:cNvSpPr/>
          <p:nvPr/>
        </p:nvSpPr>
        <p:spPr>
          <a:xfrm>
            <a:off x="438912" y="5504688"/>
            <a:ext cx="11301984" cy="621792"/>
          </a:xfrm>
          <a:prstGeom prst="roundRect">
            <a:avLst>
              <a:gd fmla="val 16667" name="adj"/>
            </a:avLst>
          </a:prstGeom>
          <a:solidFill>
            <a:srgbClr val="EBF8F3"/>
          </a:solidFill>
          <a:ln cap="flat" cmpd="sng" w="9525">
            <a:solidFill>
              <a:srgbClr val="CFD8E1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53" name="Google Shape;753;p37"/>
          <p:cNvSpPr txBox="1"/>
          <p:nvPr/>
        </p:nvSpPr>
        <p:spPr>
          <a:xfrm>
            <a:off x="640080" y="5577840"/>
            <a:ext cx="10899648" cy="448056"/>
          </a:xfrm>
          <a:prstGeom prst="rect">
            <a:avLst/>
          </a:prstGeom>
          <a:noFill/>
          <a:ln>
            <a:noFill/>
          </a:ln>
        </p:spPr>
        <p:txBody>
          <a:bodyPr anchorCtr="0" anchor="ctr" bIns="9125" lIns="27425" spcFirstLastPara="1" rIns="27425" wrap="square" tIns="912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10" u="none" cap="none" strike="noStrike">
                <a:solidFill>
                  <a:srgbClr val="11233C"/>
                </a:solidFill>
                <a:latin typeface="Arial"/>
                <a:ea typeface="Arial"/>
                <a:cs typeface="Arial"/>
                <a:sym typeface="Arial"/>
              </a:rPr>
              <a:t>Conclusion: Enhancement did not improve these 3 videos. Each was already correctly predicted as REAL with a 0.0000 fake score and 100% confidence before enhancement.</a:t>
            </a:r>
            <a:endParaRPr/>
          </a:p>
        </p:txBody>
      </p:sp>
      <p:sp>
        <p:nvSpPr>
          <p:cNvPr id="754" name="Google Shape;754;p37"/>
          <p:cNvSpPr txBox="1"/>
          <p:nvPr/>
        </p:nvSpPr>
        <p:spPr>
          <a:xfrm>
            <a:off x="502920" y="6199632"/>
            <a:ext cx="111556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9125" lIns="27425" spcFirstLastPara="1" rIns="27425" wrap="square" tIns="912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30" u="none" cap="none" strike="noStrike">
                <a:solidFill>
                  <a:srgbClr val="495E79"/>
                </a:solidFill>
                <a:latin typeface="Arial"/>
                <a:ea typeface="Arial"/>
                <a:cs typeface="Arial"/>
                <a:sym typeface="Arial"/>
              </a:rPr>
              <a:t>Note: the 6 rows above come from 3 selected REAL videos tested twice (Original + Enhanced). Run B overall performance: Validation accuracy 98.78%, Holdout accuracy 97.28%, with AUC 0.9998 on both. Threshold = 0.4825 (selected using validation data only)..</a:t>
            </a:r>
            <a:endParaRPr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21E34"/>
        </a:solidFill>
      </p:bgPr>
    </p:bg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"/>
          <p:cNvSpPr txBox="1"/>
          <p:nvPr/>
        </p:nvSpPr>
        <p:spPr>
          <a:xfrm>
            <a:off x="749808" y="868680"/>
            <a:ext cx="10515600" cy="731520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27425" spcFirstLastPara="1" rIns="27425" wrap="square" tIns="182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100"/>
              <a:buFont typeface="Arial"/>
              <a:buNone/>
            </a:pPr>
            <a:r>
              <a:rPr b="1" i="0" lang="en-US" sz="4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THANK YOU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6" name="Google Shape;86;p1"/>
          <p:cNvSpPr txBox="1"/>
          <p:nvPr/>
        </p:nvSpPr>
        <p:spPr>
          <a:xfrm>
            <a:off x="749808" y="1737360"/>
            <a:ext cx="10241280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27425" spcFirstLastPara="1" rIns="27425" wrap="square" tIns="182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</a:pPr>
            <a:r>
              <a:rPr b="0" i="0" lang="en-US" sz="1900" u="none" cap="none" strike="noStrike">
                <a:solidFill>
                  <a:srgbClr val="DDE4EF"/>
                </a:solidFill>
                <a:latin typeface="Arial"/>
                <a:ea typeface="Arial"/>
                <a:cs typeface="Arial"/>
                <a:sym typeface="Arial"/>
              </a:rPr>
              <a:t>Try the deepfake detector live: upload a short video of a face and get a REAL / FAKE decision.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7" name="Google Shape;87;p1"/>
          <p:cNvSpPr txBox="1"/>
          <p:nvPr/>
        </p:nvSpPr>
        <p:spPr>
          <a:xfrm>
            <a:off x="749808" y="5257800"/>
            <a:ext cx="18288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27425" spcFirstLastPara="1" rIns="27425" wrap="square" tIns="182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1" i="0" lang="en-US" sz="1000" u="none" cap="none" strike="noStrike">
                <a:solidFill>
                  <a:srgbClr val="F56736"/>
                </a:solidFill>
                <a:latin typeface="Arial"/>
                <a:ea typeface="Arial"/>
                <a:cs typeface="Arial"/>
                <a:sym typeface="Arial"/>
              </a:rPr>
              <a:t>PROJECT TEAM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8" name="Google Shape;88;p1"/>
          <p:cNvSpPr txBox="1"/>
          <p:nvPr/>
        </p:nvSpPr>
        <p:spPr>
          <a:xfrm>
            <a:off x="749808" y="5522976"/>
            <a:ext cx="1024128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27425" spcFirstLastPara="1" rIns="27425" wrap="square" tIns="182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1" i="0" lang="en-US" sz="1400" u="none" cap="none" strike="noStrike">
                <a:solidFill>
                  <a:srgbClr val="DDE4EF"/>
                </a:solidFill>
                <a:latin typeface="Arial"/>
                <a:ea typeface="Arial"/>
                <a:cs typeface="Arial"/>
                <a:sym typeface="Arial"/>
              </a:rPr>
              <a:t>Varahagiri Venkata Sri Swati   •   Aishwary Agrawal   •   Devesh Srivastava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9" name="Google Shape;89;p1"/>
          <p:cNvSpPr/>
          <p:nvPr/>
        </p:nvSpPr>
        <p:spPr>
          <a:xfrm>
            <a:off x="749808" y="2514600"/>
            <a:ext cx="9464040" cy="2148840"/>
          </a:xfrm>
          <a:prstGeom prst="roundRect">
            <a:avLst>
              <a:gd name="adj" fmla="val 8652"/>
            </a:avLst>
          </a:prstGeom>
          <a:solidFill>
            <a:srgbClr val="FFFFFF"/>
          </a:solidFill>
          <a:ln cap="flat" cmpd="sng" w="9525">
            <a:solidFill>
              <a:srgbClr val="DCE2EA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0" name="Google Shape;90;p1"/>
          <p:cNvSpPr/>
          <p:nvPr/>
        </p:nvSpPr>
        <p:spPr>
          <a:xfrm>
            <a:off x="749808" y="2514600"/>
            <a:ext cx="64008" cy="2148840"/>
          </a:xfrm>
          <a:prstGeom prst="rect">
            <a:avLst/>
          </a:prstGeom>
          <a:solidFill>
            <a:srgbClr val="F56736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1" name="Google Shape;91;p1"/>
          <p:cNvSpPr txBox="1"/>
          <p:nvPr/>
        </p:nvSpPr>
        <p:spPr>
          <a:xfrm>
            <a:off x="1024128" y="3136392"/>
            <a:ext cx="694944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27425" spcFirstLastPara="1" rIns="27425" wrap="square" tIns="182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300"/>
              <a:buFont typeface="Arial"/>
              <a:buNone/>
            </a:pPr>
            <a:r>
              <a:rPr b="1" i="0" lang="en-US" sz="2600" u="sng" cap="none" strike="noStrike">
                <a:solidFill>
                  <a:srgbClr val="3769BE"/>
                </a:solidFill>
                <a:latin typeface="Arial"/>
                <a:ea typeface="Arial"/>
                <a:cs typeface="Arial"/>
                <a:sym typeface="Arial"/>
                <a:hlinkClick r:id="rId2"/>
              </a:rPr>
              <a:t>detect-deep-fake.streamlit.app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2" name="Google Shape;92;p1"/>
          <p:cNvSpPr txBox="1"/>
          <p:nvPr/>
        </p:nvSpPr>
        <p:spPr>
          <a:xfrm>
            <a:off x="1024128" y="3749039"/>
            <a:ext cx="6766560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18275" lIns="27425" spcFirstLastPara="1" rIns="27425" wrap="square" tIns="182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0" i="0" lang="en-US" sz="1200" u="none" cap="none" strike="noStrike">
                <a:solidFill>
                  <a:srgbClr val="5C6778"/>
                </a:solidFill>
                <a:latin typeface="Arial"/>
                <a:ea typeface="Arial"/>
                <a:cs typeface="Arial"/>
                <a:sym typeface="Arial"/>
              </a:rPr>
              <a:t>The Streamlit app built from this project. Scan the code to open it on a phone.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3" name="TextBox 92"/>
          <p:cNvSpPr txBox="1"/>
          <p:nvPr/>
        </p:nvSpPr>
        <p:spPr>
          <a:xfrm>
            <a:off x="1024128" y="2807208"/>
            <a:ext cx="3657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F56736"/>
                </a:solidFill>
                <a:latin typeface="Arial"/>
              </a:rPr>
              <a:t>LIVE DEMO</a:t>
            </a:r>
          </a:p>
        </p:txBody>
      </p:sp>
      <p:pic>
        <p:nvPicPr>
          <p:cNvPr id="94" name="Picture 93" descr="demo_q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02168" y="2697480"/>
            <a:ext cx="1783080" cy="1783080"/>
          </a:xfrm>
          <a:prstGeom prst="rect">
            <a:avLst/>
          </a:prstGeom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77" name="Shape 6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8" name="Google Shape;678;p36"/>
          <p:cNvSpPr txBox="1"/>
          <p:nvPr/>
        </p:nvSpPr>
        <p:spPr>
          <a:xfrm>
            <a:off x="329184" y="73152"/>
            <a:ext cx="45720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36575" spcFirstLastPara="1" rIns="36575" wrap="square" tIns="182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50" u="none" cap="none" strike="noStrike">
                <a:solidFill>
                  <a:srgbClr val="FF5B37"/>
                </a:solidFill>
                <a:latin typeface="Arial"/>
                <a:ea typeface="Arial"/>
                <a:cs typeface="Arial"/>
                <a:sym typeface="Arial"/>
              </a:rPr>
              <a:t>FACE OUTPUT — FAKE VIDEOS</a:t>
            </a:r>
            <a:endParaRPr/>
          </a:p>
        </p:txBody>
      </p:sp>
      <p:sp>
        <p:nvSpPr>
          <p:cNvPr id="679" name="Google Shape;679;p36"/>
          <p:cNvSpPr txBox="1"/>
          <p:nvPr/>
        </p:nvSpPr>
        <p:spPr>
          <a:xfrm>
            <a:off x="329184" y="310896"/>
            <a:ext cx="11247120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36575" spcFirstLastPara="1" rIns="36575" wrap="square" tIns="182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300" u="none" cap="none" strike="noStrike">
                <a:solidFill>
                  <a:srgbClr val="11233C"/>
                </a:solidFill>
                <a:latin typeface="Arial"/>
                <a:ea typeface="Arial"/>
                <a:cs typeface="Arial"/>
                <a:sym typeface="Arial"/>
              </a:rPr>
              <a:t>What the model saw in FAKE videos</a:t>
            </a:r>
            <a:endParaRPr/>
          </a:p>
        </p:txBody>
      </p:sp>
      <p:sp>
        <p:nvSpPr>
          <p:cNvPr id="680" name="Google Shape;680;p36"/>
          <p:cNvSpPr txBox="1"/>
          <p:nvPr/>
        </p:nvSpPr>
        <p:spPr>
          <a:xfrm>
            <a:off x="329184" y="749808"/>
            <a:ext cx="1124712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36575" spcFirstLastPara="1" rIns="36575" wrap="square" tIns="182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495E79"/>
                </a:solidFill>
                <a:latin typeface="Arial"/>
                <a:ea typeface="Arial"/>
                <a:cs typeface="Arial"/>
                <a:sym typeface="Arial"/>
              </a:rPr>
              <a:t>Face frames from two FAKE videos next to the REAL videos they were made from: same scene and frame, only the face is swapped.</a:t>
            </a:r>
            <a:endParaRPr/>
          </a:p>
        </p:txBody>
      </p:sp>
      <p:sp>
        <p:nvSpPr>
          <p:cNvPr id="681" name="Google Shape;681;p36"/>
          <p:cNvSpPr/>
          <p:nvPr/>
        </p:nvSpPr>
        <p:spPr>
          <a:xfrm>
            <a:off x="329184" y="1042415"/>
            <a:ext cx="11503152" cy="32004"/>
          </a:xfrm>
          <a:prstGeom prst="rect">
            <a:avLst/>
          </a:prstGeom>
          <a:solidFill>
            <a:srgbClr val="CFD8E1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82" name="Google Shape;682;p36"/>
          <p:cNvSpPr txBox="1"/>
          <p:nvPr/>
        </p:nvSpPr>
        <p:spPr>
          <a:xfrm>
            <a:off x="2301077" y="1234440"/>
            <a:ext cx="3154680" cy="237744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36575" spcFirstLastPara="1" rIns="36575" wrap="square" tIns="1827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50" u="none" cap="none" strike="noStrike">
                <a:solidFill>
                  <a:srgbClr val="11233C"/>
                </a:solidFill>
                <a:latin typeface="Arial"/>
                <a:ea typeface="Arial"/>
                <a:cs typeface="Arial"/>
                <a:sym typeface="Arial"/>
              </a:rPr>
              <a:t>Low resolution  •  286 × 300</a:t>
            </a:r>
            <a:endParaRPr/>
          </a:p>
        </p:txBody>
      </p:sp>
      <p:sp>
        <p:nvSpPr>
          <p:cNvPr id="683" name="Google Shape;683;p36"/>
          <p:cNvSpPr txBox="1"/>
          <p:nvPr/>
        </p:nvSpPr>
        <p:spPr>
          <a:xfrm>
            <a:off x="2301077" y="1517904"/>
            <a:ext cx="1517904" cy="182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36575" spcFirstLastPara="1" rIns="36575" wrap="square" tIns="1827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69" u="none" cap="none" strike="noStrike">
                <a:solidFill>
                  <a:srgbClr val="14A069"/>
                </a:solidFill>
                <a:latin typeface="Arial"/>
                <a:ea typeface="Arial"/>
                <a:cs typeface="Arial"/>
                <a:sym typeface="Arial"/>
              </a:rPr>
              <a:t>REAL</a:t>
            </a:r>
            <a:endParaRPr/>
          </a:p>
        </p:txBody>
      </p:sp>
      <p:sp>
        <p:nvSpPr>
          <p:cNvPr id="684" name="Google Shape;684;p36"/>
          <p:cNvSpPr txBox="1"/>
          <p:nvPr/>
        </p:nvSpPr>
        <p:spPr>
          <a:xfrm>
            <a:off x="3937853" y="1517904"/>
            <a:ext cx="1517904" cy="182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36575" spcFirstLastPara="1" rIns="36575" wrap="square" tIns="1827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69" u="none" cap="none" strike="noStrike">
                <a:solidFill>
                  <a:srgbClr val="FF5B37"/>
                </a:solidFill>
                <a:latin typeface="Arial"/>
                <a:ea typeface="Arial"/>
                <a:cs typeface="Arial"/>
                <a:sym typeface="Arial"/>
              </a:rPr>
              <a:t>FAKE</a:t>
            </a:r>
            <a:endParaRPr/>
          </a:p>
        </p:txBody>
      </p:sp>
      <p:sp>
        <p:nvSpPr>
          <p:cNvPr id="685" name="Google Shape;685;p36"/>
          <p:cNvSpPr/>
          <p:nvPr/>
        </p:nvSpPr>
        <p:spPr>
          <a:xfrm>
            <a:off x="2301077" y="1746504"/>
            <a:ext cx="1517904" cy="1975104"/>
          </a:xfrm>
          <a:prstGeom prst="roundRect">
            <a:avLst>
              <a:gd fmla="val 16667" name="adj"/>
            </a:avLst>
          </a:prstGeom>
          <a:solidFill>
            <a:srgbClr val="F5F8FA"/>
          </a:solidFill>
          <a:ln cap="flat" cmpd="sng" w="9525">
            <a:solidFill>
              <a:srgbClr val="CFD8E1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Aligned face crop from REAL video id24_0003 (286 x 300)" id="686" name="Google Shape;686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74229" y="1828800"/>
            <a:ext cx="1371600" cy="1737360"/>
          </a:xfrm>
          <a:prstGeom prst="rect">
            <a:avLst/>
          </a:prstGeom>
          <a:noFill/>
          <a:ln>
            <a:noFill/>
          </a:ln>
        </p:spPr>
      </p:pic>
      <p:sp>
        <p:nvSpPr>
          <p:cNvPr id="687" name="Google Shape;687;p36"/>
          <p:cNvSpPr/>
          <p:nvPr/>
        </p:nvSpPr>
        <p:spPr>
          <a:xfrm>
            <a:off x="3937853" y="1746504"/>
            <a:ext cx="1517904" cy="1975104"/>
          </a:xfrm>
          <a:prstGeom prst="roundRect">
            <a:avLst>
              <a:gd fmla="val 16667" name="adj"/>
            </a:avLst>
          </a:prstGeom>
          <a:solidFill>
            <a:srgbClr val="F5F8FA"/>
          </a:solidFill>
          <a:ln cap="flat" cmpd="sng" w="9525">
            <a:solidFill>
              <a:srgbClr val="CFD8E1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Aligned face crop from FAKE video id24_id19_0003 (286 x 300), same frame" id="688" name="Google Shape;688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011005" y="1828800"/>
            <a:ext cx="1371600" cy="1737360"/>
          </a:xfrm>
          <a:prstGeom prst="rect">
            <a:avLst/>
          </a:prstGeom>
          <a:noFill/>
          <a:ln>
            <a:noFill/>
          </a:ln>
        </p:spPr>
      </p:pic>
      <p:sp>
        <p:nvSpPr>
          <p:cNvPr id="689" name="Google Shape;689;p36"/>
          <p:cNvSpPr txBox="1"/>
          <p:nvPr/>
        </p:nvSpPr>
        <p:spPr>
          <a:xfrm>
            <a:off x="2301077" y="3803904"/>
            <a:ext cx="315468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36575" spcFirstLastPara="1" rIns="36575" wrap="square" tIns="1827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10" u="none" cap="none" strike="noStrike">
                <a:solidFill>
                  <a:srgbClr val="495E79"/>
                </a:solidFill>
                <a:latin typeface="Arial"/>
                <a:ea typeface="Arial"/>
                <a:cs typeface="Arial"/>
                <a:sym typeface="Arial"/>
              </a:rPr>
              <a:t>32 / 32 faces found in REAL and FAKE</a:t>
            </a:r>
            <a:endParaRPr/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10" u="none" cap="none" strike="noStrike">
                <a:solidFill>
                  <a:srgbClr val="495E79"/>
                </a:solidFill>
                <a:latin typeface="Arial"/>
                <a:ea typeface="Arial"/>
                <a:cs typeface="Arial"/>
                <a:sym typeface="Arial"/>
              </a:rPr>
              <a:t>Fake score: REAL 0.0000  •  FAKE 0.9998</a:t>
            </a:r>
            <a:endParaRPr/>
          </a:p>
        </p:txBody>
      </p:sp>
      <p:sp>
        <p:nvSpPr>
          <p:cNvPr id="690" name="Google Shape;690;p36"/>
          <p:cNvSpPr txBox="1"/>
          <p:nvPr/>
        </p:nvSpPr>
        <p:spPr>
          <a:xfrm>
            <a:off x="6735917" y="1234440"/>
            <a:ext cx="3154680" cy="237744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36575" spcFirstLastPara="1" rIns="36575" wrap="square" tIns="1827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50" u="none" cap="none" strike="noStrike">
                <a:solidFill>
                  <a:srgbClr val="11233C"/>
                </a:solidFill>
                <a:latin typeface="Arial"/>
                <a:ea typeface="Arial"/>
                <a:cs typeface="Arial"/>
                <a:sym typeface="Arial"/>
              </a:rPr>
              <a:t>High resolution  •  974 × 500</a:t>
            </a:r>
            <a:endParaRPr/>
          </a:p>
        </p:txBody>
      </p:sp>
      <p:sp>
        <p:nvSpPr>
          <p:cNvPr id="691" name="Google Shape;691;p36"/>
          <p:cNvSpPr txBox="1"/>
          <p:nvPr/>
        </p:nvSpPr>
        <p:spPr>
          <a:xfrm>
            <a:off x="6735917" y="1517904"/>
            <a:ext cx="1517904" cy="182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36575" spcFirstLastPara="1" rIns="36575" wrap="square" tIns="1827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69" u="none" cap="none" strike="noStrike">
                <a:solidFill>
                  <a:srgbClr val="14A069"/>
                </a:solidFill>
                <a:latin typeface="Arial"/>
                <a:ea typeface="Arial"/>
                <a:cs typeface="Arial"/>
                <a:sym typeface="Arial"/>
              </a:rPr>
              <a:t>REAL</a:t>
            </a:r>
            <a:endParaRPr/>
          </a:p>
        </p:txBody>
      </p:sp>
      <p:sp>
        <p:nvSpPr>
          <p:cNvPr id="692" name="Google Shape;692;p36"/>
          <p:cNvSpPr txBox="1"/>
          <p:nvPr/>
        </p:nvSpPr>
        <p:spPr>
          <a:xfrm>
            <a:off x="8372693" y="1517904"/>
            <a:ext cx="1517904" cy="182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36575" spcFirstLastPara="1" rIns="36575" wrap="square" tIns="1827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69" u="none" cap="none" strike="noStrike">
                <a:solidFill>
                  <a:srgbClr val="FF5B37"/>
                </a:solidFill>
                <a:latin typeface="Arial"/>
                <a:ea typeface="Arial"/>
                <a:cs typeface="Arial"/>
                <a:sym typeface="Arial"/>
              </a:rPr>
              <a:t>FAKE</a:t>
            </a:r>
            <a:endParaRPr/>
          </a:p>
        </p:txBody>
      </p:sp>
      <p:sp>
        <p:nvSpPr>
          <p:cNvPr id="693" name="Google Shape;693;p36"/>
          <p:cNvSpPr/>
          <p:nvPr/>
        </p:nvSpPr>
        <p:spPr>
          <a:xfrm>
            <a:off x="6735917" y="1746504"/>
            <a:ext cx="1517904" cy="1975104"/>
          </a:xfrm>
          <a:prstGeom prst="roundRect">
            <a:avLst>
              <a:gd fmla="val 16667" name="adj"/>
            </a:avLst>
          </a:prstGeom>
          <a:solidFill>
            <a:srgbClr val="F5F8FA"/>
          </a:solidFill>
          <a:ln cap="flat" cmpd="sng" w="9525">
            <a:solidFill>
              <a:srgbClr val="CFD8E1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Aligned face crop from REAL video id16_0012 (974 x 500)" id="694" name="Google Shape;694;p36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6809069" y="1828800"/>
            <a:ext cx="1371600" cy="1737360"/>
          </a:xfrm>
          <a:prstGeom prst="rect">
            <a:avLst/>
          </a:prstGeom>
          <a:noFill/>
          <a:ln>
            <a:noFill/>
          </a:ln>
        </p:spPr>
      </p:pic>
      <p:sp>
        <p:nvSpPr>
          <p:cNvPr id="695" name="Google Shape;695;p36"/>
          <p:cNvSpPr/>
          <p:nvPr/>
        </p:nvSpPr>
        <p:spPr>
          <a:xfrm>
            <a:off x="8372693" y="1746504"/>
            <a:ext cx="1517904" cy="1975104"/>
          </a:xfrm>
          <a:prstGeom prst="roundRect">
            <a:avLst>
              <a:gd fmla="val 16667" name="adj"/>
            </a:avLst>
          </a:prstGeom>
          <a:solidFill>
            <a:srgbClr val="F5F8FA"/>
          </a:solidFill>
          <a:ln cap="flat" cmpd="sng" w="9525">
            <a:solidFill>
              <a:srgbClr val="CFD8E1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Aligned face crop from FAKE video id16_id9_0012 (974 x 500), same frame" id="696" name="Google Shape;696;p36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8445845" y="1828800"/>
            <a:ext cx="1371600" cy="1737360"/>
          </a:xfrm>
          <a:prstGeom prst="rect">
            <a:avLst/>
          </a:prstGeom>
          <a:noFill/>
          <a:ln>
            <a:noFill/>
          </a:ln>
        </p:spPr>
      </p:pic>
      <p:sp>
        <p:nvSpPr>
          <p:cNvPr id="697" name="Google Shape;697;p36"/>
          <p:cNvSpPr txBox="1"/>
          <p:nvPr/>
        </p:nvSpPr>
        <p:spPr>
          <a:xfrm>
            <a:off x="6735917" y="3803904"/>
            <a:ext cx="315468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36575" spcFirstLastPara="1" rIns="36575" wrap="square" tIns="1827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10" u="none" cap="none" strike="noStrike">
                <a:solidFill>
                  <a:srgbClr val="495E79"/>
                </a:solidFill>
                <a:latin typeface="Arial"/>
                <a:ea typeface="Arial"/>
                <a:cs typeface="Arial"/>
                <a:sym typeface="Arial"/>
              </a:rPr>
              <a:t>32 / 32 faces found in REAL and FAKE</a:t>
            </a:r>
            <a:endParaRPr/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10" u="none" cap="none" strike="noStrike">
                <a:solidFill>
                  <a:srgbClr val="495E79"/>
                </a:solidFill>
                <a:latin typeface="Arial"/>
                <a:ea typeface="Arial"/>
                <a:cs typeface="Arial"/>
                <a:sym typeface="Arial"/>
              </a:rPr>
              <a:t>Fake score: REAL 0.0000  •  FAKE 1.0000</a:t>
            </a:r>
            <a:endParaRPr/>
          </a:p>
        </p:txBody>
      </p:sp>
      <p:sp>
        <p:nvSpPr>
          <p:cNvPr id="706" name="Google Shape;706;p36"/>
          <p:cNvSpPr/>
          <p:nvPr/>
        </p:nvSpPr>
        <p:spPr>
          <a:xfrm>
            <a:off x="621792" y="4315968"/>
            <a:ext cx="3429000" cy="91440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9525">
            <a:solidFill>
              <a:srgbClr val="CFD8E1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07" name="Google Shape;707;p36"/>
          <p:cNvSpPr/>
          <p:nvPr/>
        </p:nvSpPr>
        <p:spPr>
          <a:xfrm>
            <a:off x="621792" y="4315968"/>
            <a:ext cx="64008" cy="914400"/>
          </a:xfrm>
          <a:prstGeom prst="rect">
            <a:avLst/>
          </a:prstGeom>
          <a:solidFill>
            <a:srgbClr val="26AEA5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08" name="Google Shape;708;p36"/>
          <p:cNvSpPr txBox="1"/>
          <p:nvPr/>
        </p:nvSpPr>
        <p:spPr>
          <a:xfrm>
            <a:off x="786384" y="4370831"/>
            <a:ext cx="3172968" cy="146304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36575" spcFirstLastPara="1" rIns="36575" wrap="square" tIns="182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30" u="none" cap="none" strike="noStrike">
                <a:solidFill>
                  <a:srgbClr val="495E79"/>
                </a:solidFill>
                <a:latin typeface="Arial"/>
                <a:ea typeface="Arial"/>
                <a:cs typeface="Arial"/>
                <a:sym typeface="Arial"/>
              </a:rPr>
              <a:t>FACE DETECTION</a:t>
            </a:r>
            <a:endParaRPr/>
          </a:p>
        </p:txBody>
      </p:sp>
      <p:sp>
        <p:nvSpPr>
          <p:cNvPr id="709" name="Google Shape;709;p36"/>
          <p:cNvSpPr txBox="1"/>
          <p:nvPr/>
        </p:nvSpPr>
        <p:spPr>
          <a:xfrm>
            <a:off x="786384" y="4553712"/>
            <a:ext cx="3172968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36575" spcFirstLastPara="1" rIns="36575" wrap="square" tIns="182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50" u="none" cap="none" strike="noStrike">
                <a:solidFill>
                  <a:srgbClr val="11233C"/>
                </a:solidFill>
                <a:latin typeface="Arial"/>
                <a:ea typeface="Arial"/>
                <a:cs typeface="Arial"/>
                <a:sym typeface="Arial"/>
              </a:rPr>
              <a:t>No issue</a:t>
            </a:r>
            <a:endParaRPr/>
          </a:p>
        </p:txBody>
      </p:sp>
      <p:sp>
        <p:nvSpPr>
          <p:cNvPr id="710" name="Google Shape;710;p36"/>
          <p:cNvSpPr txBox="1"/>
          <p:nvPr/>
        </p:nvSpPr>
        <p:spPr>
          <a:xfrm>
            <a:off x="786384" y="4837176"/>
            <a:ext cx="3172968" cy="356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36575" spcFirstLastPara="1" rIns="36575" wrap="square" tIns="182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60" u="none" cap="none" strike="noStrike">
                <a:solidFill>
                  <a:srgbClr val="495E79"/>
                </a:solidFill>
                <a:latin typeface="Arial"/>
                <a:ea typeface="Arial"/>
                <a:cs typeface="Arial"/>
                <a:sym typeface="Arial"/>
              </a:rPr>
              <a:t>32 / 32 faces found in all 4 videos</a:t>
            </a:r>
            <a:endParaRPr/>
          </a:p>
        </p:txBody>
      </p:sp>
      <p:sp>
        <p:nvSpPr>
          <p:cNvPr id="711" name="Google Shape;711;p36"/>
          <p:cNvSpPr/>
          <p:nvPr/>
        </p:nvSpPr>
        <p:spPr>
          <a:xfrm>
            <a:off x="4389120" y="4315968"/>
            <a:ext cx="3429000" cy="91440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9525">
            <a:solidFill>
              <a:srgbClr val="CFD8E1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12" name="Google Shape;712;p36"/>
          <p:cNvSpPr/>
          <p:nvPr/>
        </p:nvSpPr>
        <p:spPr>
          <a:xfrm>
            <a:off x="4389120" y="4315968"/>
            <a:ext cx="64008" cy="914400"/>
          </a:xfrm>
          <a:prstGeom prst="rect">
            <a:avLst/>
          </a:prstGeom>
          <a:solidFill>
            <a:srgbClr val="FF5B37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13" name="Google Shape;713;p36"/>
          <p:cNvSpPr txBox="1"/>
          <p:nvPr/>
        </p:nvSpPr>
        <p:spPr>
          <a:xfrm>
            <a:off x="4553712" y="4370831"/>
            <a:ext cx="3172968" cy="146304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36575" spcFirstLastPara="1" rIns="36575" wrap="square" tIns="182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30" u="none" cap="none" strike="noStrike">
                <a:solidFill>
                  <a:srgbClr val="495E79"/>
                </a:solidFill>
                <a:latin typeface="Arial"/>
                <a:ea typeface="Arial"/>
                <a:cs typeface="Arial"/>
                <a:sym typeface="Arial"/>
              </a:rPr>
              <a:t>FAKE SCORE</a:t>
            </a:r>
            <a:endParaRPr/>
          </a:p>
        </p:txBody>
      </p:sp>
      <p:sp>
        <p:nvSpPr>
          <p:cNvPr id="714" name="Google Shape;714;p36"/>
          <p:cNvSpPr txBox="1"/>
          <p:nvPr/>
        </p:nvSpPr>
        <p:spPr>
          <a:xfrm>
            <a:off x="4553712" y="4553712"/>
            <a:ext cx="3172968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36575" spcFirstLastPara="1" rIns="36575" wrap="square" tIns="182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50" u="none" cap="none" strike="noStrike">
                <a:solidFill>
                  <a:srgbClr val="11233C"/>
                </a:solidFill>
                <a:latin typeface="Arial"/>
                <a:ea typeface="Arial"/>
                <a:cs typeface="Arial"/>
                <a:sym typeface="Arial"/>
              </a:rPr>
              <a:t>Both fakes caught</a:t>
            </a:r>
            <a:endParaRPr/>
          </a:p>
        </p:txBody>
      </p:sp>
      <p:sp>
        <p:nvSpPr>
          <p:cNvPr id="715" name="Google Shape;715;p36"/>
          <p:cNvSpPr txBox="1"/>
          <p:nvPr/>
        </p:nvSpPr>
        <p:spPr>
          <a:xfrm>
            <a:off x="4553712" y="4837176"/>
            <a:ext cx="3172968" cy="356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36575" spcFirstLastPara="1" rIns="36575" wrap="square" tIns="182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60" u="none" cap="none" strike="noStrike">
                <a:solidFill>
                  <a:srgbClr val="495E79"/>
                </a:solidFill>
                <a:latin typeface="Arial"/>
                <a:ea typeface="Arial"/>
                <a:cs typeface="Arial"/>
                <a:sym typeface="Arial"/>
              </a:rPr>
              <a:t>0.9998 and 1.0000, far above the 0.0131 threshold</a:t>
            </a:r>
            <a:endParaRPr/>
          </a:p>
        </p:txBody>
      </p:sp>
      <p:sp>
        <p:nvSpPr>
          <p:cNvPr id="716" name="Google Shape;716;p36"/>
          <p:cNvSpPr/>
          <p:nvPr/>
        </p:nvSpPr>
        <p:spPr>
          <a:xfrm>
            <a:off x="8156448" y="4315968"/>
            <a:ext cx="3429000" cy="91440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9525">
            <a:solidFill>
              <a:srgbClr val="CFD8E1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17" name="Google Shape;717;p36"/>
          <p:cNvSpPr/>
          <p:nvPr/>
        </p:nvSpPr>
        <p:spPr>
          <a:xfrm>
            <a:off x="8156448" y="4315968"/>
            <a:ext cx="64008" cy="914400"/>
          </a:xfrm>
          <a:prstGeom prst="rect">
            <a:avLst/>
          </a:prstGeom>
          <a:solidFill>
            <a:srgbClr val="14A069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18" name="Google Shape;718;p36"/>
          <p:cNvSpPr txBox="1"/>
          <p:nvPr/>
        </p:nvSpPr>
        <p:spPr>
          <a:xfrm>
            <a:off x="8321040" y="4370831"/>
            <a:ext cx="3172968" cy="146304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36575" spcFirstLastPara="1" rIns="36575" wrap="square" tIns="182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30" u="none" cap="none" strike="noStrike">
                <a:solidFill>
                  <a:srgbClr val="495E79"/>
                </a:solidFill>
                <a:latin typeface="Arial"/>
                <a:ea typeface="Arial"/>
                <a:cs typeface="Arial"/>
                <a:sym typeface="Arial"/>
              </a:rPr>
              <a:t>RESOLUTION</a:t>
            </a:r>
            <a:endParaRPr/>
          </a:p>
        </p:txBody>
      </p:sp>
      <p:sp>
        <p:nvSpPr>
          <p:cNvPr id="719" name="Google Shape;719;p36"/>
          <p:cNvSpPr txBox="1"/>
          <p:nvPr/>
        </p:nvSpPr>
        <p:spPr>
          <a:xfrm>
            <a:off x="8321040" y="4553712"/>
            <a:ext cx="3172968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36575" spcFirstLastPara="1" rIns="36575" wrap="square" tIns="182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50" u="none" cap="none" strike="noStrike">
                <a:solidFill>
                  <a:srgbClr val="11233C"/>
                </a:solidFill>
                <a:latin typeface="Arial"/>
                <a:ea typeface="Arial"/>
                <a:cs typeface="Arial"/>
                <a:sym typeface="Arial"/>
              </a:rPr>
              <a:t>No effect here</a:t>
            </a:r>
            <a:endParaRPr/>
          </a:p>
        </p:txBody>
      </p:sp>
      <p:sp>
        <p:nvSpPr>
          <p:cNvPr id="720" name="Google Shape;720;p36"/>
          <p:cNvSpPr txBox="1"/>
          <p:nvPr/>
        </p:nvSpPr>
        <p:spPr>
          <a:xfrm>
            <a:off x="8321040" y="4837176"/>
            <a:ext cx="3172968" cy="356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36575" spcFirstLastPara="1" rIns="36575" wrap="square" tIns="182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60" u="none" cap="none" strike="noStrike">
                <a:solidFill>
                  <a:srgbClr val="495E79"/>
                </a:solidFill>
                <a:latin typeface="Arial"/>
                <a:ea typeface="Arial"/>
                <a:cs typeface="Arial"/>
                <a:sym typeface="Arial"/>
              </a:rPr>
              <a:t>286 × 300 fake flagged as clearly as 974 × 500</a:t>
            </a:r>
            <a:endParaRPr/>
          </a:p>
        </p:txBody>
      </p:sp>
      <p:sp>
        <p:nvSpPr>
          <p:cNvPr id="721" name="Google Shape;721;p36"/>
          <p:cNvSpPr/>
          <p:nvPr/>
        </p:nvSpPr>
        <p:spPr>
          <a:xfrm>
            <a:off x="502920" y="5468112"/>
            <a:ext cx="11183112" cy="621792"/>
          </a:xfrm>
          <a:prstGeom prst="roundRect">
            <a:avLst>
              <a:gd fmla="val 16667" name="adj"/>
            </a:avLst>
          </a:prstGeom>
          <a:solidFill>
            <a:srgbClr val="EBF8F3"/>
          </a:solidFill>
          <a:ln cap="flat" cmpd="sng" w="9525">
            <a:solidFill>
              <a:srgbClr val="CFD8E1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22" name="Google Shape;722;p36"/>
          <p:cNvSpPr txBox="1"/>
          <p:nvPr/>
        </p:nvSpPr>
        <p:spPr>
          <a:xfrm>
            <a:off x="713232" y="5541264"/>
            <a:ext cx="10762488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36575" spcFirstLastPara="1" rIns="36575" wrap="square" tIns="1827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70" u="none" cap="none" strike="noStrike">
                <a:solidFill>
                  <a:srgbClr val="11233C"/>
                </a:solidFill>
                <a:latin typeface="Arial"/>
                <a:ea typeface="Arial"/>
                <a:cs typeface="Arial"/>
                <a:sym typeface="Arial"/>
              </a:rPr>
              <a:t>Observation: within each pair only the face differs, and the model told them apart at both resolutions: 0.0000 for REAL, 0.9998 and 1.0000 for FAKE.</a:t>
            </a:r>
            <a:endParaRPr/>
          </a:p>
        </p:txBody>
      </p:sp>
      <p:sp>
        <p:nvSpPr>
          <p:cNvPr id="723" name="Source note"/>
          <p:cNvSpPr txBox="1"/>
          <p:nvPr/>
        </p:nvSpPr>
        <p:spPr>
          <a:xfrm>
            <a:off x="502920" y="6199632"/>
            <a:ext cx="11183112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9125" lIns="27425" spcFirstLastPara="1" rIns="27425" wrap="square" tIns="912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30" u="none" cap="none" strike="noStrike">
                <a:solidFill>
                  <a:srgbClr val="495E79"/>
                </a:solidFill>
                <a:latin typeface="Arial"/>
                <a:ea typeface="Arial"/>
                <a:cs typeface="Arial"/>
                <a:sym typeface="Arial"/>
              </a:rPr>
              <a:t>Source: Participant 4 run (Kaggle notebook): ConvNeXt-Tiny, 32 frames per video, threshold 0.0131, no enhancement. Videos: id24_0003 / id24_id19_0003 and id16_0012 / id16_id9_0012.</a:t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26" name="Shape 7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7" name="Google Shape;727;p37"/>
          <p:cNvSpPr txBox="1"/>
          <p:nvPr/>
        </p:nvSpPr>
        <p:spPr>
          <a:xfrm>
            <a:off x="283464" y="73152"/>
            <a:ext cx="45720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9125" lIns="27425" spcFirstLastPara="1" rIns="27425" wrap="square" tIns="912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19" u="none" cap="none" strike="noStrike">
                <a:solidFill>
                  <a:srgbClr val="FF5B37"/>
                </a:solidFill>
                <a:latin typeface="Arial"/>
                <a:ea typeface="Arial"/>
                <a:cs typeface="Arial"/>
                <a:sym typeface="Arial"/>
              </a:rPr>
              <a:t>FAKE CHECK + FINAL RESULT</a:t>
            </a:r>
            <a:endParaRPr/>
          </a:p>
        </p:txBody>
      </p:sp>
      <p:sp>
        <p:nvSpPr>
          <p:cNvPr id="728" name="Google Shape;728;p37"/>
          <p:cNvSpPr txBox="1"/>
          <p:nvPr/>
        </p:nvSpPr>
        <p:spPr>
          <a:xfrm>
            <a:off x="283464" y="310896"/>
            <a:ext cx="11338560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9125" lIns="27425" spcFirstLastPara="1" rIns="27425" wrap="square" tIns="912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250" u="none" cap="none" strike="noStrike">
                <a:solidFill>
                  <a:srgbClr val="11233C"/>
                </a:solidFill>
                <a:latin typeface="Arial"/>
                <a:ea typeface="Arial"/>
                <a:cs typeface="Arial"/>
                <a:sym typeface="Arial"/>
              </a:rPr>
              <a:t>FAKE videos: final result</a:t>
            </a:r>
            <a:endParaRPr/>
          </a:p>
        </p:txBody>
      </p:sp>
      <p:sp>
        <p:nvSpPr>
          <p:cNvPr id="729" name="Google Shape;729;p37"/>
          <p:cNvSpPr txBox="1"/>
          <p:nvPr/>
        </p:nvSpPr>
        <p:spPr>
          <a:xfrm>
            <a:off x="283464" y="731520"/>
            <a:ext cx="11338560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9125" lIns="27425" spcFirstLastPara="1" rIns="27425" wrap="square" tIns="912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70" u="none" cap="none" strike="noStrike">
                <a:solidFill>
                  <a:srgbClr val="495E79"/>
                </a:solidFill>
                <a:latin typeface="Arial"/>
                <a:ea typeface="Arial"/>
                <a:cs typeface="Arial"/>
                <a:sym typeface="Arial"/>
              </a:rPr>
              <a:t>Two FAKE videos and the REAL videos they were made from, scored by the final model, giving 4 outputs in total.</a:t>
            </a:r>
            <a:endParaRPr/>
          </a:p>
        </p:txBody>
      </p:sp>
      <p:sp>
        <p:nvSpPr>
          <p:cNvPr id="730" name="Google Shape;730;p37"/>
          <p:cNvSpPr/>
          <p:nvPr/>
        </p:nvSpPr>
        <p:spPr>
          <a:xfrm>
            <a:off x="283464" y="1014984"/>
            <a:ext cx="11612880" cy="32004"/>
          </a:xfrm>
          <a:prstGeom prst="rect">
            <a:avLst/>
          </a:prstGeom>
          <a:solidFill>
            <a:srgbClr val="CFD8E1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aphicFrame>
        <p:nvGraphicFramePr>
          <p:cNvPr id="731" name="Google Shape;731;p37"/>
          <p:cNvGraphicFramePr/>
          <p:nvPr/>
        </p:nvGraphicFramePr>
        <p:xfrm>
          <a:off x="228600" y="1234440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{2338D9DC-F09C-46F0-9EA9-D6A716EAE88F}</a:tableStyleId>
              </a:tblPr>
              <a:tblGrid>
                <a:gridCol w="2884050"/>
                <a:gridCol w="1808650"/>
                <a:gridCol w="1613125"/>
                <a:gridCol w="1710875"/>
                <a:gridCol w="1759750"/>
                <a:gridCol w="1955300"/>
              </a:tblGrid>
              <a:tr h="4376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400" u="none" cap="none" strike="noStrike"/>
                        <a:t>Video / version</a:t>
                      </a:r>
                      <a:endParaRPr/>
                    </a:p>
                  </a:txBody>
                  <a:tcPr marT="4575" marB="4575" marR="22850" marL="22850" anchor="ctr">
                    <a:solidFill>
                      <a:srgbClr val="11233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019" u="none" cap="none" strike="noStrik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Resolution</a:t>
                      </a:r>
                      <a:endParaRPr/>
                    </a:p>
                  </a:txBody>
                  <a:tcPr marT="4575" marB="4575" marR="22850" marL="22850" anchor="ctr">
                    <a:solidFill>
                      <a:srgbClr val="11233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019" u="none" cap="none" strike="noStrik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Faces</a:t>
                      </a:r>
                      <a:endParaRPr/>
                    </a:p>
                  </a:txBody>
                  <a:tcPr marT="4575" marB="4575" marR="22850" marL="22850" anchor="ctr">
                    <a:solidFill>
                      <a:srgbClr val="11233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019" u="none" cap="none" strike="noStrik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Fake score</a:t>
                      </a:r>
                      <a:endParaRPr/>
                    </a:p>
                  </a:txBody>
                  <a:tcPr marT="4575" marB="4575" marR="22850" marL="22850" anchor="ctr">
                    <a:solidFill>
                      <a:srgbClr val="11233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019" u="none" cap="none" strike="noStrik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Confidence</a:t>
                      </a:r>
                      <a:endParaRPr/>
                    </a:p>
                  </a:txBody>
                  <a:tcPr marT="4575" marB="4575" marR="22850" marL="22850" anchor="ctr">
                    <a:solidFill>
                      <a:srgbClr val="11233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019" u="none" cap="none" strike="noStrik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Prediction</a:t>
                      </a:r>
                      <a:endParaRPr/>
                    </a:p>
                  </a:txBody>
                  <a:tcPr marT="4575" marB="4575" marR="22850" marL="22850" anchor="ctr">
                    <a:solidFill>
                      <a:srgbClr val="11233C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969" u="none" cap="none" strike="noStrike">
                          <a:solidFill>
                            <a:srgbClr val="1E252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Low — REAL  (id24_0003)</a:t>
                      </a:r>
                      <a:endParaRPr/>
                    </a:p>
                  </a:txBody>
                  <a:tcPr marT="4575" marB="4575" marR="22850" marL="228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969" u="none" cap="none" strike="noStrike">
                          <a:solidFill>
                            <a:srgbClr val="1E252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286 × 300</a:t>
                      </a:r>
                      <a:endParaRPr/>
                    </a:p>
                  </a:txBody>
                  <a:tcPr marT="4575" marB="4575" marR="22850" marL="228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969" u="none" cap="none" strike="noStrike">
                          <a:solidFill>
                            <a:srgbClr val="1E252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32 / 32</a:t>
                      </a:r>
                      <a:endParaRPr/>
                    </a:p>
                  </a:txBody>
                  <a:tcPr marT="4575" marB="4575" marR="22850" marL="228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969" u="none" cap="none" strike="noStrike">
                          <a:solidFill>
                            <a:srgbClr val="1E252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0.0000</a:t>
                      </a:r>
                      <a:endParaRPr/>
                    </a:p>
                  </a:txBody>
                  <a:tcPr marT="4575" marB="4575" marR="22850" marL="228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969" u="none" cap="none" strike="noStrike">
                          <a:solidFill>
                            <a:srgbClr val="1E252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100%</a:t>
                      </a:r>
                      <a:endParaRPr/>
                    </a:p>
                  </a:txBody>
                  <a:tcPr marT="4575" marB="4575" marR="22850" marL="228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969" u="none" cap="none" strike="noStrike">
                          <a:solidFill>
                            <a:srgbClr val="14A069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REAL ✓</a:t>
                      </a:r>
                      <a:endParaRPr/>
                    </a:p>
                  </a:txBody>
                  <a:tcPr marT="4575" marB="4575" marR="22850" marL="22850" anchor="ctr"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969" u="none" cap="none" strike="noStrike">
                          <a:solidFill>
                            <a:srgbClr val="1E252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Low — FAKE  (id24_id19_0003)</a:t>
                      </a:r>
                      <a:endParaRPr/>
                    </a:p>
                  </a:txBody>
                  <a:tcPr marT="4575" marB="4575" marR="22850" marL="22850" anchor="ctr">
                    <a:solidFill>
                      <a:srgbClr val="EBF8F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969" u="none" cap="none" strike="noStrike">
                          <a:solidFill>
                            <a:srgbClr val="1E252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286 × 300</a:t>
                      </a:r>
                      <a:endParaRPr/>
                    </a:p>
                  </a:txBody>
                  <a:tcPr marT="4575" marB="4575" marR="22850" marL="22850" anchor="ctr">
                    <a:solidFill>
                      <a:srgbClr val="EBF8F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969" u="none" cap="none" strike="noStrike">
                          <a:solidFill>
                            <a:srgbClr val="1E252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32 / 32</a:t>
                      </a:r>
                      <a:endParaRPr/>
                    </a:p>
                  </a:txBody>
                  <a:tcPr marT="4575" marB="4575" marR="22850" marL="22850" anchor="ctr">
                    <a:solidFill>
                      <a:srgbClr val="EBF8F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969" u="none" cap="none" strike="noStrike">
                          <a:solidFill>
                            <a:srgbClr val="1E252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0.9998</a:t>
                      </a:r>
                      <a:endParaRPr/>
                    </a:p>
                  </a:txBody>
                  <a:tcPr marT="4575" marB="4575" marR="22850" marL="22850" anchor="ctr">
                    <a:solidFill>
                      <a:srgbClr val="EBF8F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969" u="none" cap="none" strike="noStrike">
                          <a:solidFill>
                            <a:srgbClr val="1E252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99.98%</a:t>
                      </a:r>
                      <a:endParaRPr/>
                    </a:p>
                  </a:txBody>
                  <a:tcPr marT="4575" marB="4575" marR="22850" marL="22850" anchor="ctr">
                    <a:solidFill>
                      <a:srgbClr val="EBF8F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969" u="none" cap="none" strike="noStrike">
                          <a:solidFill>
                            <a:srgbClr val="FF5B37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FAKE ✓</a:t>
                      </a:r>
                      <a:endParaRPr/>
                    </a:p>
                  </a:txBody>
                  <a:tcPr marT="4575" marB="4575" marR="22850" marL="22850" anchor="ctr">
                    <a:solidFill>
                      <a:srgbClr val="EBF8F3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969" u="none" cap="none" strike="noStrike">
                          <a:solidFill>
                            <a:srgbClr val="1E252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High — REAL  (id16_0012)</a:t>
                      </a:r>
                      <a:endParaRPr/>
                    </a:p>
                  </a:txBody>
                  <a:tcPr marT="4575" marB="4575" marR="22850" marL="228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969" u="none" cap="none" strike="noStrike">
                          <a:solidFill>
                            <a:srgbClr val="1E252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974 × 500</a:t>
                      </a:r>
                      <a:endParaRPr/>
                    </a:p>
                  </a:txBody>
                  <a:tcPr marT="4575" marB="4575" marR="22850" marL="228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969" u="none" cap="none" strike="noStrike">
                          <a:solidFill>
                            <a:srgbClr val="1E252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32 / 32</a:t>
                      </a:r>
                      <a:endParaRPr/>
                    </a:p>
                  </a:txBody>
                  <a:tcPr marT="4575" marB="4575" marR="22850" marL="228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969" u="none" cap="none" strike="noStrike">
                          <a:solidFill>
                            <a:srgbClr val="1E252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0.0000</a:t>
                      </a:r>
                      <a:endParaRPr/>
                    </a:p>
                  </a:txBody>
                  <a:tcPr marT="4575" marB="4575" marR="22850" marL="228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969" u="none" cap="none" strike="noStrike">
                          <a:solidFill>
                            <a:srgbClr val="1E252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100%</a:t>
                      </a:r>
                      <a:endParaRPr/>
                    </a:p>
                  </a:txBody>
                  <a:tcPr marT="4575" marB="4575" marR="22850" marL="228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969" u="none" cap="none" strike="noStrike">
                          <a:solidFill>
                            <a:srgbClr val="14A069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REAL ✓</a:t>
                      </a:r>
                      <a:endParaRPr/>
                    </a:p>
                  </a:txBody>
                  <a:tcPr marT="4575" marB="4575" marR="22850" marL="22850" anchor="ctr"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969" u="none" cap="none" strike="noStrike">
                          <a:solidFill>
                            <a:srgbClr val="1E252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High — FAKE  (id16_id9_0012)</a:t>
                      </a:r>
                      <a:endParaRPr/>
                    </a:p>
                  </a:txBody>
                  <a:tcPr marT="4575" marB="4575" marR="22850" marL="22850" anchor="ctr">
                    <a:solidFill>
                      <a:srgbClr val="EBF8F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969" u="none" cap="none" strike="noStrike">
                          <a:solidFill>
                            <a:srgbClr val="1E252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974 × 500</a:t>
                      </a:r>
                      <a:endParaRPr/>
                    </a:p>
                  </a:txBody>
                  <a:tcPr marT="4575" marB="4575" marR="22850" marL="22850" anchor="ctr">
                    <a:solidFill>
                      <a:srgbClr val="EBF8F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969" u="none" cap="none" strike="noStrike">
                          <a:solidFill>
                            <a:srgbClr val="1E252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32 / 32</a:t>
                      </a:r>
                      <a:endParaRPr/>
                    </a:p>
                  </a:txBody>
                  <a:tcPr marT="4575" marB="4575" marR="22850" marL="22850" anchor="ctr">
                    <a:solidFill>
                      <a:srgbClr val="EBF8F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969" u="none" cap="none" strike="noStrike">
                          <a:solidFill>
                            <a:srgbClr val="1E252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1.0000</a:t>
                      </a:r>
                      <a:endParaRPr/>
                    </a:p>
                  </a:txBody>
                  <a:tcPr marT="4575" marB="4575" marR="22850" marL="22850" anchor="ctr">
                    <a:solidFill>
                      <a:srgbClr val="EBF8F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969" u="none" cap="none" strike="noStrike">
                          <a:solidFill>
                            <a:srgbClr val="1E252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100%</a:t>
                      </a:r>
                      <a:endParaRPr/>
                    </a:p>
                  </a:txBody>
                  <a:tcPr marT="4575" marB="4575" marR="22850" marL="22850" anchor="ctr">
                    <a:solidFill>
                      <a:srgbClr val="EBF8F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969" u="none" cap="none" strike="noStrike">
                          <a:solidFill>
                            <a:srgbClr val="FF5B37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FAKE ✓</a:t>
                      </a:r>
                      <a:endParaRPr/>
                    </a:p>
                  </a:txBody>
                  <a:tcPr marT="4575" marB="4575" marR="22850" marL="22850" anchor="ctr">
                    <a:solidFill>
                      <a:srgbClr val="EBF8F3"/>
                    </a:solidFill>
                  </a:tcPr>
                </a:tc>
              </a:tr>
            </a:tbl>
          </a:graphicData>
        </a:graphic>
      </p:graphicFrame>
      <p:sp>
        <p:nvSpPr>
          <p:cNvPr id="732" name="Google Shape;732;p37"/>
          <p:cNvSpPr/>
          <p:nvPr/>
        </p:nvSpPr>
        <p:spPr>
          <a:xfrm>
            <a:off x="283464" y="4507992"/>
            <a:ext cx="2624328" cy="804672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9525">
            <a:solidFill>
              <a:srgbClr val="CFD8E1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33" name="Google Shape;733;p37"/>
          <p:cNvSpPr/>
          <p:nvPr/>
        </p:nvSpPr>
        <p:spPr>
          <a:xfrm>
            <a:off x="283464" y="4507992"/>
            <a:ext cx="59436" cy="804672"/>
          </a:xfrm>
          <a:prstGeom prst="rect">
            <a:avLst/>
          </a:prstGeom>
          <a:solidFill>
            <a:srgbClr val="14A069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34" name="Google Shape;734;p37"/>
          <p:cNvSpPr txBox="1"/>
          <p:nvPr/>
        </p:nvSpPr>
        <p:spPr>
          <a:xfrm>
            <a:off x="438912" y="4544568"/>
            <a:ext cx="2404872" cy="146304"/>
          </a:xfrm>
          <a:prstGeom prst="rect">
            <a:avLst/>
          </a:prstGeom>
          <a:noFill/>
          <a:ln>
            <a:noFill/>
          </a:ln>
        </p:spPr>
        <p:txBody>
          <a:bodyPr anchorCtr="0" anchor="ctr" bIns="9125" lIns="27425" spcFirstLastPara="1" rIns="27425" wrap="square" tIns="912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495E79"/>
                </a:solidFill>
                <a:latin typeface="Arial"/>
                <a:ea typeface="Arial"/>
                <a:cs typeface="Arial"/>
                <a:sym typeface="Arial"/>
              </a:rPr>
              <a:t>OUTPUTS SHOWN</a:t>
            </a:r>
            <a:endParaRPr/>
          </a:p>
        </p:txBody>
      </p:sp>
      <p:sp>
        <p:nvSpPr>
          <p:cNvPr id="735" name="Google Shape;735;p37"/>
          <p:cNvSpPr txBox="1"/>
          <p:nvPr/>
        </p:nvSpPr>
        <p:spPr>
          <a:xfrm>
            <a:off x="438912" y="4709159"/>
            <a:ext cx="2404872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25" lIns="27425" spcFirstLastPara="1" rIns="27425" wrap="square" tIns="912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50" u="none" cap="none" strike="noStrike">
                <a:solidFill>
                  <a:srgbClr val="11233C"/>
                </a:solidFill>
                <a:latin typeface="Arial"/>
                <a:ea typeface="Arial"/>
                <a:cs typeface="Arial"/>
                <a:sym typeface="Arial"/>
              </a:rPr>
              <a:t>4 outputs</a:t>
            </a:r>
            <a:endParaRPr/>
          </a:p>
        </p:txBody>
      </p:sp>
      <p:sp>
        <p:nvSpPr>
          <p:cNvPr id="736" name="Google Shape;736;p37"/>
          <p:cNvSpPr txBox="1"/>
          <p:nvPr/>
        </p:nvSpPr>
        <p:spPr>
          <a:xfrm>
            <a:off x="438912" y="4956048"/>
            <a:ext cx="2404872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9125" lIns="27425" spcFirstLastPara="1" rIns="27425" wrap="square" tIns="912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19" u="none" cap="none" strike="noStrike">
                <a:solidFill>
                  <a:srgbClr val="495E79"/>
                </a:solidFill>
                <a:latin typeface="Arial"/>
                <a:ea typeface="Arial"/>
                <a:cs typeface="Arial"/>
                <a:sym typeface="Arial"/>
              </a:rPr>
              <a:t>2 FAKE videos + their 2 REAL sources</a:t>
            </a:r>
            <a:endParaRPr/>
          </a:p>
        </p:txBody>
      </p:sp>
      <p:sp>
        <p:nvSpPr>
          <p:cNvPr id="737" name="Google Shape;737;p37"/>
          <p:cNvSpPr/>
          <p:nvPr/>
        </p:nvSpPr>
        <p:spPr>
          <a:xfrm>
            <a:off x="3246120" y="4507992"/>
            <a:ext cx="2624328" cy="804672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9525">
            <a:solidFill>
              <a:srgbClr val="CFD8E1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38" name="Google Shape;738;p37"/>
          <p:cNvSpPr/>
          <p:nvPr/>
        </p:nvSpPr>
        <p:spPr>
          <a:xfrm>
            <a:off x="3246120" y="4507992"/>
            <a:ext cx="59436" cy="804672"/>
          </a:xfrm>
          <a:prstGeom prst="rect">
            <a:avLst/>
          </a:prstGeom>
          <a:solidFill>
            <a:srgbClr val="26AEA5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39" name="Google Shape;739;p37"/>
          <p:cNvSpPr txBox="1"/>
          <p:nvPr/>
        </p:nvSpPr>
        <p:spPr>
          <a:xfrm>
            <a:off x="3401568" y="4544568"/>
            <a:ext cx="2404872" cy="146304"/>
          </a:xfrm>
          <a:prstGeom prst="rect">
            <a:avLst/>
          </a:prstGeom>
          <a:noFill/>
          <a:ln>
            <a:noFill/>
          </a:ln>
        </p:spPr>
        <p:txBody>
          <a:bodyPr anchorCtr="0" anchor="ctr" bIns="9125" lIns="27425" spcFirstLastPara="1" rIns="27425" wrap="square" tIns="912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495E79"/>
                </a:solidFill>
                <a:latin typeface="Arial"/>
                <a:ea typeface="Arial"/>
                <a:cs typeface="Arial"/>
                <a:sym typeface="Arial"/>
              </a:rPr>
              <a:t>FACE DETECTION</a:t>
            </a:r>
            <a:endParaRPr/>
          </a:p>
        </p:txBody>
      </p:sp>
      <p:sp>
        <p:nvSpPr>
          <p:cNvPr id="740" name="Google Shape;740;p37"/>
          <p:cNvSpPr txBox="1"/>
          <p:nvPr/>
        </p:nvSpPr>
        <p:spPr>
          <a:xfrm>
            <a:off x="3401568" y="4709159"/>
            <a:ext cx="2404872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25" lIns="27425" spcFirstLastPara="1" rIns="27425" wrap="square" tIns="912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50" u="none" cap="none" strike="noStrike">
                <a:solidFill>
                  <a:srgbClr val="11233C"/>
                </a:solidFill>
                <a:latin typeface="Arial"/>
                <a:ea typeface="Arial"/>
                <a:cs typeface="Arial"/>
                <a:sym typeface="Arial"/>
              </a:rPr>
              <a:t>No issue</a:t>
            </a:r>
            <a:endParaRPr/>
          </a:p>
        </p:txBody>
      </p:sp>
      <p:sp>
        <p:nvSpPr>
          <p:cNvPr id="741" name="Google Shape;741;p37"/>
          <p:cNvSpPr txBox="1"/>
          <p:nvPr/>
        </p:nvSpPr>
        <p:spPr>
          <a:xfrm>
            <a:off x="3401568" y="4956048"/>
            <a:ext cx="2404872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9125" lIns="27425" spcFirstLastPara="1" rIns="27425" wrap="square" tIns="912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19" u="none" cap="none" strike="noStrike">
                <a:solidFill>
                  <a:srgbClr val="495E79"/>
                </a:solidFill>
                <a:latin typeface="Arial"/>
                <a:ea typeface="Arial"/>
                <a:cs typeface="Arial"/>
                <a:sym typeface="Arial"/>
              </a:rPr>
              <a:t>All 32 sampled faces were detected in each video</a:t>
            </a:r>
            <a:endParaRPr/>
          </a:p>
        </p:txBody>
      </p:sp>
      <p:sp>
        <p:nvSpPr>
          <p:cNvPr id="742" name="Google Shape;742;p37"/>
          <p:cNvSpPr/>
          <p:nvPr/>
        </p:nvSpPr>
        <p:spPr>
          <a:xfrm>
            <a:off x="6208776" y="4507992"/>
            <a:ext cx="2624328" cy="804672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9525">
            <a:solidFill>
              <a:srgbClr val="CFD8E1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43" name="Google Shape;743;p37"/>
          <p:cNvSpPr/>
          <p:nvPr/>
        </p:nvSpPr>
        <p:spPr>
          <a:xfrm>
            <a:off x="6208776" y="4507992"/>
            <a:ext cx="59436" cy="804672"/>
          </a:xfrm>
          <a:prstGeom prst="rect">
            <a:avLst/>
          </a:prstGeom>
          <a:solidFill>
            <a:srgbClr val="FF5B37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44" name="Google Shape;744;p37"/>
          <p:cNvSpPr txBox="1"/>
          <p:nvPr/>
        </p:nvSpPr>
        <p:spPr>
          <a:xfrm>
            <a:off x="6364224" y="4544568"/>
            <a:ext cx="2404872" cy="146304"/>
          </a:xfrm>
          <a:prstGeom prst="rect">
            <a:avLst/>
          </a:prstGeom>
          <a:noFill/>
          <a:ln>
            <a:noFill/>
          </a:ln>
        </p:spPr>
        <p:txBody>
          <a:bodyPr anchorCtr="0" anchor="ctr" bIns="9125" lIns="27425" spcFirstLastPara="1" rIns="27425" wrap="square" tIns="912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495E79"/>
                </a:solidFill>
                <a:latin typeface="Arial"/>
                <a:ea typeface="Arial"/>
                <a:cs typeface="Arial"/>
                <a:sym typeface="Arial"/>
              </a:rPr>
              <a:t>CONFIDENCE</a:t>
            </a:r>
            <a:endParaRPr/>
          </a:p>
        </p:txBody>
      </p:sp>
      <p:sp>
        <p:nvSpPr>
          <p:cNvPr id="745" name="Google Shape;745;p37"/>
          <p:cNvSpPr txBox="1"/>
          <p:nvPr/>
        </p:nvSpPr>
        <p:spPr>
          <a:xfrm>
            <a:off x="6364224" y="4709159"/>
            <a:ext cx="2404872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25" lIns="27425" spcFirstLastPara="1" rIns="27425" wrap="square" tIns="912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50" u="none" cap="none" strike="noStrike">
                <a:solidFill>
                  <a:srgbClr val="11233C"/>
                </a:solidFill>
                <a:latin typeface="Arial"/>
                <a:ea typeface="Arial"/>
                <a:cs typeface="Arial"/>
                <a:sym typeface="Arial"/>
              </a:rPr>
              <a:t>99.98% or higher</a:t>
            </a:r>
            <a:endParaRPr/>
          </a:p>
        </p:txBody>
      </p:sp>
      <p:sp>
        <p:nvSpPr>
          <p:cNvPr id="746" name="Google Shape;746;p37"/>
          <p:cNvSpPr txBox="1"/>
          <p:nvPr/>
        </p:nvSpPr>
        <p:spPr>
          <a:xfrm>
            <a:off x="6364224" y="4956048"/>
            <a:ext cx="2404872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9125" lIns="27425" spcFirstLastPara="1" rIns="27425" wrap="square" tIns="912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19" u="none" cap="none" strike="noStrike">
                <a:solidFill>
                  <a:srgbClr val="495E79"/>
                </a:solidFill>
                <a:latin typeface="Arial"/>
                <a:ea typeface="Arial"/>
                <a:cs typeface="Arial"/>
                <a:sym typeface="Arial"/>
              </a:rPr>
              <a:t>For every prediction, at both resolutions</a:t>
            </a:r>
            <a:endParaRPr/>
          </a:p>
        </p:txBody>
      </p:sp>
      <p:sp>
        <p:nvSpPr>
          <p:cNvPr id="747" name="Google Shape;747;p37"/>
          <p:cNvSpPr/>
          <p:nvPr/>
        </p:nvSpPr>
        <p:spPr>
          <a:xfrm>
            <a:off x="9171432" y="4507992"/>
            <a:ext cx="2624328" cy="804672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9525">
            <a:solidFill>
              <a:srgbClr val="CFD8E1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48" name="Google Shape;748;p37"/>
          <p:cNvSpPr/>
          <p:nvPr/>
        </p:nvSpPr>
        <p:spPr>
          <a:xfrm>
            <a:off x="9171432" y="4507992"/>
            <a:ext cx="59436" cy="804672"/>
          </a:xfrm>
          <a:prstGeom prst="rect">
            <a:avLst/>
          </a:prstGeom>
          <a:solidFill>
            <a:srgbClr val="14A069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49" name="Google Shape;749;p37"/>
          <p:cNvSpPr txBox="1"/>
          <p:nvPr/>
        </p:nvSpPr>
        <p:spPr>
          <a:xfrm>
            <a:off x="9326880" y="4544568"/>
            <a:ext cx="2404872" cy="146304"/>
          </a:xfrm>
          <a:prstGeom prst="rect">
            <a:avLst/>
          </a:prstGeom>
          <a:noFill/>
          <a:ln>
            <a:noFill/>
          </a:ln>
        </p:spPr>
        <p:txBody>
          <a:bodyPr anchorCtr="0" anchor="ctr" bIns="9125" lIns="27425" spcFirstLastPara="1" rIns="27425" wrap="square" tIns="912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495E79"/>
                </a:solidFill>
                <a:latin typeface="Arial"/>
                <a:ea typeface="Arial"/>
                <a:cs typeface="Arial"/>
                <a:sym typeface="Arial"/>
              </a:rPr>
              <a:t>FINAL RESULT</a:t>
            </a:r>
            <a:endParaRPr/>
          </a:p>
        </p:txBody>
      </p:sp>
      <p:sp>
        <p:nvSpPr>
          <p:cNvPr id="750" name="Google Shape;750;p37"/>
          <p:cNvSpPr txBox="1"/>
          <p:nvPr/>
        </p:nvSpPr>
        <p:spPr>
          <a:xfrm>
            <a:off x="9326880" y="4709159"/>
            <a:ext cx="2404872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25" lIns="27425" spcFirstLastPara="1" rIns="27425" wrap="square" tIns="912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50" u="none" cap="none" strike="noStrike">
                <a:solidFill>
                  <a:srgbClr val="11233C"/>
                </a:solidFill>
                <a:latin typeface="Arial"/>
                <a:ea typeface="Arial"/>
                <a:cs typeface="Arial"/>
                <a:sym typeface="Arial"/>
              </a:rPr>
              <a:t>4 / 4 videos correct</a:t>
            </a:r>
            <a:endParaRPr/>
          </a:p>
        </p:txBody>
      </p:sp>
      <p:sp>
        <p:nvSpPr>
          <p:cNvPr id="751" name="Google Shape;751;p37"/>
          <p:cNvSpPr txBox="1"/>
          <p:nvPr/>
        </p:nvSpPr>
        <p:spPr>
          <a:xfrm>
            <a:off x="9326880" y="4956048"/>
            <a:ext cx="2404872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9125" lIns="27425" spcFirstLastPara="1" rIns="27425" wrap="square" tIns="912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19" u="none" cap="none" strike="noStrike">
                <a:solidFill>
                  <a:srgbClr val="495E79"/>
                </a:solidFill>
                <a:latin typeface="Arial"/>
                <a:ea typeface="Arial"/>
                <a:cs typeface="Arial"/>
                <a:sym typeface="Arial"/>
              </a:rPr>
              <a:t>Both FAKE videos were correctly flagged as FAKE</a:t>
            </a:r>
            <a:endParaRPr/>
          </a:p>
        </p:txBody>
      </p:sp>
      <p:sp>
        <p:nvSpPr>
          <p:cNvPr id="752" name="Google Shape;752;p37"/>
          <p:cNvSpPr/>
          <p:nvPr/>
        </p:nvSpPr>
        <p:spPr>
          <a:xfrm>
            <a:off x="438912" y="5504688"/>
            <a:ext cx="11301984" cy="621792"/>
          </a:xfrm>
          <a:prstGeom prst="roundRect">
            <a:avLst>
              <a:gd fmla="val 16667" name="adj"/>
            </a:avLst>
          </a:prstGeom>
          <a:solidFill>
            <a:srgbClr val="EBF8F3"/>
          </a:solidFill>
          <a:ln cap="flat" cmpd="sng" w="9525">
            <a:solidFill>
              <a:srgbClr val="CFD8E1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53" name="Google Shape;753;p37"/>
          <p:cNvSpPr txBox="1"/>
          <p:nvPr/>
        </p:nvSpPr>
        <p:spPr>
          <a:xfrm>
            <a:off x="640080" y="5577840"/>
            <a:ext cx="10899648" cy="448056"/>
          </a:xfrm>
          <a:prstGeom prst="rect">
            <a:avLst/>
          </a:prstGeom>
          <a:noFill/>
          <a:ln>
            <a:noFill/>
          </a:ln>
        </p:spPr>
        <p:txBody>
          <a:bodyPr anchorCtr="0" anchor="ctr" bIns="9125" lIns="27425" spcFirstLastPara="1" rIns="27425" wrap="square" tIns="912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10" u="none" cap="none" strike="noStrike">
                <a:solidFill>
                  <a:srgbClr val="11233C"/>
                </a:solidFill>
                <a:latin typeface="Arial"/>
                <a:ea typeface="Arial"/>
                <a:cs typeface="Arial"/>
                <a:sym typeface="Arial"/>
              </a:rPr>
              <a:t>Conclusion: Both FAKE videos were correctly flagged as FAKE (fake score 0.9998 at 286 × 300 and 1.0000 at 974 × 500). The lower resolution did not weaken detection here.</a:t>
            </a:r>
            <a:endParaRPr/>
          </a:p>
        </p:txBody>
      </p:sp>
      <p:sp>
        <p:nvSpPr>
          <p:cNvPr id="754" name="Google Shape;754;p37"/>
          <p:cNvSpPr txBox="1"/>
          <p:nvPr/>
        </p:nvSpPr>
        <p:spPr>
          <a:xfrm>
            <a:off x="502920" y="6199632"/>
            <a:ext cx="111556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9125" lIns="27425" spcFirstLastPara="1" rIns="27425" wrap="square" tIns="912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30" u="none" cap="none" strike="noStrike">
                <a:solidFill>
                  <a:srgbClr val="495E79"/>
                </a:solidFill>
                <a:latin typeface="Arial"/>
                <a:ea typeface="Arial"/>
                <a:cs typeface="Arial"/>
                <a:sym typeface="Arial"/>
              </a:rPr>
              <a:t>Note: the 4 rows come from the Participant 4 run (Kaggle notebook): ConvNeXt-Tiny, 32 frames per video, no enhancement. Threshold = 0.0131 (selected using validation data only). Confidence = fake score for FAKE, 1 − fake score for REAL. A 4-video demonstration, not a benchmark.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3769BE"/>
      </a:hlink>
      <a:folHlink>
        <a:srgbClr val="3769BE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2013-01-27T09:14:16Z</dcterms:created>
</cp:coreProperties>
</file>